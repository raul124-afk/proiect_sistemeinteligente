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1" r:id="rId6"/>
    <p:sldId id="260" r:id="rId7"/>
    <p:sldId id="265" r:id="rId8"/>
    <p:sldId id="262" r:id="rId9"/>
    <p:sldId id="263" r:id="rId10"/>
  </p:sldIdLst>
  <p:sldSz cx="18288000" cy="10287000"/>
  <p:notesSz cx="6858000" cy="9144000"/>
  <p:embeddedFontLst>
    <p:embeddedFont>
      <p:font typeface="Abadi MT Condensed Light" panose="020B0306030101010103" pitchFamily="34" charset="77"/>
      <p:regular r:id="rId11"/>
    </p:embeddedFont>
    <p:embeddedFont>
      <p:font typeface="Poppins" pitchFamily="2" charset="77"/>
      <p:regular r:id="rId12"/>
      <p:bold r:id="rId13"/>
      <p:italic r:id="rId14"/>
      <p:boldItalic r:id="rId15"/>
    </p:embeddedFont>
    <p:embeddedFont>
      <p:font typeface="Poppins Bold" pitchFamily="2" charset="77"/>
      <p:regular r:id="rId16"/>
      <p:bold r:id="rId17"/>
    </p:embeddedFont>
    <p:embeddedFont>
      <p:font typeface="Red Hat Display Bold" panose="02010803040201060303" pitchFamily="2" charset="77"/>
      <p:regular r:id="rId18"/>
      <p:bold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706" autoAdjust="0"/>
    <p:restoredTop sz="94612" autoAdjust="0"/>
  </p:normalViewPr>
  <p:slideViewPr>
    <p:cSldViewPr>
      <p:cViewPr varScale="1">
        <p:scale>
          <a:sx n="68" d="100"/>
          <a:sy n="68" d="100"/>
        </p:scale>
        <p:origin x="256" y="4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666" b="-666"/>
            </a:stretch>
          </a:blipFill>
        </p:spPr>
        <p:txBody>
          <a:bodyPr/>
          <a:lstStyle/>
          <a:p>
            <a:endParaRPr lang="en-RO"/>
          </a:p>
        </p:txBody>
      </p:sp>
      <p:sp>
        <p:nvSpPr>
          <p:cNvPr id="3" name="Freeform 3"/>
          <p:cNvSpPr/>
          <p:nvPr/>
        </p:nvSpPr>
        <p:spPr>
          <a:xfrm>
            <a:off x="1028700" y="1028700"/>
            <a:ext cx="503963" cy="589744"/>
          </a:xfrm>
          <a:custGeom>
            <a:avLst/>
            <a:gdLst/>
            <a:ahLst/>
            <a:cxnLst/>
            <a:rect l="l" t="t" r="r" b="b"/>
            <a:pathLst>
              <a:path w="503963" h="589744">
                <a:moveTo>
                  <a:pt x="0" y="0"/>
                </a:moveTo>
                <a:lnTo>
                  <a:pt x="503963" y="0"/>
                </a:lnTo>
                <a:lnTo>
                  <a:pt x="503963" y="589744"/>
                </a:lnTo>
                <a:lnTo>
                  <a:pt x="0" y="58974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RO"/>
          </a:p>
        </p:txBody>
      </p:sp>
      <p:sp>
        <p:nvSpPr>
          <p:cNvPr id="4" name="Freeform 4"/>
          <p:cNvSpPr/>
          <p:nvPr/>
        </p:nvSpPr>
        <p:spPr>
          <a:xfrm flipH="1" flipV="1">
            <a:off x="1028700" y="8002127"/>
            <a:ext cx="1270028" cy="1256173"/>
          </a:xfrm>
          <a:custGeom>
            <a:avLst/>
            <a:gdLst/>
            <a:ahLst/>
            <a:cxnLst/>
            <a:rect l="l" t="t" r="r" b="b"/>
            <a:pathLst>
              <a:path w="1270028" h="1256173">
                <a:moveTo>
                  <a:pt x="1270028" y="1256173"/>
                </a:moveTo>
                <a:lnTo>
                  <a:pt x="0" y="1256173"/>
                </a:lnTo>
                <a:lnTo>
                  <a:pt x="0" y="0"/>
                </a:lnTo>
                <a:lnTo>
                  <a:pt x="1270028" y="0"/>
                </a:lnTo>
                <a:lnTo>
                  <a:pt x="1270028" y="1256173"/>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RO"/>
          </a:p>
        </p:txBody>
      </p:sp>
      <p:sp>
        <p:nvSpPr>
          <p:cNvPr id="5" name="TextBox 5"/>
          <p:cNvSpPr txBox="1"/>
          <p:nvPr/>
        </p:nvSpPr>
        <p:spPr>
          <a:xfrm>
            <a:off x="6776030" y="8836025"/>
            <a:ext cx="4735939" cy="276131"/>
          </a:xfrm>
          <a:prstGeom prst="rect">
            <a:avLst/>
          </a:prstGeom>
        </p:spPr>
        <p:txBody>
          <a:bodyPr lIns="0" tIns="0" rIns="0" bIns="0" rtlCol="0" anchor="t">
            <a:spAutoFit/>
          </a:bodyPr>
          <a:lstStyle/>
          <a:p>
            <a:pPr marL="0" lvl="0" indent="0" algn="ctr">
              <a:lnSpc>
                <a:spcPts val="2105"/>
              </a:lnSpc>
              <a:spcBef>
                <a:spcPct val="0"/>
              </a:spcBef>
            </a:pPr>
            <a:r>
              <a:rPr lang="en-US" sz="1503">
                <a:solidFill>
                  <a:srgbClr val="FFDE59"/>
                </a:solidFill>
                <a:latin typeface="Poppins"/>
                <a:ea typeface="Poppins"/>
                <a:cs typeface="Poppins"/>
                <a:sym typeface="Poppins"/>
              </a:rPr>
              <a:t>Student: Raul Berinde | Proiect Sisteme Inteligente</a:t>
            </a:r>
          </a:p>
        </p:txBody>
      </p:sp>
      <p:grpSp>
        <p:nvGrpSpPr>
          <p:cNvPr id="6" name="Group 6"/>
          <p:cNvGrpSpPr/>
          <p:nvPr/>
        </p:nvGrpSpPr>
        <p:grpSpPr>
          <a:xfrm>
            <a:off x="3362202" y="5543649"/>
            <a:ext cx="11563596" cy="1259355"/>
            <a:chOff x="0" y="0"/>
            <a:chExt cx="3731627" cy="406400"/>
          </a:xfrm>
        </p:grpSpPr>
        <p:sp>
          <p:nvSpPr>
            <p:cNvPr id="7" name="Freeform 7"/>
            <p:cNvSpPr/>
            <p:nvPr/>
          </p:nvSpPr>
          <p:spPr>
            <a:xfrm>
              <a:off x="0" y="0"/>
              <a:ext cx="3731627" cy="406400"/>
            </a:xfrm>
            <a:custGeom>
              <a:avLst/>
              <a:gdLst/>
              <a:ahLst/>
              <a:cxnLst/>
              <a:rect l="l" t="t" r="r" b="b"/>
              <a:pathLst>
                <a:path w="3731627" h="406400">
                  <a:moveTo>
                    <a:pt x="3528427" y="0"/>
                  </a:moveTo>
                  <a:cubicBezTo>
                    <a:pt x="3640651" y="0"/>
                    <a:pt x="3731627" y="90976"/>
                    <a:pt x="3731627" y="203200"/>
                  </a:cubicBezTo>
                  <a:cubicBezTo>
                    <a:pt x="3731627" y="315424"/>
                    <a:pt x="3640651" y="406400"/>
                    <a:pt x="3528427" y="406400"/>
                  </a:cubicBezTo>
                  <a:lnTo>
                    <a:pt x="203200" y="406400"/>
                  </a:lnTo>
                  <a:cubicBezTo>
                    <a:pt x="90976" y="406400"/>
                    <a:pt x="0" y="315424"/>
                    <a:pt x="0" y="203200"/>
                  </a:cubicBezTo>
                  <a:cubicBezTo>
                    <a:pt x="0" y="90976"/>
                    <a:pt x="90976" y="0"/>
                    <a:pt x="203200" y="0"/>
                  </a:cubicBezTo>
                  <a:close/>
                </a:path>
              </a:pathLst>
            </a:custGeom>
            <a:ln w="85725" cap="sq">
              <a:solidFill>
                <a:srgbClr val="FFDE59"/>
              </a:solidFill>
              <a:prstDash val="solid"/>
              <a:miter/>
            </a:ln>
          </p:spPr>
          <p:txBody>
            <a:bodyPr/>
            <a:lstStyle/>
            <a:p>
              <a:endParaRPr lang="en-RO"/>
            </a:p>
          </p:txBody>
        </p:sp>
        <p:sp>
          <p:nvSpPr>
            <p:cNvPr id="8" name="TextBox 8"/>
            <p:cNvSpPr txBox="1"/>
            <p:nvPr/>
          </p:nvSpPr>
          <p:spPr>
            <a:xfrm>
              <a:off x="0" y="-66675"/>
              <a:ext cx="3731627" cy="473075"/>
            </a:xfrm>
            <a:prstGeom prst="rect">
              <a:avLst/>
            </a:prstGeom>
          </p:spPr>
          <p:txBody>
            <a:bodyPr lIns="50800" tIns="50800" rIns="50800" bIns="50800" rtlCol="0" anchor="ctr"/>
            <a:lstStyle/>
            <a:p>
              <a:pPr marL="0" lvl="0" indent="0" algn="ctr">
                <a:lnSpc>
                  <a:spcPts val="3499"/>
                </a:lnSpc>
              </a:pPr>
              <a:endParaRPr/>
            </a:p>
          </p:txBody>
        </p:sp>
      </p:grpSp>
      <p:sp>
        <p:nvSpPr>
          <p:cNvPr id="9" name="TextBox 9"/>
          <p:cNvSpPr txBox="1"/>
          <p:nvPr/>
        </p:nvSpPr>
        <p:spPr>
          <a:xfrm>
            <a:off x="3327579" y="3569720"/>
            <a:ext cx="11632843" cy="1528006"/>
          </a:xfrm>
          <a:prstGeom prst="rect">
            <a:avLst/>
          </a:prstGeom>
        </p:spPr>
        <p:txBody>
          <a:bodyPr lIns="0" tIns="0" rIns="0" bIns="0" rtlCol="0" anchor="t">
            <a:spAutoFit/>
          </a:bodyPr>
          <a:lstStyle/>
          <a:p>
            <a:pPr marL="0" lvl="0" indent="0" algn="ctr">
              <a:lnSpc>
                <a:spcPts val="5995"/>
              </a:lnSpc>
            </a:pPr>
            <a:r>
              <a:rPr lang="en-US" sz="5710" b="1">
                <a:solidFill>
                  <a:srgbClr val="FFFFFF"/>
                </a:solidFill>
                <a:latin typeface="Red Hat Display Bold"/>
                <a:ea typeface="Red Hat Display Bold"/>
                <a:cs typeface="Red Hat Display Bold"/>
                <a:sym typeface="Red Hat Display Bold"/>
              </a:rPr>
              <a:t>Sistem Inteligent pentru Predicția Revenirii Donatorilor de Sânge</a:t>
            </a:r>
          </a:p>
        </p:txBody>
      </p:sp>
      <p:sp>
        <p:nvSpPr>
          <p:cNvPr id="10" name="Freeform 10"/>
          <p:cNvSpPr/>
          <p:nvPr/>
        </p:nvSpPr>
        <p:spPr>
          <a:xfrm flipV="1">
            <a:off x="15989272" y="8002127"/>
            <a:ext cx="1270028" cy="1256173"/>
          </a:xfrm>
          <a:custGeom>
            <a:avLst/>
            <a:gdLst/>
            <a:ahLst/>
            <a:cxnLst/>
            <a:rect l="l" t="t" r="r" b="b"/>
            <a:pathLst>
              <a:path w="1270028" h="1256173">
                <a:moveTo>
                  <a:pt x="0" y="1256173"/>
                </a:moveTo>
                <a:lnTo>
                  <a:pt x="1270028" y="1256173"/>
                </a:lnTo>
                <a:lnTo>
                  <a:pt x="1270028" y="0"/>
                </a:lnTo>
                <a:lnTo>
                  <a:pt x="0" y="0"/>
                </a:lnTo>
                <a:lnTo>
                  <a:pt x="0" y="1256173"/>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RO"/>
          </a:p>
        </p:txBody>
      </p:sp>
      <p:sp>
        <p:nvSpPr>
          <p:cNvPr id="11" name="TextBox 11"/>
          <p:cNvSpPr txBox="1"/>
          <p:nvPr/>
        </p:nvSpPr>
        <p:spPr>
          <a:xfrm>
            <a:off x="3468284" y="5868527"/>
            <a:ext cx="11351431" cy="523929"/>
          </a:xfrm>
          <a:prstGeom prst="rect">
            <a:avLst/>
          </a:prstGeom>
        </p:spPr>
        <p:txBody>
          <a:bodyPr lIns="0" tIns="0" rIns="0" bIns="0" rtlCol="0" anchor="t">
            <a:spAutoFit/>
          </a:bodyPr>
          <a:lstStyle/>
          <a:p>
            <a:pPr marL="0" lvl="0" indent="0" algn="ctr">
              <a:lnSpc>
                <a:spcPts val="4197"/>
              </a:lnSpc>
              <a:spcBef>
                <a:spcPct val="0"/>
              </a:spcBef>
            </a:pPr>
            <a:r>
              <a:rPr lang="en-US" sz="2997">
                <a:solidFill>
                  <a:srgbClr val="FFFFFF"/>
                </a:solidFill>
                <a:latin typeface="Poppins"/>
                <a:ea typeface="Poppins"/>
                <a:cs typeface="Poppins"/>
                <a:sym typeface="Poppins"/>
              </a:rPr>
              <a:t>Optimizarea resurselor medicale prin Machine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p:cNvGrpSpPr/>
        <p:nvPr/>
      </p:nvGrpSpPr>
      <p:grpSpPr>
        <a:xfrm>
          <a:off x="0" y="0"/>
          <a:ext cx="0" cy="0"/>
          <a:chOff x="0" y="0"/>
          <a:chExt cx="0" cy="0"/>
        </a:xfrm>
      </p:grpSpPr>
      <p:sp>
        <p:nvSpPr>
          <p:cNvPr id="2" name="Freeform 2"/>
          <p:cNvSpPr/>
          <p:nvPr/>
        </p:nvSpPr>
        <p:spPr>
          <a:xfrm>
            <a:off x="1028700" y="1028700"/>
            <a:ext cx="503963" cy="589744"/>
          </a:xfrm>
          <a:custGeom>
            <a:avLst/>
            <a:gdLst/>
            <a:ahLst/>
            <a:cxnLst/>
            <a:rect l="l" t="t" r="r" b="b"/>
            <a:pathLst>
              <a:path w="503963" h="589744">
                <a:moveTo>
                  <a:pt x="0" y="0"/>
                </a:moveTo>
                <a:lnTo>
                  <a:pt x="503963" y="0"/>
                </a:lnTo>
                <a:lnTo>
                  <a:pt x="503963" y="589744"/>
                </a:lnTo>
                <a:lnTo>
                  <a:pt x="0" y="58974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RO"/>
          </a:p>
        </p:txBody>
      </p:sp>
      <p:sp>
        <p:nvSpPr>
          <p:cNvPr id="3" name="Freeform 3"/>
          <p:cNvSpPr/>
          <p:nvPr/>
        </p:nvSpPr>
        <p:spPr>
          <a:xfrm>
            <a:off x="16292625" y="8280339"/>
            <a:ext cx="1115413" cy="1128105"/>
          </a:xfrm>
          <a:custGeom>
            <a:avLst/>
            <a:gdLst/>
            <a:ahLst/>
            <a:cxnLst/>
            <a:rect l="l" t="t" r="r" b="b"/>
            <a:pathLst>
              <a:path w="1115413" h="1128105">
                <a:moveTo>
                  <a:pt x="0" y="0"/>
                </a:moveTo>
                <a:lnTo>
                  <a:pt x="1115414" y="0"/>
                </a:lnTo>
                <a:lnTo>
                  <a:pt x="1115414" y="1128105"/>
                </a:lnTo>
                <a:lnTo>
                  <a:pt x="0" y="1128105"/>
                </a:lnTo>
                <a:lnTo>
                  <a:pt x="0" y="0"/>
                </a:lnTo>
                <a:close/>
              </a:path>
            </a:pathLst>
          </a:custGeom>
          <a:blipFill>
            <a:blip r:embed="rId3"/>
            <a:stretch>
              <a:fillRect/>
            </a:stretch>
          </a:blipFill>
        </p:spPr>
        <p:txBody>
          <a:bodyPr/>
          <a:lstStyle/>
          <a:p>
            <a:endParaRPr lang="en-RO"/>
          </a:p>
        </p:txBody>
      </p:sp>
      <p:sp>
        <p:nvSpPr>
          <p:cNvPr id="4" name="TextBox 4"/>
          <p:cNvSpPr txBox="1"/>
          <p:nvPr/>
        </p:nvSpPr>
        <p:spPr>
          <a:xfrm>
            <a:off x="1280681" y="1069572"/>
            <a:ext cx="1783679" cy="441370"/>
          </a:xfrm>
          <a:prstGeom prst="rect">
            <a:avLst/>
          </a:prstGeom>
        </p:spPr>
        <p:txBody>
          <a:bodyPr lIns="0" tIns="0" rIns="0" bIns="0" rtlCol="0" anchor="t">
            <a:spAutoFit/>
          </a:bodyPr>
          <a:lstStyle/>
          <a:p>
            <a:pPr marL="0" lvl="0" indent="0" algn="r">
              <a:lnSpc>
                <a:spcPts val="3497"/>
              </a:lnSpc>
              <a:spcBef>
                <a:spcPct val="0"/>
              </a:spcBef>
            </a:pPr>
            <a:r>
              <a:rPr lang="en-US" sz="2498">
                <a:solidFill>
                  <a:srgbClr val="FFDE59"/>
                </a:solidFill>
                <a:latin typeface="Poppins"/>
                <a:ea typeface="Poppins"/>
                <a:cs typeface="Poppins"/>
                <a:sym typeface="Poppins"/>
              </a:rPr>
              <a:t>Proiect SI</a:t>
            </a:r>
          </a:p>
        </p:txBody>
      </p:sp>
      <p:sp>
        <p:nvSpPr>
          <p:cNvPr id="5" name="TextBox 5"/>
          <p:cNvSpPr txBox="1"/>
          <p:nvPr/>
        </p:nvSpPr>
        <p:spPr>
          <a:xfrm>
            <a:off x="9172165" y="4529737"/>
            <a:ext cx="7832565" cy="2632120"/>
          </a:xfrm>
          <a:prstGeom prst="rect">
            <a:avLst/>
          </a:prstGeom>
        </p:spPr>
        <p:txBody>
          <a:bodyPr lIns="0" tIns="0" rIns="0" bIns="0" rtlCol="0" anchor="t">
            <a:spAutoFit/>
          </a:bodyPr>
          <a:lstStyle/>
          <a:p>
            <a:pPr marL="0" lvl="0" indent="0" algn="just">
              <a:lnSpc>
                <a:spcPts val="3497"/>
              </a:lnSpc>
              <a:spcBef>
                <a:spcPct val="0"/>
              </a:spcBef>
            </a:pPr>
            <a:r>
              <a:rPr lang="en-US" sz="2498">
                <a:solidFill>
                  <a:srgbClr val="FFFFFF"/>
                </a:solidFill>
                <a:latin typeface="Poppins"/>
                <a:ea typeface="Poppins"/>
                <a:cs typeface="Poppins"/>
                <a:sym typeface="Poppins"/>
              </a:rPr>
              <a:t>• Eficientizarea sistemului medical prin tehnologie și date istorice.</a:t>
            </a:r>
          </a:p>
          <a:p>
            <a:pPr marL="0" lvl="0" indent="0" algn="just">
              <a:lnSpc>
                <a:spcPts val="3497"/>
              </a:lnSpc>
              <a:spcBef>
                <a:spcPct val="0"/>
              </a:spcBef>
            </a:pPr>
            <a:r>
              <a:rPr lang="en-US" sz="2498">
                <a:solidFill>
                  <a:srgbClr val="FFFFFF"/>
                </a:solidFill>
                <a:latin typeface="Poppins"/>
                <a:ea typeface="Poppins"/>
                <a:cs typeface="Poppins"/>
                <a:sym typeface="Poppins"/>
              </a:rPr>
              <a:t>• Eliminarea campaniilor de rechemare ineficiente și costisitoare.</a:t>
            </a:r>
          </a:p>
          <a:p>
            <a:pPr marL="0" lvl="0" indent="0" algn="just">
              <a:lnSpc>
                <a:spcPts val="3497"/>
              </a:lnSpc>
              <a:spcBef>
                <a:spcPct val="0"/>
              </a:spcBef>
            </a:pPr>
            <a:r>
              <a:rPr lang="en-US" sz="2498">
                <a:solidFill>
                  <a:srgbClr val="FFFFFF"/>
                </a:solidFill>
                <a:latin typeface="Poppins"/>
                <a:ea typeface="Poppins"/>
                <a:cs typeface="Poppins"/>
                <a:sym typeface="Poppins"/>
              </a:rPr>
              <a:t>• Salvarea de vieți prin asigurarea unui flux constant și predictibil de donatori.</a:t>
            </a:r>
          </a:p>
        </p:txBody>
      </p:sp>
      <p:sp>
        <p:nvSpPr>
          <p:cNvPr id="6" name="TextBox 6"/>
          <p:cNvSpPr txBox="1"/>
          <p:nvPr/>
        </p:nvSpPr>
        <p:spPr>
          <a:xfrm>
            <a:off x="9172165" y="2846587"/>
            <a:ext cx="4730552" cy="645289"/>
          </a:xfrm>
          <a:prstGeom prst="rect">
            <a:avLst/>
          </a:prstGeom>
        </p:spPr>
        <p:txBody>
          <a:bodyPr lIns="0" tIns="0" rIns="0" bIns="0" rtlCol="0" anchor="t">
            <a:spAutoFit/>
          </a:bodyPr>
          <a:lstStyle/>
          <a:p>
            <a:pPr marL="0" lvl="0" indent="0" algn="l">
              <a:lnSpc>
                <a:spcPts val="5382"/>
              </a:lnSpc>
              <a:spcBef>
                <a:spcPct val="0"/>
              </a:spcBef>
            </a:pPr>
            <a:r>
              <a:rPr lang="en-US" sz="3844" b="1" dirty="0">
                <a:solidFill>
                  <a:srgbClr val="FFFFFF"/>
                </a:solidFill>
                <a:latin typeface="Red Hat Display Bold"/>
                <a:ea typeface="Red Hat Display Bold"/>
                <a:cs typeface="Red Hat Display Bold"/>
                <a:sym typeface="Red Hat Display Bold"/>
              </a:rPr>
              <a:t>De </a:t>
            </a:r>
            <a:r>
              <a:rPr lang="en-US" sz="3844" b="1" dirty="0" err="1">
                <a:solidFill>
                  <a:srgbClr val="FFFFFF"/>
                </a:solidFill>
                <a:latin typeface="Red Hat Display Bold"/>
                <a:ea typeface="Red Hat Display Bold"/>
                <a:cs typeface="Red Hat Display Bold"/>
                <a:sym typeface="Red Hat Display Bold"/>
              </a:rPr>
              <a:t>ce</a:t>
            </a:r>
            <a:r>
              <a:rPr lang="en-US" sz="3844" b="1" dirty="0">
                <a:solidFill>
                  <a:srgbClr val="FFFFFF"/>
                </a:solidFill>
                <a:latin typeface="Red Hat Display Bold"/>
                <a:ea typeface="Red Hat Display Bold"/>
                <a:cs typeface="Red Hat Display Bold"/>
                <a:sym typeface="Red Hat Display Bold"/>
              </a:rPr>
              <a:t> </a:t>
            </a:r>
            <a:r>
              <a:rPr lang="en-US" sz="3844" b="1" dirty="0" err="1">
                <a:solidFill>
                  <a:srgbClr val="FFFFFF"/>
                </a:solidFill>
                <a:latin typeface="Red Hat Display Bold"/>
                <a:ea typeface="Red Hat Display Bold"/>
                <a:cs typeface="Red Hat Display Bold"/>
                <a:sym typeface="Red Hat Display Bold"/>
              </a:rPr>
              <a:t>această</a:t>
            </a:r>
            <a:r>
              <a:rPr lang="en-US" sz="3844" b="1" dirty="0">
                <a:solidFill>
                  <a:srgbClr val="FFFFFF"/>
                </a:solidFill>
                <a:latin typeface="Red Hat Display Bold"/>
                <a:ea typeface="Red Hat Display Bold"/>
                <a:cs typeface="Red Hat Display Bold"/>
                <a:sym typeface="Red Hat Display Bold"/>
              </a:rPr>
              <a:t> </a:t>
            </a:r>
            <a:r>
              <a:rPr lang="en-US" sz="3844" b="1" dirty="0" err="1">
                <a:solidFill>
                  <a:srgbClr val="FFFFFF"/>
                </a:solidFill>
                <a:latin typeface="Red Hat Display Bold"/>
                <a:ea typeface="Red Hat Display Bold"/>
                <a:cs typeface="Red Hat Display Bold"/>
                <a:sym typeface="Red Hat Display Bold"/>
              </a:rPr>
              <a:t>temă</a:t>
            </a:r>
            <a:r>
              <a:rPr lang="en-US" sz="3844" b="1" dirty="0">
                <a:solidFill>
                  <a:srgbClr val="FFFFFF"/>
                </a:solidFill>
                <a:latin typeface="Red Hat Display Bold"/>
                <a:ea typeface="Red Hat Display Bold"/>
                <a:cs typeface="Red Hat Display Bold"/>
                <a:sym typeface="Red Hat Display Bold"/>
              </a:rPr>
              <a:t>?</a:t>
            </a:r>
          </a:p>
        </p:txBody>
      </p:sp>
      <p:grpSp>
        <p:nvGrpSpPr>
          <p:cNvPr id="7" name="Group 7"/>
          <p:cNvGrpSpPr/>
          <p:nvPr/>
        </p:nvGrpSpPr>
        <p:grpSpPr>
          <a:xfrm>
            <a:off x="1283271" y="2502982"/>
            <a:ext cx="5810269" cy="5281037"/>
            <a:chOff x="0" y="0"/>
            <a:chExt cx="1016625" cy="812800"/>
          </a:xfrm>
        </p:grpSpPr>
        <p:sp>
          <p:nvSpPr>
            <p:cNvPr id="8" name="Freeform 8"/>
            <p:cNvSpPr/>
            <p:nvPr/>
          </p:nvSpPr>
          <p:spPr>
            <a:xfrm>
              <a:off x="0" y="0"/>
              <a:ext cx="1016625" cy="812800"/>
            </a:xfrm>
            <a:custGeom>
              <a:avLst/>
              <a:gdLst/>
              <a:ahLst/>
              <a:cxnLst/>
              <a:rect l="l" t="t" r="r" b="b"/>
              <a:pathLst>
                <a:path w="1016625" h="812800">
                  <a:moveTo>
                    <a:pt x="0" y="0"/>
                  </a:moveTo>
                  <a:lnTo>
                    <a:pt x="1016625" y="0"/>
                  </a:lnTo>
                  <a:lnTo>
                    <a:pt x="1016625" y="812800"/>
                  </a:lnTo>
                  <a:lnTo>
                    <a:pt x="0" y="812800"/>
                  </a:lnTo>
                  <a:close/>
                </a:path>
              </a:pathLst>
            </a:custGeom>
            <a:blipFill>
              <a:blip r:embed="rId4"/>
              <a:stretch>
                <a:fillRect t="-577" b="-577"/>
              </a:stretch>
            </a:blipFill>
            <a:ln w="85725" cap="sq">
              <a:solidFill>
                <a:srgbClr val="FFDE59"/>
              </a:solidFill>
              <a:prstDash val="solid"/>
              <a:miter/>
            </a:ln>
          </p:spPr>
          <p:txBody>
            <a:bodyPr/>
            <a:lstStyle/>
            <a:p>
              <a:endParaRPr lang="en-RO"/>
            </a:p>
          </p:txBody>
        </p:sp>
      </p:grpSp>
      <p:grpSp>
        <p:nvGrpSpPr>
          <p:cNvPr id="9" name="Group 9"/>
          <p:cNvGrpSpPr/>
          <p:nvPr/>
        </p:nvGrpSpPr>
        <p:grpSpPr>
          <a:xfrm>
            <a:off x="6181272" y="1618444"/>
            <a:ext cx="1951580" cy="1915440"/>
            <a:chOff x="0" y="0"/>
            <a:chExt cx="685800" cy="673100"/>
          </a:xfrm>
        </p:grpSpPr>
        <p:sp>
          <p:nvSpPr>
            <p:cNvPr id="10" name="Freeform 10"/>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1" name="TextBox 11"/>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pic>
        <p:nvPicPr>
          <p:cNvPr id="13" name="Picture 12" descr="A heart with arrows and arrows&#10;&#10;AI-generated content may be incorrect.">
            <a:extLst>
              <a:ext uri="{FF2B5EF4-FFF2-40B4-BE49-F238E27FC236}">
                <a16:creationId xmlns:a16="http://schemas.microsoft.com/office/drawing/2014/main" id="{EA2D40F7-E5A1-29E6-5A57-291DB46FFC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22825" y="2527468"/>
            <a:ext cx="5770715" cy="521577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p:cNvGrpSpPr/>
        <p:nvPr/>
      </p:nvGrpSpPr>
      <p:grpSpPr>
        <a:xfrm>
          <a:off x="0" y="0"/>
          <a:ext cx="0" cy="0"/>
          <a:chOff x="0" y="0"/>
          <a:chExt cx="0" cy="0"/>
        </a:xfrm>
      </p:grpSpPr>
      <p:sp>
        <p:nvSpPr>
          <p:cNvPr id="2" name="Freeform 2"/>
          <p:cNvSpPr/>
          <p:nvPr/>
        </p:nvSpPr>
        <p:spPr>
          <a:xfrm>
            <a:off x="954232" y="1034315"/>
            <a:ext cx="606572" cy="553221"/>
          </a:xfrm>
          <a:custGeom>
            <a:avLst/>
            <a:gdLst/>
            <a:ahLst/>
            <a:cxnLst/>
            <a:rect l="l" t="t" r="r" b="b"/>
            <a:pathLst>
              <a:path w="606572" h="553221">
                <a:moveTo>
                  <a:pt x="0" y="0"/>
                </a:moveTo>
                <a:lnTo>
                  <a:pt x="606572" y="0"/>
                </a:lnTo>
                <a:lnTo>
                  <a:pt x="606572" y="553221"/>
                </a:lnTo>
                <a:lnTo>
                  <a:pt x="0" y="553221"/>
                </a:lnTo>
                <a:lnTo>
                  <a:pt x="0" y="0"/>
                </a:lnTo>
                <a:close/>
              </a:path>
            </a:pathLst>
          </a:custGeom>
          <a:blipFill>
            <a:blip r:embed="rId2"/>
            <a:stretch>
              <a:fillRect/>
            </a:stretch>
          </a:blipFill>
        </p:spPr>
        <p:txBody>
          <a:bodyPr/>
          <a:lstStyle/>
          <a:p>
            <a:endParaRPr lang="en-RO"/>
          </a:p>
        </p:txBody>
      </p:sp>
      <p:sp>
        <p:nvSpPr>
          <p:cNvPr id="3" name="Freeform 3"/>
          <p:cNvSpPr/>
          <p:nvPr/>
        </p:nvSpPr>
        <p:spPr>
          <a:xfrm flipV="1">
            <a:off x="15989272" y="8002127"/>
            <a:ext cx="1270028" cy="1256173"/>
          </a:xfrm>
          <a:custGeom>
            <a:avLst/>
            <a:gdLst/>
            <a:ahLst/>
            <a:cxnLst/>
            <a:rect l="l" t="t" r="r" b="b"/>
            <a:pathLst>
              <a:path w="1270028" h="1256173">
                <a:moveTo>
                  <a:pt x="0" y="1256173"/>
                </a:moveTo>
                <a:lnTo>
                  <a:pt x="1270028" y="1256173"/>
                </a:lnTo>
                <a:lnTo>
                  <a:pt x="1270028" y="0"/>
                </a:lnTo>
                <a:lnTo>
                  <a:pt x="0" y="0"/>
                </a:lnTo>
                <a:lnTo>
                  <a:pt x="0" y="1256173"/>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RO"/>
          </a:p>
        </p:txBody>
      </p:sp>
      <p:grpSp>
        <p:nvGrpSpPr>
          <p:cNvPr id="4" name="Group 4"/>
          <p:cNvGrpSpPr/>
          <p:nvPr/>
        </p:nvGrpSpPr>
        <p:grpSpPr>
          <a:xfrm>
            <a:off x="1028700" y="2277227"/>
            <a:ext cx="6357701" cy="5916731"/>
            <a:chOff x="0" y="0"/>
            <a:chExt cx="974699" cy="907094"/>
          </a:xfrm>
        </p:grpSpPr>
        <p:sp>
          <p:nvSpPr>
            <p:cNvPr id="5" name="Freeform 5"/>
            <p:cNvSpPr/>
            <p:nvPr/>
          </p:nvSpPr>
          <p:spPr>
            <a:xfrm>
              <a:off x="0" y="0"/>
              <a:ext cx="974699" cy="907094"/>
            </a:xfrm>
            <a:custGeom>
              <a:avLst/>
              <a:gdLst/>
              <a:ahLst/>
              <a:cxnLst/>
              <a:rect l="l" t="t" r="r" b="b"/>
              <a:pathLst>
                <a:path w="974699" h="907094">
                  <a:moveTo>
                    <a:pt x="0" y="0"/>
                  </a:moveTo>
                  <a:lnTo>
                    <a:pt x="974699" y="0"/>
                  </a:lnTo>
                  <a:lnTo>
                    <a:pt x="974699" y="907094"/>
                  </a:lnTo>
                  <a:lnTo>
                    <a:pt x="0" y="907094"/>
                  </a:lnTo>
                  <a:close/>
                </a:path>
              </a:pathLst>
            </a:custGeom>
            <a:blipFill>
              <a:blip r:embed="rId4"/>
              <a:stretch>
                <a:fillRect l="-34" r="-34"/>
              </a:stretch>
            </a:blipFill>
            <a:ln w="85725" cap="sq">
              <a:solidFill>
                <a:srgbClr val="FFDE59"/>
              </a:solidFill>
              <a:prstDash val="solid"/>
              <a:miter/>
            </a:ln>
          </p:spPr>
          <p:txBody>
            <a:bodyPr/>
            <a:lstStyle/>
            <a:p>
              <a:endParaRPr lang="en-RO"/>
            </a:p>
          </p:txBody>
        </p:sp>
      </p:grpSp>
      <p:grpSp>
        <p:nvGrpSpPr>
          <p:cNvPr id="6" name="Group 6"/>
          <p:cNvGrpSpPr/>
          <p:nvPr/>
        </p:nvGrpSpPr>
        <p:grpSpPr>
          <a:xfrm>
            <a:off x="10496889" y="-1490142"/>
            <a:ext cx="3167239" cy="3108586"/>
            <a:chOff x="0" y="0"/>
            <a:chExt cx="685800" cy="673100"/>
          </a:xfrm>
        </p:grpSpPr>
        <p:sp>
          <p:nvSpPr>
            <p:cNvPr id="7" name="Freeform 7"/>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8" name="TextBox 8"/>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9" name="Group 9"/>
          <p:cNvGrpSpPr/>
          <p:nvPr/>
        </p:nvGrpSpPr>
        <p:grpSpPr>
          <a:xfrm>
            <a:off x="7227695" y="9070975"/>
            <a:ext cx="2355891" cy="2312263"/>
            <a:chOff x="0" y="0"/>
            <a:chExt cx="685800" cy="673100"/>
          </a:xfrm>
        </p:grpSpPr>
        <p:sp>
          <p:nvSpPr>
            <p:cNvPr id="10" name="Freeform 10"/>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1" name="TextBox 11"/>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
        <p:nvSpPr>
          <p:cNvPr id="12" name="TextBox 12"/>
          <p:cNvSpPr txBox="1"/>
          <p:nvPr/>
        </p:nvSpPr>
        <p:spPr>
          <a:xfrm>
            <a:off x="14562919" y="1069572"/>
            <a:ext cx="2696381" cy="424979"/>
          </a:xfrm>
          <a:prstGeom prst="rect">
            <a:avLst/>
          </a:prstGeom>
        </p:spPr>
        <p:txBody>
          <a:bodyPr lIns="0" tIns="0" rIns="0" bIns="0" rtlCol="0" anchor="t">
            <a:spAutoFit/>
          </a:bodyPr>
          <a:lstStyle/>
          <a:p>
            <a:pPr marL="0" lvl="0" indent="0" algn="r">
              <a:lnSpc>
                <a:spcPts val="3350"/>
              </a:lnSpc>
              <a:spcBef>
                <a:spcPct val="0"/>
              </a:spcBef>
            </a:pPr>
            <a:r>
              <a:rPr lang="en-US" sz="2393">
                <a:solidFill>
                  <a:srgbClr val="FFDE59"/>
                </a:solidFill>
                <a:latin typeface="Poppins"/>
                <a:ea typeface="Poppins"/>
                <a:cs typeface="Poppins"/>
                <a:sym typeface="Poppins"/>
              </a:rPr>
              <a:t>Raul Berinde</a:t>
            </a:r>
          </a:p>
        </p:txBody>
      </p:sp>
      <p:sp>
        <p:nvSpPr>
          <p:cNvPr id="13" name="TextBox 13"/>
          <p:cNvSpPr txBox="1"/>
          <p:nvPr/>
        </p:nvSpPr>
        <p:spPr>
          <a:xfrm>
            <a:off x="9172165" y="4529737"/>
            <a:ext cx="7832565" cy="2939579"/>
          </a:xfrm>
          <a:prstGeom prst="rect">
            <a:avLst/>
          </a:prstGeom>
        </p:spPr>
        <p:txBody>
          <a:bodyPr lIns="0" tIns="0" rIns="0" bIns="0" rtlCol="0" anchor="t">
            <a:spAutoFit/>
          </a:bodyPr>
          <a:lstStyle/>
          <a:p>
            <a:pPr marL="0" lvl="0" indent="0" algn="just">
              <a:lnSpc>
                <a:spcPts val="3350"/>
              </a:lnSpc>
              <a:spcBef>
                <a:spcPct val="0"/>
              </a:spcBef>
            </a:pPr>
            <a:r>
              <a:rPr lang="en-US" sz="2393">
                <a:solidFill>
                  <a:srgbClr val="FFFFFF"/>
                </a:solidFill>
                <a:latin typeface="Poppins"/>
                <a:ea typeface="Poppins"/>
                <a:cs typeface="Poppins"/>
                <a:sym typeface="Poppins"/>
              </a:rPr>
              <a:t>Procesul de dezvoltare a sistemului inteligent include colectarea datelor istorice de la centrele de transfuzie, curățarea și preprocesarea acestora, extragerea caracteristicilor relevante și antrenarea modelelor de Machine Learning. Algoritmii utilizați includ Random Forest, Gradient Boosting și rețele neuronale pentru clasificare.</a:t>
            </a:r>
          </a:p>
        </p:txBody>
      </p:sp>
      <p:sp>
        <p:nvSpPr>
          <p:cNvPr id="14" name="TextBox 14"/>
          <p:cNvSpPr txBox="1"/>
          <p:nvPr/>
        </p:nvSpPr>
        <p:spPr>
          <a:xfrm>
            <a:off x="9172165" y="3496663"/>
            <a:ext cx="5870917" cy="506631"/>
          </a:xfrm>
          <a:prstGeom prst="rect">
            <a:avLst/>
          </a:prstGeom>
        </p:spPr>
        <p:txBody>
          <a:bodyPr lIns="0" tIns="0" rIns="0" bIns="0" rtlCol="0" anchor="t">
            <a:spAutoFit/>
          </a:bodyPr>
          <a:lstStyle/>
          <a:p>
            <a:pPr marL="0" lvl="0" indent="0" algn="l">
              <a:lnSpc>
                <a:spcPts val="4100"/>
              </a:lnSpc>
              <a:spcBef>
                <a:spcPct val="0"/>
              </a:spcBef>
            </a:pPr>
            <a:r>
              <a:rPr lang="en-US" sz="2928" b="1">
                <a:solidFill>
                  <a:srgbClr val="FFFFFF"/>
                </a:solidFill>
                <a:latin typeface="Red Hat Display Bold"/>
                <a:ea typeface="Red Hat Display Bold"/>
                <a:cs typeface="Red Hat Display Bold"/>
                <a:sym typeface="Red Hat Display Bold"/>
              </a:rPr>
              <a:t>Metodologie și Abordare Tehnică</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p:cNvGrpSpPr/>
        <p:nvPr/>
      </p:nvGrpSpPr>
      <p:grpSpPr>
        <a:xfrm>
          <a:off x="0" y="0"/>
          <a:ext cx="0" cy="0"/>
          <a:chOff x="0" y="0"/>
          <a:chExt cx="0" cy="0"/>
        </a:xfrm>
      </p:grpSpPr>
      <p:sp>
        <p:nvSpPr>
          <p:cNvPr id="2" name="Freeform 2"/>
          <p:cNvSpPr/>
          <p:nvPr/>
        </p:nvSpPr>
        <p:spPr>
          <a:xfrm>
            <a:off x="901950" y="1064883"/>
            <a:ext cx="667267" cy="588971"/>
          </a:xfrm>
          <a:custGeom>
            <a:avLst/>
            <a:gdLst/>
            <a:ahLst/>
            <a:cxnLst/>
            <a:rect l="l" t="t" r="r" b="b"/>
            <a:pathLst>
              <a:path w="667267" h="588971">
                <a:moveTo>
                  <a:pt x="0" y="0"/>
                </a:moveTo>
                <a:lnTo>
                  <a:pt x="667267" y="0"/>
                </a:lnTo>
                <a:lnTo>
                  <a:pt x="667267" y="588971"/>
                </a:lnTo>
                <a:lnTo>
                  <a:pt x="0" y="588971"/>
                </a:lnTo>
                <a:lnTo>
                  <a:pt x="0" y="0"/>
                </a:lnTo>
                <a:close/>
              </a:path>
            </a:pathLst>
          </a:custGeom>
          <a:blipFill>
            <a:blip r:embed="rId2"/>
            <a:stretch>
              <a:fillRect/>
            </a:stretch>
          </a:blipFill>
        </p:spPr>
        <p:txBody>
          <a:bodyPr/>
          <a:lstStyle/>
          <a:p>
            <a:endParaRPr lang="en-RO"/>
          </a:p>
        </p:txBody>
      </p:sp>
      <p:grpSp>
        <p:nvGrpSpPr>
          <p:cNvPr id="3" name="Group 3"/>
          <p:cNvGrpSpPr/>
          <p:nvPr/>
        </p:nvGrpSpPr>
        <p:grpSpPr>
          <a:xfrm>
            <a:off x="6276109" y="9130868"/>
            <a:ext cx="2355891" cy="2312263"/>
            <a:chOff x="0" y="0"/>
            <a:chExt cx="685800" cy="673100"/>
          </a:xfrm>
        </p:grpSpPr>
        <p:sp>
          <p:nvSpPr>
            <p:cNvPr id="4" name="Freeform 4"/>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5" name="TextBox 5"/>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6" name="Group 6"/>
          <p:cNvGrpSpPr/>
          <p:nvPr/>
        </p:nvGrpSpPr>
        <p:grpSpPr>
          <a:xfrm>
            <a:off x="1028700" y="6057178"/>
            <a:ext cx="15222536" cy="3201122"/>
            <a:chOff x="0" y="0"/>
            <a:chExt cx="2342888" cy="492682"/>
          </a:xfrm>
        </p:grpSpPr>
        <p:sp>
          <p:nvSpPr>
            <p:cNvPr id="7" name="Freeform 7"/>
            <p:cNvSpPr/>
            <p:nvPr/>
          </p:nvSpPr>
          <p:spPr>
            <a:xfrm>
              <a:off x="0" y="0"/>
              <a:ext cx="2342888" cy="492682"/>
            </a:xfrm>
            <a:custGeom>
              <a:avLst/>
              <a:gdLst/>
              <a:ahLst/>
              <a:cxnLst/>
              <a:rect l="l" t="t" r="r" b="b"/>
              <a:pathLst>
                <a:path w="2342888" h="492682">
                  <a:moveTo>
                    <a:pt x="0" y="0"/>
                  </a:moveTo>
                  <a:lnTo>
                    <a:pt x="2342888" y="0"/>
                  </a:lnTo>
                  <a:lnTo>
                    <a:pt x="2342888" y="492682"/>
                  </a:lnTo>
                  <a:lnTo>
                    <a:pt x="0" y="492682"/>
                  </a:lnTo>
                  <a:close/>
                </a:path>
              </a:pathLst>
            </a:custGeom>
            <a:blipFill>
              <a:blip r:embed="rId3"/>
              <a:stretch>
                <a:fillRect t="-228" b="-228"/>
              </a:stretch>
            </a:blipFill>
            <a:ln w="85725" cap="sq">
              <a:solidFill>
                <a:srgbClr val="FFDE59"/>
              </a:solidFill>
              <a:prstDash val="solid"/>
              <a:miter/>
            </a:ln>
          </p:spPr>
          <p:txBody>
            <a:bodyPr/>
            <a:lstStyle/>
            <a:p>
              <a:endParaRPr lang="en-RO"/>
            </a:p>
          </p:txBody>
        </p:sp>
      </p:grpSp>
      <p:grpSp>
        <p:nvGrpSpPr>
          <p:cNvPr id="8" name="Group 8"/>
          <p:cNvGrpSpPr/>
          <p:nvPr/>
        </p:nvGrpSpPr>
        <p:grpSpPr>
          <a:xfrm>
            <a:off x="15932109" y="-127432"/>
            <a:ext cx="2355891" cy="2312263"/>
            <a:chOff x="0" y="0"/>
            <a:chExt cx="685800" cy="673100"/>
          </a:xfrm>
        </p:grpSpPr>
        <p:sp>
          <p:nvSpPr>
            <p:cNvPr id="9" name="Freeform 9"/>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0" name="TextBox 10"/>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
        <p:nvSpPr>
          <p:cNvPr id="11" name="TextBox 11"/>
          <p:cNvSpPr txBox="1"/>
          <p:nvPr/>
        </p:nvSpPr>
        <p:spPr>
          <a:xfrm>
            <a:off x="1028700" y="2540764"/>
            <a:ext cx="7832565" cy="2825393"/>
          </a:xfrm>
          <a:prstGeom prst="rect">
            <a:avLst/>
          </a:prstGeom>
        </p:spPr>
        <p:txBody>
          <a:bodyPr lIns="0" tIns="0" rIns="0" bIns="0" rtlCol="0" anchor="t">
            <a:spAutoFit/>
          </a:bodyPr>
          <a:lstStyle/>
          <a:p>
            <a:pPr marL="0" lvl="0" indent="0" algn="just">
              <a:lnSpc>
                <a:spcPts val="2819"/>
              </a:lnSpc>
              <a:spcBef>
                <a:spcPct val="0"/>
              </a:spcBef>
            </a:pPr>
            <a:r>
              <a:rPr lang="en-US" sz="2014">
                <a:solidFill>
                  <a:srgbClr val="FFFFFF"/>
                </a:solidFill>
                <a:latin typeface="Poppins"/>
                <a:ea typeface="Poppins"/>
                <a:cs typeface="Poppins"/>
                <a:sym typeface="Poppins"/>
              </a:rPr>
              <a:t>Variabile utilizate în model:</a:t>
            </a:r>
          </a:p>
          <a:p>
            <a:pPr marL="0" lvl="0" indent="0" algn="just">
              <a:lnSpc>
                <a:spcPts val="2819"/>
              </a:lnSpc>
              <a:spcBef>
                <a:spcPct val="0"/>
              </a:spcBef>
            </a:pPr>
            <a:r>
              <a:rPr lang="en-US" sz="2014">
                <a:solidFill>
                  <a:srgbClr val="FFFFFF"/>
                </a:solidFill>
                <a:latin typeface="Poppins"/>
                <a:ea typeface="Poppins"/>
                <a:cs typeface="Poppins"/>
                <a:sym typeface="Poppins"/>
              </a:rPr>
              <a:t>• Recency: luni de la ultima donare</a:t>
            </a:r>
          </a:p>
          <a:p>
            <a:pPr marL="0" lvl="0" indent="0" algn="just">
              <a:lnSpc>
                <a:spcPts val="2819"/>
              </a:lnSpc>
              <a:spcBef>
                <a:spcPct val="0"/>
              </a:spcBef>
            </a:pPr>
            <a:r>
              <a:rPr lang="en-US" sz="2014">
                <a:solidFill>
                  <a:srgbClr val="FFFFFF"/>
                </a:solidFill>
                <a:latin typeface="Poppins"/>
                <a:ea typeface="Poppins"/>
                <a:cs typeface="Poppins"/>
                <a:sym typeface="Poppins"/>
              </a:rPr>
              <a:t>• Frequency: numărul total de donări</a:t>
            </a:r>
          </a:p>
          <a:p>
            <a:pPr marL="0" lvl="0" indent="0" algn="just">
              <a:lnSpc>
                <a:spcPts val="2819"/>
              </a:lnSpc>
              <a:spcBef>
                <a:spcPct val="0"/>
              </a:spcBef>
            </a:pPr>
            <a:r>
              <a:rPr lang="en-US" sz="2014">
                <a:solidFill>
                  <a:srgbClr val="FFFFFF"/>
                </a:solidFill>
                <a:latin typeface="Poppins"/>
                <a:ea typeface="Poppins"/>
                <a:cs typeface="Poppins"/>
                <a:sym typeface="Poppins"/>
              </a:rPr>
              <a:t>• Monetary: volumul total de sânge donat (ml)</a:t>
            </a:r>
          </a:p>
          <a:p>
            <a:pPr marL="0" lvl="0" indent="0" algn="just">
              <a:lnSpc>
                <a:spcPts val="2819"/>
              </a:lnSpc>
              <a:spcBef>
                <a:spcPct val="0"/>
              </a:spcBef>
            </a:pPr>
            <a:r>
              <a:rPr lang="en-US" sz="2014">
                <a:solidFill>
                  <a:srgbClr val="FFFFFF"/>
                </a:solidFill>
                <a:latin typeface="Poppins"/>
                <a:ea typeface="Poppins"/>
                <a:cs typeface="Poppins"/>
                <a:sym typeface="Poppins"/>
              </a:rPr>
              <a:t>• Time: luni de la prima donare</a:t>
            </a:r>
          </a:p>
          <a:p>
            <a:pPr marL="0" lvl="0" indent="0" algn="just">
              <a:lnSpc>
                <a:spcPts val="2819"/>
              </a:lnSpc>
              <a:spcBef>
                <a:spcPct val="0"/>
              </a:spcBef>
            </a:pPr>
            <a:r>
              <a:rPr lang="en-US" sz="2014">
                <a:solidFill>
                  <a:srgbClr val="FFFFFF"/>
                </a:solidFill>
                <a:latin typeface="Poppins"/>
                <a:ea typeface="Poppins"/>
                <a:cs typeface="Poppins"/>
                <a:sym typeface="Poppins"/>
              </a:rPr>
              <a:t>• Target: donare în perioada țintă (da/nu)</a:t>
            </a:r>
          </a:p>
          <a:p>
            <a:pPr marL="0" lvl="0" indent="0" algn="just">
              <a:lnSpc>
                <a:spcPts val="2819"/>
              </a:lnSpc>
              <a:spcBef>
                <a:spcPct val="0"/>
              </a:spcBef>
            </a:pPr>
            <a:r>
              <a:rPr lang="en-US" sz="2014">
                <a:solidFill>
                  <a:srgbClr val="FFFFFF"/>
                </a:solidFill>
                <a:latin typeface="Poppins"/>
                <a:ea typeface="Poppins"/>
                <a:cs typeface="Poppins"/>
                <a:sym typeface="Poppins"/>
              </a:rPr>
              <a:t>Analiza exploratorie a datelor relevă corelații semnificative între frecvența donărilor și probabilitatea de revenire.</a:t>
            </a:r>
          </a:p>
        </p:txBody>
      </p:sp>
      <p:sp>
        <p:nvSpPr>
          <p:cNvPr id="12" name="TextBox 12"/>
          <p:cNvSpPr txBox="1"/>
          <p:nvPr/>
        </p:nvSpPr>
        <p:spPr>
          <a:xfrm>
            <a:off x="1732305" y="1587179"/>
            <a:ext cx="6425354" cy="612507"/>
          </a:xfrm>
          <a:prstGeom prst="rect">
            <a:avLst/>
          </a:prstGeom>
        </p:spPr>
        <p:txBody>
          <a:bodyPr lIns="0" tIns="0" rIns="0" bIns="0" rtlCol="0" anchor="t">
            <a:spAutoFit/>
          </a:bodyPr>
          <a:lstStyle/>
          <a:p>
            <a:pPr marL="0" lvl="0" indent="0" algn="l">
              <a:lnSpc>
                <a:spcPts val="5089"/>
              </a:lnSpc>
              <a:spcBef>
                <a:spcPct val="0"/>
              </a:spcBef>
            </a:pPr>
            <a:r>
              <a:rPr lang="en-US" sz="3635" b="1" dirty="0" err="1">
                <a:solidFill>
                  <a:srgbClr val="FFFFFF"/>
                </a:solidFill>
                <a:latin typeface="Red Hat Display Bold"/>
                <a:ea typeface="Red Hat Display Bold"/>
                <a:cs typeface="Red Hat Display Bold"/>
                <a:sym typeface="Red Hat Display Bold"/>
              </a:rPr>
              <a:t>Setul</a:t>
            </a:r>
            <a:r>
              <a:rPr lang="en-US" sz="3635" b="1" dirty="0">
                <a:solidFill>
                  <a:srgbClr val="FFFFFF"/>
                </a:solidFill>
                <a:latin typeface="Red Hat Display Bold"/>
                <a:ea typeface="Red Hat Display Bold"/>
                <a:cs typeface="Red Hat Display Bold"/>
                <a:sym typeface="Red Hat Display Bold"/>
              </a:rPr>
              <a:t> de Date </a:t>
            </a:r>
            <a:r>
              <a:rPr lang="en-US" sz="3635" b="1" dirty="0" err="1">
                <a:solidFill>
                  <a:srgbClr val="FFFFFF"/>
                </a:solidFill>
                <a:latin typeface="Red Hat Display Bold"/>
                <a:ea typeface="Red Hat Display Bold"/>
                <a:cs typeface="Red Hat Display Bold"/>
                <a:sym typeface="Red Hat Display Bold"/>
              </a:rPr>
              <a:t>și</a:t>
            </a:r>
            <a:r>
              <a:rPr lang="en-US" sz="3635" b="1" dirty="0">
                <a:solidFill>
                  <a:srgbClr val="FFFFFF"/>
                </a:solidFill>
                <a:latin typeface="Red Hat Display Bold"/>
                <a:ea typeface="Red Hat Display Bold"/>
                <a:cs typeface="Red Hat Display Bold"/>
                <a:sym typeface="Red Hat Display Bold"/>
              </a:rPr>
              <a:t> </a:t>
            </a:r>
            <a:r>
              <a:rPr lang="en-US" sz="3635" b="1" dirty="0" err="1">
                <a:solidFill>
                  <a:srgbClr val="FFFFFF"/>
                </a:solidFill>
                <a:latin typeface="Red Hat Display Bold"/>
                <a:ea typeface="Red Hat Display Bold"/>
                <a:cs typeface="Red Hat Display Bold"/>
                <a:sym typeface="Red Hat Display Bold"/>
              </a:rPr>
              <a:t>Caracteristici</a:t>
            </a:r>
            <a:endParaRPr lang="en-US" sz="3635" b="1" dirty="0">
              <a:solidFill>
                <a:srgbClr val="FFFFFF"/>
              </a:solidFill>
              <a:latin typeface="Red Hat Display Bold"/>
              <a:ea typeface="Red Hat Display Bold"/>
              <a:cs typeface="Red Hat Display Bold"/>
              <a:sym typeface="Red Hat Display Bo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p:cNvGrpSpPr/>
        <p:nvPr/>
      </p:nvGrpSpPr>
      <p:grpSpPr>
        <a:xfrm>
          <a:off x="0" y="0"/>
          <a:ext cx="0" cy="0"/>
          <a:chOff x="0" y="0"/>
          <a:chExt cx="0" cy="0"/>
        </a:xfrm>
      </p:grpSpPr>
      <p:sp>
        <p:nvSpPr>
          <p:cNvPr id="2" name="Freeform 2"/>
          <p:cNvSpPr/>
          <p:nvPr/>
        </p:nvSpPr>
        <p:spPr>
          <a:xfrm>
            <a:off x="15223639" y="1028700"/>
            <a:ext cx="503963" cy="589744"/>
          </a:xfrm>
          <a:custGeom>
            <a:avLst/>
            <a:gdLst/>
            <a:ahLst/>
            <a:cxnLst/>
            <a:rect l="l" t="t" r="r" b="b"/>
            <a:pathLst>
              <a:path w="503963" h="589744">
                <a:moveTo>
                  <a:pt x="0" y="0"/>
                </a:moveTo>
                <a:lnTo>
                  <a:pt x="503963" y="0"/>
                </a:lnTo>
                <a:lnTo>
                  <a:pt x="503963" y="589744"/>
                </a:lnTo>
                <a:lnTo>
                  <a:pt x="0" y="58974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RO"/>
          </a:p>
        </p:txBody>
      </p:sp>
      <p:grpSp>
        <p:nvGrpSpPr>
          <p:cNvPr id="3" name="Group 3"/>
          <p:cNvGrpSpPr/>
          <p:nvPr/>
        </p:nvGrpSpPr>
        <p:grpSpPr>
          <a:xfrm>
            <a:off x="1028700" y="1605495"/>
            <a:ext cx="696307" cy="683413"/>
            <a:chOff x="0" y="0"/>
            <a:chExt cx="685800" cy="673100"/>
          </a:xfrm>
        </p:grpSpPr>
        <p:sp>
          <p:nvSpPr>
            <p:cNvPr id="4" name="Freeform 4"/>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5" name="TextBox 5"/>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6" name="Group 6"/>
          <p:cNvGrpSpPr/>
          <p:nvPr/>
        </p:nvGrpSpPr>
        <p:grpSpPr>
          <a:xfrm>
            <a:off x="985827" y="3159116"/>
            <a:ext cx="696307" cy="683413"/>
            <a:chOff x="0" y="0"/>
            <a:chExt cx="685800" cy="673100"/>
          </a:xfrm>
        </p:grpSpPr>
        <p:sp>
          <p:nvSpPr>
            <p:cNvPr id="7" name="Freeform 7"/>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8" name="TextBox 8"/>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9" name="Group 9"/>
          <p:cNvGrpSpPr/>
          <p:nvPr/>
        </p:nvGrpSpPr>
        <p:grpSpPr>
          <a:xfrm>
            <a:off x="876196" y="4975515"/>
            <a:ext cx="696307" cy="683413"/>
            <a:chOff x="0" y="0"/>
            <a:chExt cx="685800" cy="673100"/>
          </a:xfrm>
        </p:grpSpPr>
        <p:sp>
          <p:nvSpPr>
            <p:cNvPr id="10" name="Freeform 10"/>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1" name="TextBox 11"/>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14" name="Group 14"/>
          <p:cNvGrpSpPr/>
          <p:nvPr/>
        </p:nvGrpSpPr>
        <p:grpSpPr>
          <a:xfrm>
            <a:off x="8736507" y="-1641561"/>
            <a:ext cx="3449554" cy="3385673"/>
            <a:chOff x="0" y="0"/>
            <a:chExt cx="685800" cy="673100"/>
          </a:xfrm>
        </p:grpSpPr>
        <p:sp>
          <p:nvSpPr>
            <p:cNvPr id="15" name="Freeform 15"/>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6" name="TextBox 16"/>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
        <p:nvSpPr>
          <p:cNvPr id="25" name="Rectangle 1">
            <a:extLst>
              <a:ext uri="{FF2B5EF4-FFF2-40B4-BE49-F238E27FC236}">
                <a16:creationId xmlns:a16="http://schemas.microsoft.com/office/drawing/2014/main" id="{411B25B6-AC2B-2489-BCC5-262501D210BD}"/>
              </a:ext>
            </a:extLst>
          </p:cNvPr>
          <p:cNvSpPr>
            <a:spLocks noChangeArrowheads="1"/>
          </p:cNvSpPr>
          <p:nvPr/>
        </p:nvSpPr>
        <p:spPr bwMode="auto">
          <a:xfrm>
            <a:off x="876196" y="699291"/>
            <a:ext cx="800812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RO" altLang="en-RO" sz="3640" b="0" i="0" u="none" strike="noStrike" cap="none" normalizeH="0" baseline="0" dirty="0">
                <a:ln>
                  <a:noFill/>
                </a:ln>
                <a:solidFill>
                  <a:schemeClr val="bg1"/>
                </a:solidFill>
                <a:effectLst/>
                <a:latin typeface="Abadi MT Condensed Light" panose="020B0306030101010103" pitchFamily="34" charset="77"/>
              </a:rPr>
              <a:t>Verificarea</a:t>
            </a:r>
            <a:r>
              <a:rPr kumimoji="0" lang="en-RO" altLang="en-RO" sz="2800" b="0" i="0" u="none" strike="noStrike" cap="none" normalizeH="0" baseline="0" dirty="0">
                <a:ln>
                  <a:noFill/>
                </a:ln>
                <a:solidFill>
                  <a:schemeClr val="bg1"/>
                </a:solidFill>
                <a:effectLst/>
                <a:latin typeface="Abadi MT Condensed Light" panose="020B0306030101010103" pitchFamily="34" charset="77"/>
              </a:rPr>
              <a:t> și Stabilitatea Algoritmilor</a:t>
            </a:r>
          </a:p>
        </p:txBody>
      </p:sp>
      <p:sp>
        <p:nvSpPr>
          <p:cNvPr id="26" name="Rectangle 2">
            <a:extLst>
              <a:ext uri="{FF2B5EF4-FFF2-40B4-BE49-F238E27FC236}">
                <a16:creationId xmlns:a16="http://schemas.microsoft.com/office/drawing/2014/main" id="{43579FFE-6904-1416-EC09-FFDCCD50B3FC}"/>
              </a:ext>
            </a:extLst>
          </p:cNvPr>
          <p:cNvSpPr>
            <a:spLocks noChangeArrowheads="1"/>
          </p:cNvSpPr>
          <p:nvPr/>
        </p:nvSpPr>
        <p:spPr bwMode="auto">
          <a:xfrm>
            <a:off x="1725007" y="1788280"/>
            <a:ext cx="770780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RO" altLang="en-RO" sz="2400" b="1" i="0" u="none" strike="noStrike" cap="none" normalizeH="0" baseline="0" dirty="0">
                <a:ln>
                  <a:noFill/>
                </a:ln>
                <a:solidFill>
                  <a:schemeClr val="bg1"/>
                </a:solidFill>
                <a:effectLst/>
                <a:latin typeface="Arial" panose="020B0604020202020204" pitchFamily="34" charset="0"/>
              </a:rPr>
              <a:t>Arhitecturi Evaluate:</a:t>
            </a:r>
            <a:r>
              <a:rPr kumimoji="0" lang="en-RO" altLang="en-RO" sz="2400" b="0" i="0" u="none" strike="noStrike" cap="none" normalizeH="0" baseline="0" dirty="0">
                <a:ln>
                  <a:noFill/>
                </a:ln>
                <a:solidFill>
                  <a:schemeClr val="bg1"/>
                </a:solidFill>
                <a:effectLst/>
                <a:latin typeface="Arial" panose="020B0604020202020204" pitchFamily="34" charset="0"/>
              </a:rPr>
              <a:t> Testarea și verificarea comparativă a modelelor: </a:t>
            </a:r>
            <a:r>
              <a:rPr kumimoji="0" lang="en-RO" altLang="en-RO" sz="2400" b="0" i="1" u="none" strike="noStrike" cap="none" normalizeH="0" baseline="0" dirty="0">
                <a:ln>
                  <a:noFill/>
                </a:ln>
                <a:solidFill>
                  <a:schemeClr val="bg1"/>
                </a:solidFill>
                <a:effectLst/>
                <a:latin typeface="Arial" panose="020B0604020202020204" pitchFamily="34" charset="0"/>
              </a:rPr>
              <a:t>LightGBM</a:t>
            </a:r>
            <a:r>
              <a:rPr kumimoji="0" lang="en-RO" altLang="en-RO" sz="2400" b="0" i="0" u="none" strike="noStrike" cap="none" normalizeH="0" baseline="0" dirty="0">
                <a:ln>
                  <a:noFill/>
                </a:ln>
                <a:solidFill>
                  <a:schemeClr val="bg1"/>
                </a:solidFill>
                <a:effectLst/>
                <a:latin typeface="Arial" panose="020B0604020202020204" pitchFamily="34" charset="0"/>
              </a:rPr>
              <a:t>, </a:t>
            </a:r>
            <a:r>
              <a:rPr kumimoji="0" lang="en-RO" altLang="en-RO" sz="2400" b="0" i="1" u="none" strike="noStrike" cap="none" normalizeH="0" baseline="0" dirty="0">
                <a:ln>
                  <a:noFill/>
                </a:ln>
                <a:solidFill>
                  <a:schemeClr val="bg1"/>
                </a:solidFill>
                <a:effectLst/>
                <a:latin typeface="Arial" panose="020B0604020202020204" pitchFamily="34" charset="0"/>
              </a:rPr>
              <a:t>XGBoost</a:t>
            </a:r>
            <a:r>
              <a:rPr kumimoji="0" lang="en-RO" altLang="en-RO" sz="2400" b="0" i="0" u="none" strike="noStrike" cap="none" normalizeH="0" baseline="0" dirty="0">
                <a:ln>
                  <a:noFill/>
                </a:ln>
                <a:solidFill>
                  <a:schemeClr val="bg1"/>
                </a:solidFill>
                <a:effectLst/>
                <a:latin typeface="Arial" panose="020B0604020202020204" pitchFamily="34" charset="0"/>
              </a:rPr>
              <a:t>, </a:t>
            </a:r>
            <a:r>
              <a:rPr kumimoji="0" lang="en-RO" altLang="en-RO" sz="2400" b="0" i="1" u="none" strike="noStrike" cap="none" normalizeH="0" baseline="0" dirty="0">
                <a:ln>
                  <a:noFill/>
                </a:ln>
                <a:solidFill>
                  <a:schemeClr val="bg1"/>
                </a:solidFill>
                <a:effectLst/>
                <a:latin typeface="Arial" panose="020B0604020202020204" pitchFamily="34" charset="0"/>
              </a:rPr>
              <a:t>Logistic Regression</a:t>
            </a:r>
            <a:r>
              <a:rPr kumimoji="0" lang="en-RO" altLang="en-RO" sz="2400" b="0" i="0" u="none" strike="noStrike" cap="none" normalizeH="0" baseline="0" dirty="0">
                <a:ln>
                  <a:noFill/>
                </a:ln>
                <a:solidFill>
                  <a:schemeClr val="bg1"/>
                </a:solidFill>
                <a:effectLst/>
                <a:latin typeface="Arial" panose="020B0604020202020204" pitchFamily="34" charset="0"/>
              </a:rPr>
              <a:t> și </a:t>
            </a:r>
            <a:r>
              <a:rPr kumimoji="0" lang="en-RO" altLang="en-RO" sz="2400" b="0" i="1" u="none" strike="noStrike" cap="none" normalizeH="0" baseline="0" dirty="0">
                <a:ln>
                  <a:noFill/>
                </a:ln>
                <a:solidFill>
                  <a:schemeClr val="bg1"/>
                </a:solidFill>
                <a:effectLst/>
                <a:latin typeface="Arial" panose="020B0604020202020204" pitchFamily="34" charset="0"/>
              </a:rPr>
              <a:t>Random Forest</a:t>
            </a:r>
            <a:endParaRPr kumimoji="0" lang="en-RO" altLang="en-RO" sz="2400" b="0" i="0" u="none" strike="noStrike" cap="none" normalizeH="0" baseline="0" dirty="0">
              <a:ln>
                <a:noFill/>
              </a:ln>
              <a:solidFill>
                <a:schemeClr val="bg1"/>
              </a:solidFill>
              <a:effectLst/>
              <a:latin typeface="Arial" panose="020B0604020202020204" pitchFamily="34" charset="0"/>
            </a:endParaRPr>
          </a:p>
        </p:txBody>
      </p:sp>
      <p:sp>
        <p:nvSpPr>
          <p:cNvPr id="28" name="Rectangle 4">
            <a:extLst>
              <a:ext uri="{FF2B5EF4-FFF2-40B4-BE49-F238E27FC236}">
                <a16:creationId xmlns:a16="http://schemas.microsoft.com/office/drawing/2014/main" id="{A41E8831-F751-2399-D1F1-76D3B803F44B}"/>
              </a:ext>
            </a:extLst>
          </p:cNvPr>
          <p:cNvSpPr>
            <a:spLocks noChangeArrowheads="1"/>
          </p:cNvSpPr>
          <p:nvPr/>
        </p:nvSpPr>
        <p:spPr bwMode="auto">
          <a:xfrm>
            <a:off x="1745060" y="3285285"/>
            <a:ext cx="5726248"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RO" altLang="en-RO" sz="2400" b="1" i="0" u="none" strike="noStrike" cap="none" normalizeH="0" baseline="0" dirty="0">
                <a:ln>
                  <a:noFill/>
                </a:ln>
                <a:solidFill>
                  <a:schemeClr val="bg1"/>
                </a:solidFill>
                <a:effectLst/>
                <a:latin typeface="Arial" panose="020B0604020202020204" pitchFamily="34" charset="0"/>
              </a:rPr>
              <a:t>Rezultate și Stabilitate (CV Score):</a:t>
            </a:r>
            <a:endParaRPr kumimoji="0" lang="en-RO" altLang="en-RO" sz="24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RO" altLang="en-RO" sz="2400" b="1" i="0" u="none" strike="noStrike" cap="none" normalizeH="0" baseline="0" dirty="0">
                <a:ln>
                  <a:noFill/>
                </a:ln>
                <a:solidFill>
                  <a:schemeClr val="bg1"/>
                </a:solidFill>
                <a:effectLst/>
                <a:latin typeface="Arial" panose="020B0604020202020204" pitchFamily="34" charset="0"/>
              </a:rPr>
              <a:t>Stabilitate Medie a Modelului:</a:t>
            </a:r>
            <a:r>
              <a:rPr kumimoji="0" lang="en-RO" altLang="en-RO" sz="2400" b="0" i="0" u="none" strike="noStrike" cap="none" normalizeH="0" baseline="0" dirty="0">
                <a:ln>
                  <a:noFill/>
                </a:ln>
                <a:solidFill>
                  <a:schemeClr val="bg1"/>
                </a:solidFill>
                <a:effectLst/>
                <a:latin typeface="Arial" panose="020B0604020202020204" pitchFamily="34" charset="0"/>
              </a:rPr>
              <a:t> </a:t>
            </a:r>
            <a:r>
              <a:rPr kumimoji="0" lang="en-RO" altLang="en-RO" sz="2400" b="1" i="0" u="none" strike="noStrike" cap="none" normalizeH="0" baseline="0" dirty="0">
                <a:ln>
                  <a:noFill/>
                </a:ln>
                <a:solidFill>
                  <a:schemeClr val="bg1"/>
                </a:solidFill>
                <a:effectLst/>
                <a:latin typeface="Arial" panose="020B0604020202020204" pitchFamily="34" charset="0"/>
              </a:rPr>
              <a:t>78.19%</a:t>
            </a:r>
            <a:endParaRPr kumimoji="0" lang="en-RO" altLang="en-RO" sz="24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RO" altLang="en-RO" sz="2400" b="1" i="0" u="none" strike="noStrike" cap="none" normalizeH="0" baseline="0" dirty="0">
                <a:ln>
                  <a:noFill/>
                </a:ln>
                <a:solidFill>
                  <a:schemeClr val="bg1"/>
                </a:solidFill>
                <a:effectLst/>
                <a:latin typeface="Arial" panose="020B0604020202020204" pitchFamily="34" charset="0"/>
              </a:rPr>
              <a:t>Deviație Standard:</a:t>
            </a:r>
            <a:r>
              <a:rPr kumimoji="0" lang="en-RO" altLang="en-RO" sz="2400" b="0" i="0" u="none" strike="noStrike" cap="none" normalizeH="0" baseline="0" dirty="0">
                <a:ln>
                  <a:noFill/>
                </a:ln>
                <a:solidFill>
                  <a:schemeClr val="bg1"/>
                </a:solidFill>
                <a:effectLst/>
                <a:latin typeface="Arial" panose="020B0604020202020204" pitchFamily="34" charset="0"/>
              </a:rPr>
              <a:t> ± </a:t>
            </a:r>
            <a:r>
              <a:rPr kumimoji="0" lang="en-RO" altLang="en-RO" sz="2400" b="1" i="0" u="none" strike="noStrike" cap="none" normalizeH="0" baseline="0" dirty="0">
                <a:ln>
                  <a:noFill/>
                </a:ln>
                <a:solidFill>
                  <a:schemeClr val="bg1"/>
                </a:solidFill>
                <a:effectLst/>
                <a:latin typeface="Arial" panose="020B0604020202020204" pitchFamily="34" charset="0"/>
              </a:rPr>
              <a:t>5.72%</a:t>
            </a:r>
            <a:endParaRPr kumimoji="0" lang="en-RO" altLang="en-RO" sz="24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RO" altLang="en-RO" sz="2400" b="0" i="0" u="none" strike="noStrike" cap="none" normalizeH="0" baseline="0" dirty="0">
              <a:ln>
                <a:noFill/>
              </a:ln>
              <a:solidFill>
                <a:schemeClr val="bg1"/>
              </a:solidFill>
              <a:effectLst/>
              <a:latin typeface="Arial" panose="020B0604020202020204" pitchFamily="34" charset="0"/>
            </a:endParaRPr>
          </a:p>
        </p:txBody>
      </p:sp>
      <p:sp>
        <p:nvSpPr>
          <p:cNvPr id="32" name="Rectangle 5">
            <a:extLst>
              <a:ext uri="{FF2B5EF4-FFF2-40B4-BE49-F238E27FC236}">
                <a16:creationId xmlns:a16="http://schemas.microsoft.com/office/drawing/2014/main" id="{63A62D2B-4E00-0551-D64D-5C840AB9E9C0}"/>
              </a:ext>
            </a:extLst>
          </p:cNvPr>
          <p:cNvSpPr>
            <a:spLocks noChangeArrowheads="1"/>
          </p:cNvSpPr>
          <p:nvPr/>
        </p:nvSpPr>
        <p:spPr bwMode="auto">
          <a:xfrm>
            <a:off x="1518694" y="5024987"/>
            <a:ext cx="11556049"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RO" altLang="en-RO" sz="2400" b="1" i="0" u="none" strike="noStrike" cap="none" normalizeH="0" baseline="0" dirty="0">
                <a:ln>
                  <a:noFill/>
                </a:ln>
                <a:solidFill>
                  <a:schemeClr val="bg1"/>
                </a:solidFill>
                <a:effectLst/>
                <a:latin typeface="Arial" panose="020B0604020202020204" pitchFamily="34" charset="0"/>
              </a:rPr>
              <a:t>Performanța pe Setul de Test (Prag Standard 0.5):</a:t>
            </a:r>
            <a:endParaRPr kumimoji="0" lang="en-RO" altLang="en-RO" sz="24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RO" altLang="en-RO" sz="2400" b="1" i="0" u="none" strike="noStrike" cap="none" normalizeH="0" baseline="0" dirty="0">
                <a:ln>
                  <a:noFill/>
                </a:ln>
                <a:solidFill>
                  <a:schemeClr val="bg1"/>
                </a:solidFill>
                <a:effectLst/>
                <a:latin typeface="Arial" panose="020B0604020202020204" pitchFamily="34" charset="0"/>
              </a:rPr>
              <a:t>LightGBM:</a:t>
            </a:r>
            <a:r>
              <a:rPr kumimoji="0" lang="en-RO" altLang="en-RO" sz="2400" b="0" i="0" u="none" strike="noStrike" cap="none" normalizeH="0" baseline="0" dirty="0">
                <a:ln>
                  <a:noFill/>
                </a:ln>
                <a:solidFill>
                  <a:schemeClr val="bg1"/>
                </a:solidFill>
                <a:effectLst/>
                <a:latin typeface="Arial" panose="020B0604020202020204" pitchFamily="34" charset="0"/>
              </a:rPr>
              <a:t> Acuratețe maximă globală (</a:t>
            </a:r>
            <a:r>
              <a:rPr kumimoji="0" lang="en-RO" altLang="en-RO" sz="2400" b="1" i="0" u="none" strike="noStrike" cap="none" normalizeH="0" baseline="0" dirty="0">
                <a:ln>
                  <a:noFill/>
                </a:ln>
                <a:solidFill>
                  <a:schemeClr val="bg1"/>
                </a:solidFill>
                <a:effectLst/>
                <a:latin typeface="Arial" panose="020B0604020202020204" pitchFamily="34" charset="0"/>
              </a:rPr>
              <a:t>77.00%</a:t>
            </a:r>
            <a:r>
              <a:rPr kumimoji="0" lang="en-RO" altLang="en-RO" sz="2400" b="0" i="0" u="none" strike="noStrike" cap="none" normalizeH="0" baseline="0" dirty="0">
                <a:ln>
                  <a:noFill/>
                </a:ln>
                <a:solidFill>
                  <a:schemeClr val="bg1"/>
                </a:solidFill>
                <a:effectLst/>
                <a:latin typeface="Arial" panose="020B0604020202020204" pitchFamily="34" charset="0"/>
              </a:rPr>
              <a:t>) | AUC: </a:t>
            </a:r>
            <a:r>
              <a:rPr kumimoji="0" lang="en-RO" altLang="en-RO" sz="2400" b="1" i="0" u="none" strike="noStrike" cap="none" normalizeH="0" baseline="0" dirty="0">
                <a:ln>
                  <a:noFill/>
                </a:ln>
                <a:solidFill>
                  <a:schemeClr val="bg1"/>
                </a:solidFill>
                <a:effectLst/>
                <a:latin typeface="Arial" panose="020B0604020202020204" pitchFamily="34" charset="0"/>
              </a:rPr>
              <a:t>0.73</a:t>
            </a:r>
            <a:r>
              <a:rPr kumimoji="0" lang="en-RO" altLang="en-RO" sz="2400" b="0" i="0" u="none" strike="noStrike" cap="none" normalizeH="0" baseline="0" dirty="0">
                <a:ln>
                  <a:noFill/>
                </a:ln>
                <a:solidFill>
                  <a:schemeClr val="bg1"/>
                </a:solidFill>
                <a:effectLst/>
                <a:latin typeface="Arial" panose="020B0604020202020204" pitchFamily="34" charset="0"/>
              </a:rPr>
              <a:t> | Recall scăzut (44%).</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RO" altLang="en-RO" sz="2400" b="1" i="0" u="none" strike="noStrike" cap="none" normalizeH="0" baseline="0" dirty="0">
                <a:ln>
                  <a:noFill/>
                </a:ln>
                <a:solidFill>
                  <a:schemeClr val="bg1"/>
                </a:solidFill>
                <a:effectLst/>
                <a:latin typeface="Arial" panose="020B0604020202020204" pitchFamily="34" charset="0"/>
              </a:rPr>
              <a:t>XGBoost (Standard):</a:t>
            </a:r>
            <a:r>
              <a:rPr kumimoji="0" lang="en-RO" altLang="en-RO" sz="2400" b="0" i="0" u="none" strike="noStrike" cap="none" normalizeH="0" baseline="0" dirty="0">
                <a:ln>
                  <a:noFill/>
                </a:ln>
                <a:solidFill>
                  <a:schemeClr val="bg1"/>
                </a:solidFill>
                <a:effectLst/>
                <a:latin typeface="Arial" panose="020B0604020202020204" pitchFamily="34" charset="0"/>
              </a:rPr>
              <a:t> Acuratețe de </a:t>
            </a:r>
            <a:r>
              <a:rPr kumimoji="0" lang="en-RO" altLang="en-RO" sz="2400" b="1" i="0" u="none" strike="noStrike" cap="none" normalizeH="0" baseline="0" dirty="0">
                <a:ln>
                  <a:noFill/>
                </a:ln>
                <a:solidFill>
                  <a:schemeClr val="bg1"/>
                </a:solidFill>
                <a:effectLst/>
                <a:latin typeface="Arial" panose="020B0604020202020204" pitchFamily="34" charset="0"/>
              </a:rPr>
              <a:t>70.67%</a:t>
            </a:r>
            <a:r>
              <a:rPr kumimoji="0" lang="en-RO" altLang="en-RO" sz="2400" b="0" i="0" u="none" strike="noStrike" cap="none" normalizeH="0" baseline="0" dirty="0">
                <a:ln>
                  <a:noFill/>
                </a:ln>
                <a:solidFill>
                  <a:schemeClr val="bg1"/>
                </a:solidFill>
                <a:effectLst/>
                <a:latin typeface="Arial" panose="020B0604020202020204" pitchFamily="34" charset="0"/>
              </a:rPr>
              <a:t> | AUC: </a:t>
            </a:r>
            <a:r>
              <a:rPr kumimoji="0" lang="en-RO" altLang="en-RO" sz="2400" b="1" i="0" u="none" strike="noStrike" cap="none" normalizeH="0" baseline="0" dirty="0">
                <a:ln>
                  <a:noFill/>
                </a:ln>
                <a:solidFill>
                  <a:schemeClr val="bg1"/>
                </a:solidFill>
                <a:effectLst/>
                <a:latin typeface="Arial" panose="020B0604020202020204" pitchFamily="34" charset="0"/>
              </a:rPr>
              <a:t>0.72</a:t>
            </a:r>
            <a:r>
              <a:rPr kumimoji="0" lang="en-RO" altLang="en-RO" sz="2400" b="0" i="0" u="none" strike="noStrike" cap="none" normalizeH="0" baseline="0" dirty="0">
                <a:ln>
                  <a:noFill/>
                </a:ln>
                <a:solidFill>
                  <a:schemeClr val="bg1"/>
                </a:solidFill>
                <a:effectLst/>
                <a:latin typeface="Arial" panose="020B0604020202020204" pitchFamily="34" charset="0"/>
              </a:rPr>
              <a:t> | Recall: 40%.</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RO" altLang="en-RO" sz="2400" b="1" i="0" u="none" strike="noStrike" cap="none" normalizeH="0" baseline="0" dirty="0">
                <a:ln>
                  <a:noFill/>
                </a:ln>
                <a:solidFill>
                  <a:schemeClr val="bg1"/>
                </a:solidFill>
                <a:effectLst/>
                <a:latin typeface="Arial" panose="020B0604020202020204" pitchFamily="34" charset="0"/>
              </a:rPr>
              <a:t>Logistic Regression:</a:t>
            </a:r>
            <a:r>
              <a:rPr kumimoji="0" lang="en-RO" altLang="en-RO" sz="2400" b="0" i="0" u="none" strike="noStrike" cap="none" normalizeH="0" baseline="0" dirty="0">
                <a:ln>
                  <a:noFill/>
                </a:ln>
                <a:solidFill>
                  <a:schemeClr val="bg1"/>
                </a:solidFill>
                <a:effectLst/>
                <a:latin typeface="Arial" panose="020B0604020202020204" pitchFamily="34" charset="0"/>
              </a:rPr>
              <a:t> Acuratețe de </a:t>
            </a:r>
            <a:r>
              <a:rPr kumimoji="0" lang="en-RO" altLang="en-RO" sz="2400" b="1" i="0" u="none" strike="noStrike" cap="none" normalizeH="0" baseline="0" dirty="0">
                <a:ln>
                  <a:noFill/>
                </a:ln>
                <a:solidFill>
                  <a:schemeClr val="bg1"/>
                </a:solidFill>
                <a:effectLst/>
                <a:latin typeface="Arial" panose="020B0604020202020204" pitchFamily="34" charset="0"/>
              </a:rPr>
              <a:t>69.33%</a:t>
            </a:r>
            <a:r>
              <a:rPr kumimoji="0" lang="en-RO" altLang="en-RO" sz="2400" b="0" i="0" u="none" strike="noStrike" cap="none" normalizeH="0" baseline="0" dirty="0">
                <a:ln>
                  <a:noFill/>
                </a:ln>
                <a:solidFill>
                  <a:schemeClr val="bg1"/>
                </a:solidFill>
                <a:effectLst/>
                <a:latin typeface="Arial" panose="020B0604020202020204" pitchFamily="34" charset="0"/>
              </a:rPr>
              <a:t> | F1-Score: 0.55.</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RO" altLang="en-RO" sz="2400" b="1" i="0" u="none" strike="noStrike" cap="none" normalizeH="0" baseline="0" dirty="0">
                <a:ln>
                  <a:noFill/>
                </a:ln>
                <a:solidFill>
                  <a:schemeClr val="bg1"/>
                </a:solidFill>
                <a:effectLst/>
                <a:latin typeface="Arial" panose="020B0604020202020204" pitchFamily="34" charset="0"/>
              </a:rPr>
              <a:t>Random Forest:</a:t>
            </a:r>
            <a:r>
              <a:rPr kumimoji="0" lang="en-RO" altLang="en-RO" sz="2400" b="0" i="0" u="none" strike="noStrike" cap="none" normalizeH="0" baseline="0" dirty="0">
                <a:ln>
                  <a:noFill/>
                </a:ln>
                <a:solidFill>
                  <a:schemeClr val="bg1"/>
                </a:solidFill>
                <a:effectLst/>
                <a:latin typeface="Arial" panose="020B0604020202020204" pitchFamily="34" charset="0"/>
              </a:rPr>
              <a:t> Acuratețe de </a:t>
            </a:r>
            <a:r>
              <a:rPr kumimoji="0" lang="en-RO" altLang="en-RO" sz="2400" b="1" i="0" u="none" strike="noStrike" cap="none" normalizeH="0" baseline="0" dirty="0">
                <a:ln>
                  <a:noFill/>
                </a:ln>
                <a:solidFill>
                  <a:schemeClr val="bg1"/>
                </a:solidFill>
                <a:effectLst/>
                <a:latin typeface="Arial" panose="020B0604020202020204" pitchFamily="34" charset="0"/>
              </a:rPr>
              <a:t>68.66%</a:t>
            </a:r>
            <a:r>
              <a:rPr kumimoji="0" lang="en-RO" altLang="en-RO" sz="2400" b="0" i="0" u="none" strike="noStrike" cap="none" normalizeH="0" baseline="0" dirty="0">
                <a:ln>
                  <a:noFill/>
                </a:ln>
                <a:solidFill>
                  <a:schemeClr val="bg1"/>
                </a:solidFill>
                <a:effectLst/>
                <a:latin typeface="Arial" panose="020B0604020202020204" pitchFamily="34" charset="0"/>
              </a:rPr>
              <a:t> | F1-Score: 0.47.</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RO" altLang="en-RO" sz="2400" b="0" i="0" u="none" strike="noStrike" cap="none" normalizeH="0" baseline="0" dirty="0">
              <a:ln>
                <a:noFill/>
              </a:ln>
              <a:solidFill>
                <a:schemeClr val="bg1"/>
              </a:solidFill>
              <a:effectLst/>
              <a:latin typeface="Arial" panose="020B0604020202020204" pitchFamily="34" charset="0"/>
            </a:endParaRPr>
          </a:p>
        </p:txBody>
      </p:sp>
      <p:pic>
        <p:nvPicPr>
          <p:cNvPr id="34" name="Picture 33">
            <a:extLst>
              <a:ext uri="{FF2B5EF4-FFF2-40B4-BE49-F238E27FC236}">
                <a16:creationId xmlns:a16="http://schemas.microsoft.com/office/drawing/2014/main" id="{1EB69F46-7645-208C-8CD5-A3BD653A54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3971" y="2276654"/>
            <a:ext cx="6591300" cy="1460500"/>
          </a:xfrm>
          <a:prstGeom prst="rect">
            <a:avLst/>
          </a:prstGeom>
        </p:spPr>
      </p:pic>
      <p:pic>
        <p:nvPicPr>
          <p:cNvPr id="38" name="Picture 37">
            <a:extLst>
              <a:ext uri="{FF2B5EF4-FFF2-40B4-BE49-F238E27FC236}">
                <a16:creationId xmlns:a16="http://schemas.microsoft.com/office/drawing/2014/main" id="{C0CB768D-CDE5-5620-A6A8-E238ECF56A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9057223"/>
            <a:ext cx="11870784" cy="1200507"/>
          </a:xfrm>
          <a:prstGeom prst="rect">
            <a:avLst/>
          </a:prstGeom>
        </p:spPr>
      </p:pic>
      <p:pic>
        <p:nvPicPr>
          <p:cNvPr id="36" name="Picture 35">
            <a:extLst>
              <a:ext uri="{FF2B5EF4-FFF2-40B4-BE49-F238E27FC236}">
                <a16:creationId xmlns:a16="http://schemas.microsoft.com/office/drawing/2014/main" id="{2A7E5E22-97ED-2CAF-112C-0E41AC5538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3800" y="7503353"/>
            <a:ext cx="6934200" cy="27663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p:cNvGrpSpPr/>
        <p:nvPr/>
      </p:nvGrpSpPr>
      <p:grpSpPr>
        <a:xfrm>
          <a:off x="0" y="0"/>
          <a:ext cx="0" cy="0"/>
          <a:chOff x="0" y="0"/>
          <a:chExt cx="0" cy="0"/>
        </a:xfrm>
      </p:grpSpPr>
      <p:sp>
        <p:nvSpPr>
          <p:cNvPr id="2" name="Freeform 2"/>
          <p:cNvSpPr/>
          <p:nvPr/>
        </p:nvSpPr>
        <p:spPr>
          <a:xfrm>
            <a:off x="1022005" y="1016706"/>
            <a:ext cx="469636" cy="596025"/>
          </a:xfrm>
          <a:custGeom>
            <a:avLst/>
            <a:gdLst/>
            <a:ahLst/>
            <a:cxnLst/>
            <a:rect l="l" t="t" r="r" b="b"/>
            <a:pathLst>
              <a:path w="469636" h="596025">
                <a:moveTo>
                  <a:pt x="0" y="0"/>
                </a:moveTo>
                <a:lnTo>
                  <a:pt x="469636" y="0"/>
                </a:lnTo>
                <a:lnTo>
                  <a:pt x="469636" y="596025"/>
                </a:lnTo>
                <a:lnTo>
                  <a:pt x="0" y="596025"/>
                </a:lnTo>
                <a:lnTo>
                  <a:pt x="0" y="0"/>
                </a:lnTo>
                <a:close/>
              </a:path>
            </a:pathLst>
          </a:custGeom>
          <a:blipFill>
            <a:blip r:embed="rId2"/>
            <a:stretch>
              <a:fillRect/>
            </a:stretch>
          </a:blipFill>
        </p:spPr>
        <p:txBody>
          <a:bodyPr/>
          <a:lstStyle/>
          <a:p>
            <a:endParaRPr lang="en-RO"/>
          </a:p>
        </p:txBody>
      </p:sp>
      <p:sp>
        <p:nvSpPr>
          <p:cNvPr id="3" name="Freeform 3"/>
          <p:cNvSpPr/>
          <p:nvPr/>
        </p:nvSpPr>
        <p:spPr>
          <a:xfrm flipV="1">
            <a:off x="15989272" y="8002127"/>
            <a:ext cx="1270028" cy="1256173"/>
          </a:xfrm>
          <a:custGeom>
            <a:avLst/>
            <a:gdLst/>
            <a:ahLst/>
            <a:cxnLst/>
            <a:rect l="l" t="t" r="r" b="b"/>
            <a:pathLst>
              <a:path w="1270028" h="1256173">
                <a:moveTo>
                  <a:pt x="0" y="1256173"/>
                </a:moveTo>
                <a:lnTo>
                  <a:pt x="1270028" y="1256173"/>
                </a:lnTo>
                <a:lnTo>
                  <a:pt x="1270028" y="0"/>
                </a:lnTo>
                <a:lnTo>
                  <a:pt x="0" y="0"/>
                </a:lnTo>
                <a:lnTo>
                  <a:pt x="0" y="1256173"/>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RO"/>
          </a:p>
        </p:txBody>
      </p:sp>
      <p:grpSp>
        <p:nvGrpSpPr>
          <p:cNvPr id="4" name="Group 4"/>
          <p:cNvGrpSpPr/>
          <p:nvPr/>
        </p:nvGrpSpPr>
        <p:grpSpPr>
          <a:xfrm>
            <a:off x="-4003218" y="2955242"/>
            <a:ext cx="6298694" cy="6182052"/>
            <a:chOff x="0" y="0"/>
            <a:chExt cx="685800" cy="673100"/>
          </a:xfrm>
        </p:grpSpPr>
        <p:sp>
          <p:nvSpPr>
            <p:cNvPr id="5" name="Freeform 5"/>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6" name="TextBox 6"/>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
        <p:nvSpPr>
          <p:cNvPr id="7" name="TextBox 7"/>
          <p:cNvSpPr txBox="1"/>
          <p:nvPr/>
        </p:nvSpPr>
        <p:spPr>
          <a:xfrm>
            <a:off x="14562919" y="1069572"/>
            <a:ext cx="2696381" cy="400725"/>
          </a:xfrm>
          <a:prstGeom prst="rect">
            <a:avLst/>
          </a:prstGeom>
        </p:spPr>
        <p:txBody>
          <a:bodyPr lIns="0" tIns="0" rIns="0" bIns="0" rtlCol="0" anchor="t">
            <a:spAutoFit/>
          </a:bodyPr>
          <a:lstStyle/>
          <a:p>
            <a:pPr marL="0" lvl="0" indent="0" algn="r">
              <a:lnSpc>
                <a:spcPts val="3112"/>
              </a:lnSpc>
              <a:spcBef>
                <a:spcPct val="0"/>
              </a:spcBef>
            </a:pPr>
            <a:r>
              <a:rPr lang="en-US" sz="2223">
                <a:solidFill>
                  <a:srgbClr val="FFDE59"/>
                </a:solidFill>
                <a:latin typeface="Poppins"/>
                <a:ea typeface="Poppins"/>
                <a:cs typeface="Poppins"/>
                <a:sym typeface="Poppins"/>
              </a:rPr>
              <a:t>Raul Berinde</a:t>
            </a:r>
          </a:p>
        </p:txBody>
      </p:sp>
      <p:sp>
        <p:nvSpPr>
          <p:cNvPr id="8" name="TextBox 8"/>
          <p:cNvSpPr txBox="1"/>
          <p:nvPr/>
        </p:nvSpPr>
        <p:spPr>
          <a:xfrm>
            <a:off x="1280681" y="1069572"/>
            <a:ext cx="1783679" cy="400725"/>
          </a:xfrm>
          <a:prstGeom prst="rect">
            <a:avLst/>
          </a:prstGeom>
        </p:spPr>
        <p:txBody>
          <a:bodyPr lIns="0" tIns="0" rIns="0" bIns="0" rtlCol="0" anchor="t">
            <a:spAutoFit/>
          </a:bodyPr>
          <a:lstStyle/>
          <a:p>
            <a:pPr marL="0" lvl="0" indent="0" algn="r">
              <a:lnSpc>
                <a:spcPts val="3112"/>
              </a:lnSpc>
              <a:spcBef>
                <a:spcPct val="0"/>
              </a:spcBef>
            </a:pPr>
            <a:r>
              <a:rPr lang="en-US" sz="2223">
                <a:solidFill>
                  <a:srgbClr val="FFDE59"/>
                </a:solidFill>
                <a:latin typeface="Poppins"/>
                <a:ea typeface="Poppins"/>
                <a:cs typeface="Poppins"/>
                <a:sym typeface="Poppins"/>
              </a:rPr>
              <a:t>SI Proiect</a:t>
            </a:r>
          </a:p>
        </p:txBody>
      </p:sp>
      <p:sp>
        <p:nvSpPr>
          <p:cNvPr id="9" name="TextBox 9"/>
          <p:cNvSpPr txBox="1"/>
          <p:nvPr/>
        </p:nvSpPr>
        <p:spPr>
          <a:xfrm>
            <a:off x="3696426" y="1295668"/>
            <a:ext cx="10895147" cy="774678"/>
          </a:xfrm>
          <a:prstGeom prst="rect">
            <a:avLst/>
          </a:prstGeom>
        </p:spPr>
        <p:txBody>
          <a:bodyPr lIns="0" tIns="0" rIns="0" bIns="0" rtlCol="0" anchor="t">
            <a:spAutoFit/>
          </a:bodyPr>
          <a:lstStyle/>
          <a:p>
            <a:pPr marL="0" lvl="0" indent="0" algn="ctr">
              <a:lnSpc>
                <a:spcPts val="5745"/>
              </a:lnSpc>
            </a:pPr>
            <a:r>
              <a:rPr lang="en-US" sz="4996" b="1">
                <a:solidFill>
                  <a:srgbClr val="FFFFFF"/>
                </a:solidFill>
                <a:latin typeface="Poppins Bold"/>
                <a:ea typeface="Poppins Bold"/>
                <a:cs typeface="Poppins Bold"/>
                <a:sym typeface="Poppins Bold"/>
              </a:rPr>
              <a:t>ARHITECTURA MODELULUI</a:t>
            </a:r>
          </a:p>
        </p:txBody>
      </p:sp>
      <p:sp>
        <p:nvSpPr>
          <p:cNvPr id="10" name="TextBox 10"/>
          <p:cNvSpPr txBox="1"/>
          <p:nvPr/>
        </p:nvSpPr>
        <p:spPr>
          <a:xfrm>
            <a:off x="2491288" y="3237410"/>
            <a:ext cx="4968991" cy="1259745"/>
          </a:xfrm>
          <a:prstGeom prst="rect">
            <a:avLst/>
          </a:prstGeom>
        </p:spPr>
        <p:txBody>
          <a:bodyPr lIns="0" tIns="0" rIns="0" bIns="0" rtlCol="0" anchor="t">
            <a:spAutoFit/>
          </a:bodyPr>
          <a:lstStyle/>
          <a:p>
            <a:pPr marL="0" lvl="0" indent="0" algn="just">
              <a:lnSpc>
                <a:spcPts val="2490"/>
              </a:lnSpc>
              <a:spcBef>
                <a:spcPct val="0"/>
              </a:spcBef>
            </a:pPr>
            <a:r>
              <a:rPr lang="en-US" sz="1778">
                <a:solidFill>
                  <a:srgbClr val="FFFFFF"/>
                </a:solidFill>
                <a:latin typeface="Poppins"/>
                <a:ea typeface="Poppins"/>
                <a:cs typeface="Poppins"/>
                <a:sym typeface="Poppins"/>
              </a:rPr>
              <a:t>Curățarea și normalizarea datelor brute din baza de date a centrului de transfuzii. Transformarea variabilelor categorice și scalarea caracteristicilor numerice.</a:t>
            </a:r>
          </a:p>
        </p:txBody>
      </p:sp>
      <p:sp>
        <p:nvSpPr>
          <p:cNvPr id="11" name="TextBox 11"/>
          <p:cNvSpPr txBox="1"/>
          <p:nvPr/>
        </p:nvSpPr>
        <p:spPr>
          <a:xfrm>
            <a:off x="2495212" y="2568011"/>
            <a:ext cx="3354347" cy="398536"/>
          </a:xfrm>
          <a:prstGeom prst="rect">
            <a:avLst/>
          </a:prstGeom>
        </p:spPr>
        <p:txBody>
          <a:bodyPr lIns="0" tIns="0" rIns="0" bIns="0" rtlCol="0" anchor="t">
            <a:spAutoFit/>
          </a:bodyPr>
          <a:lstStyle/>
          <a:p>
            <a:pPr marL="0" lvl="0" indent="0" algn="l">
              <a:lnSpc>
                <a:spcPts val="3131"/>
              </a:lnSpc>
              <a:spcBef>
                <a:spcPct val="0"/>
              </a:spcBef>
            </a:pPr>
            <a:r>
              <a:rPr lang="en-US" sz="2236">
                <a:solidFill>
                  <a:srgbClr val="FFFFFF"/>
                </a:solidFill>
                <a:latin typeface="Poppins"/>
                <a:ea typeface="Poppins"/>
                <a:cs typeface="Poppins"/>
                <a:sym typeface="Poppins"/>
              </a:rPr>
              <a:t>PREPROCESARE DATE</a:t>
            </a:r>
          </a:p>
        </p:txBody>
      </p:sp>
      <p:sp>
        <p:nvSpPr>
          <p:cNvPr id="12" name="TextBox 12"/>
          <p:cNvSpPr txBox="1"/>
          <p:nvPr/>
        </p:nvSpPr>
        <p:spPr>
          <a:xfrm>
            <a:off x="12085446" y="3396651"/>
            <a:ext cx="4968991" cy="1259745"/>
          </a:xfrm>
          <a:prstGeom prst="rect">
            <a:avLst/>
          </a:prstGeom>
        </p:spPr>
        <p:txBody>
          <a:bodyPr lIns="0" tIns="0" rIns="0" bIns="0" rtlCol="0" anchor="t">
            <a:spAutoFit/>
          </a:bodyPr>
          <a:lstStyle/>
          <a:p>
            <a:pPr marL="0" lvl="0" indent="0" algn="just">
              <a:lnSpc>
                <a:spcPts val="2490"/>
              </a:lnSpc>
              <a:spcBef>
                <a:spcPct val="0"/>
              </a:spcBef>
            </a:pPr>
            <a:r>
              <a:rPr lang="en-US" sz="1778">
                <a:solidFill>
                  <a:srgbClr val="FFFFFF"/>
                </a:solidFill>
                <a:latin typeface="Poppins"/>
                <a:ea typeface="Poppins"/>
                <a:cs typeface="Poppins"/>
                <a:sym typeface="Poppins"/>
              </a:rPr>
              <a:t>Identificarea caracteristicilor relevante: frecvența donărilor, intervalele între vizite, date demografice și comportamentale ale donatorilor.</a:t>
            </a:r>
          </a:p>
        </p:txBody>
      </p:sp>
      <p:sp>
        <p:nvSpPr>
          <p:cNvPr id="13" name="TextBox 13"/>
          <p:cNvSpPr txBox="1"/>
          <p:nvPr/>
        </p:nvSpPr>
        <p:spPr>
          <a:xfrm>
            <a:off x="12085446" y="2731918"/>
            <a:ext cx="3971172" cy="398730"/>
          </a:xfrm>
          <a:prstGeom prst="rect">
            <a:avLst/>
          </a:prstGeom>
        </p:spPr>
        <p:txBody>
          <a:bodyPr lIns="0" tIns="0" rIns="0" bIns="0" rtlCol="0" anchor="t">
            <a:spAutoFit/>
          </a:bodyPr>
          <a:lstStyle/>
          <a:p>
            <a:pPr marL="0" lvl="0" indent="0" algn="l">
              <a:lnSpc>
                <a:spcPts val="3222"/>
              </a:lnSpc>
              <a:spcBef>
                <a:spcPct val="0"/>
              </a:spcBef>
            </a:pPr>
            <a:r>
              <a:rPr lang="en-US" sz="2301">
                <a:solidFill>
                  <a:srgbClr val="FFFFFF"/>
                </a:solidFill>
                <a:latin typeface="Poppins"/>
                <a:ea typeface="Poppins"/>
                <a:cs typeface="Poppins"/>
                <a:sym typeface="Poppins"/>
              </a:rPr>
              <a:t>EXTRAGERE FEATURES</a:t>
            </a:r>
          </a:p>
        </p:txBody>
      </p:sp>
      <p:sp>
        <p:nvSpPr>
          <p:cNvPr id="14" name="TextBox 14"/>
          <p:cNvSpPr txBox="1"/>
          <p:nvPr/>
        </p:nvSpPr>
        <p:spPr>
          <a:xfrm>
            <a:off x="2259037" y="7753237"/>
            <a:ext cx="4968991" cy="1259745"/>
          </a:xfrm>
          <a:prstGeom prst="rect">
            <a:avLst/>
          </a:prstGeom>
        </p:spPr>
        <p:txBody>
          <a:bodyPr lIns="0" tIns="0" rIns="0" bIns="0" rtlCol="0" anchor="t">
            <a:spAutoFit/>
          </a:bodyPr>
          <a:lstStyle/>
          <a:p>
            <a:pPr marL="0" lvl="0" indent="0" algn="just">
              <a:lnSpc>
                <a:spcPts val="2490"/>
              </a:lnSpc>
              <a:spcBef>
                <a:spcPct val="0"/>
              </a:spcBef>
            </a:pPr>
            <a:r>
              <a:rPr lang="en-US" sz="1778" dirty="0" err="1">
                <a:solidFill>
                  <a:srgbClr val="FFFFFF"/>
                </a:solidFill>
                <a:latin typeface="Poppins"/>
                <a:ea typeface="Poppins"/>
                <a:cs typeface="Poppins"/>
                <a:sym typeface="Poppins"/>
              </a:rPr>
              <a:t>Algoritm</a:t>
            </a:r>
            <a:r>
              <a:rPr lang="en-US" sz="1778" dirty="0">
                <a:solidFill>
                  <a:srgbClr val="FFFFFF"/>
                </a:solidFill>
                <a:latin typeface="Poppins"/>
                <a:ea typeface="Poppins"/>
                <a:cs typeface="Poppins"/>
                <a:sym typeface="Poppins"/>
              </a:rPr>
              <a:t> de tip Gradient Boosting, ales </a:t>
            </a:r>
            <a:r>
              <a:rPr lang="en-US" sz="1778" dirty="0" err="1">
                <a:solidFill>
                  <a:srgbClr val="FFFFFF"/>
                </a:solidFill>
                <a:latin typeface="Poppins"/>
                <a:ea typeface="Poppins"/>
                <a:cs typeface="Poppins"/>
                <a:sym typeface="Poppins"/>
              </a:rPr>
              <a:t>pentru</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performanța</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superioară</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în</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gestionarea</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datelor</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complexe</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și</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capacitatea</a:t>
            </a:r>
            <a:r>
              <a:rPr lang="en-US" sz="1778" dirty="0">
                <a:solidFill>
                  <a:srgbClr val="FFFFFF"/>
                </a:solidFill>
                <a:latin typeface="Poppins"/>
                <a:ea typeface="Poppins"/>
                <a:cs typeface="Poppins"/>
                <a:sym typeface="Poppins"/>
              </a:rPr>
              <a:t> de a </a:t>
            </a:r>
            <a:r>
              <a:rPr lang="en-US" sz="1778" dirty="0" err="1">
                <a:solidFill>
                  <a:srgbClr val="FFFFFF"/>
                </a:solidFill>
                <a:latin typeface="Poppins"/>
                <a:ea typeface="Poppins"/>
                <a:cs typeface="Poppins"/>
                <a:sym typeface="Poppins"/>
              </a:rPr>
              <a:t>oferi</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explicații</a:t>
            </a:r>
            <a:r>
              <a:rPr lang="en-US" sz="1778" dirty="0">
                <a:solidFill>
                  <a:srgbClr val="FFFFFF"/>
                </a:solidFill>
                <a:latin typeface="Poppins"/>
                <a:ea typeface="Poppins"/>
                <a:cs typeface="Poppins"/>
                <a:sym typeface="Poppins"/>
              </a:rPr>
              <a:t> </a:t>
            </a:r>
            <a:r>
              <a:rPr lang="en-US" sz="1778" dirty="0" err="1">
                <a:solidFill>
                  <a:srgbClr val="FFFFFF"/>
                </a:solidFill>
                <a:latin typeface="Poppins"/>
                <a:ea typeface="Poppins"/>
                <a:cs typeface="Poppins"/>
                <a:sym typeface="Poppins"/>
              </a:rPr>
              <a:t>prin</a:t>
            </a:r>
            <a:r>
              <a:rPr lang="en-US" sz="1778" dirty="0">
                <a:solidFill>
                  <a:srgbClr val="FFFFFF"/>
                </a:solidFill>
                <a:latin typeface="Poppins"/>
                <a:ea typeface="Poppins"/>
                <a:cs typeface="Poppins"/>
                <a:sym typeface="Poppins"/>
              </a:rPr>
              <a:t> SHAP.</a:t>
            </a:r>
          </a:p>
        </p:txBody>
      </p:sp>
      <p:sp>
        <p:nvSpPr>
          <p:cNvPr id="15" name="TextBox 15"/>
          <p:cNvSpPr txBox="1"/>
          <p:nvPr/>
        </p:nvSpPr>
        <p:spPr>
          <a:xfrm>
            <a:off x="2259037" y="7088504"/>
            <a:ext cx="4968991" cy="398730"/>
          </a:xfrm>
          <a:prstGeom prst="rect">
            <a:avLst/>
          </a:prstGeom>
        </p:spPr>
        <p:txBody>
          <a:bodyPr lIns="0" tIns="0" rIns="0" bIns="0" rtlCol="0" anchor="t">
            <a:spAutoFit/>
          </a:bodyPr>
          <a:lstStyle/>
          <a:p>
            <a:pPr marL="0" lvl="0" indent="0" algn="l">
              <a:lnSpc>
                <a:spcPts val="3222"/>
              </a:lnSpc>
              <a:spcBef>
                <a:spcPct val="0"/>
              </a:spcBef>
            </a:pPr>
            <a:r>
              <a:rPr lang="en-US" sz="2301">
                <a:solidFill>
                  <a:srgbClr val="FFFFFF"/>
                </a:solidFill>
                <a:latin typeface="Poppins"/>
                <a:ea typeface="Poppins"/>
                <a:cs typeface="Poppins"/>
                <a:sym typeface="Poppins"/>
              </a:rPr>
              <a:t>MODELUL FINAL: XGBOOST</a:t>
            </a:r>
          </a:p>
        </p:txBody>
      </p:sp>
      <p:sp>
        <p:nvSpPr>
          <p:cNvPr id="16" name="TextBox 16"/>
          <p:cNvSpPr txBox="1"/>
          <p:nvPr/>
        </p:nvSpPr>
        <p:spPr>
          <a:xfrm>
            <a:off x="10280351" y="7907618"/>
            <a:ext cx="4968991" cy="1259745"/>
          </a:xfrm>
          <a:prstGeom prst="rect">
            <a:avLst/>
          </a:prstGeom>
        </p:spPr>
        <p:txBody>
          <a:bodyPr lIns="0" tIns="0" rIns="0" bIns="0" rtlCol="0" anchor="t">
            <a:spAutoFit/>
          </a:bodyPr>
          <a:lstStyle/>
          <a:p>
            <a:pPr marL="0" lvl="0" indent="0" algn="just">
              <a:lnSpc>
                <a:spcPts val="2490"/>
              </a:lnSpc>
              <a:spcBef>
                <a:spcPct val="0"/>
              </a:spcBef>
            </a:pPr>
            <a:r>
              <a:rPr lang="en-US" sz="1778">
                <a:solidFill>
                  <a:srgbClr val="FFFFFF"/>
                </a:solidFill>
                <a:latin typeface="Poppins"/>
                <a:ea typeface="Poppins"/>
                <a:cs typeface="Poppins"/>
                <a:sym typeface="Poppins"/>
              </a:rPr>
              <a:t>Generarea probabilităților de revenire pentru fiecare donator. Clasificarea în categorii de risc și prioritizare pentru rechemare.</a:t>
            </a:r>
          </a:p>
        </p:txBody>
      </p:sp>
      <p:sp>
        <p:nvSpPr>
          <p:cNvPr id="17" name="TextBox 17"/>
          <p:cNvSpPr txBox="1"/>
          <p:nvPr/>
        </p:nvSpPr>
        <p:spPr>
          <a:xfrm>
            <a:off x="10280351" y="7242885"/>
            <a:ext cx="2484495" cy="398730"/>
          </a:xfrm>
          <a:prstGeom prst="rect">
            <a:avLst/>
          </a:prstGeom>
        </p:spPr>
        <p:txBody>
          <a:bodyPr lIns="0" tIns="0" rIns="0" bIns="0" rtlCol="0" anchor="t">
            <a:spAutoFit/>
          </a:bodyPr>
          <a:lstStyle/>
          <a:p>
            <a:pPr marL="0" lvl="0" indent="0" algn="l">
              <a:lnSpc>
                <a:spcPts val="3222"/>
              </a:lnSpc>
              <a:spcBef>
                <a:spcPct val="0"/>
              </a:spcBef>
            </a:pPr>
            <a:r>
              <a:rPr lang="en-US" sz="2301">
                <a:solidFill>
                  <a:srgbClr val="FFFFFF"/>
                </a:solidFill>
                <a:latin typeface="Poppins"/>
                <a:ea typeface="Poppins"/>
                <a:cs typeface="Poppins"/>
                <a:sym typeface="Poppins"/>
              </a:rPr>
              <a:t>MODUL PREDICȚIE</a:t>
            </a:r>
          </a:p>
        </p:txBody>
      </p:sp>
      <p:grpSp>
        <p:nvGrpSpPr>
          <p:cNvPr id="18" name="Group 18"/>
          <p:cNvGrpSpPr/>
          <p:nvPr/>
        </p:nvGrpSpPr>
        <p:grpSpPr>
          <a:xfrm>
            <a:off x="1727816" y="2475445"/>
            <a:ext cx="696307" cy="683413"/>
            <a:chOff x="0" y="0"/>
            <a:chExt cx="685800" cy="673100"/>
          </a:xfrm>
        </p:grpSpPr>
        <p:sp>
          <p:nvSpPr>
            <p:cNvPr id="19" name="Freeform 19"/>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20" name="TextBox 20"/>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21" name="Group 21"/>
          <p:cNvGrpSpPr/>
          <p:nvPr/>
        </p:nvGrpSpPr>
        <p:grpSpPr>
          <a:xfrm>
            <a:off x="1491641" y="6991272"/>
            <a:ext cx="696307" cy="683413"/>
            <a:chOff x="0" y="0"/>
            <a:chExt cx="685800" cy="673100"/>
          </a:xfrm>
        </p:grpSpPr>
        <p:sp>
          <p:nvSpPr>
            <p:cNvPr id="22" name="Freeform 22"/>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23" name="TextBox 23"/>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24" name="Group 24"/>
          <p:cNvGrpSpPr/>
          <p:nvPr/>
        </p:nvGrpSpPr>
        <p:grpSpPr>
          <a:xfrm>
            <a:off x="11257316" y="2634686"/>
            <a:ext cx="696307" cy="683413"/>
            <a:chOff x="0" y="0"/>
            <a:chExt cx="685800" cy="673100"/>
          </a:xfrm>
        </p:grpSpPr>
        <p:sp>
          <p:nvSpPr>
            <p:cNvPr id="25" name="Freeform 25"/>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26" name="TextBox 26"/>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27" name="Group 27"/>
          <p:cNvGrpSpPr/>
          <p:nvPr/>
        </p:nvGrpSpPr>
        <p:grpSpPr>
          <a:xfrm>
            <a:off x="9452221" y="7145654"/>
            <a:ext cx="696307" cy="683413"/>
            <a:chOff x="0" y="0"/>
            <a:chExt cx="685800" cy="673100"/>
          </a:xfrm>
        </p:grpSpPr>
        <p:sp>
          <p:nvSpPr>
            <p:cNvPr id="28" name="Freeform 28"/>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29" name="TextBox 29"/>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a:extLst>
            <a:ext uri="{FF2B5EF4-FFF2-40B4-BE49-F238E27FC236}">
              <a16:creationId xmlns:a16="http://schemas.microsoft.com/office/drawing/2014/main" id="{8B6DBBA4-75E5-4498-18F9-C3FA8590995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05C801B-B7C2-66A4-EF1F-3D8333B591EF}"/>
              </a:ext>
            </a:extLst>
          </p:cNvPr>
          <p:cNvSpPr/>
          <p:nvPr/>
        </p:nvSpPr>
        <p:spPr>
          <a:xfrm>
            <a:off x="15223639" y="1028700"/>
            <a:ext cx="503963" cy="589744"/>
          </a:xfrm>
          <a:custGeom>
            <a:avLst/>
            <a:gdLst/>
            <a:ahLst/>
            <a:cxnLst/>
            <a:rect l="l" t="t" r="r" b="b"/>
            <a:pathLst>
              <a:path w="503963" h="589744">
                <a:moveTo>
                  <a:pt x="0" y="0"/>
                </a:moveTo>
                <a:lnTo>
                  <a:pt x="503963" y="0"/>
                </a:lnTo>
                <a:lnTo>
                  <a:pt x="503963" y="589744"/>
                </a:lnTo>
                <a:lnTo>
                  <a:pt x="0" y="58974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RO"/>
          </a:p>
        </p:txBody>
      </p:sp>
      <p:grpSp>
        <p:nvGrpSpPr>
          <p:cNvPr id="3" name="Group 3">
            <a:extLst>
              <a:ext uri="{FF2B5EF4-FFF2-40B4-BE49-F238E27FC236}">
                <a16:creationId xmlns:a16="http://schemas.microsoft.com/office/drawing/2014/main" id="{33AFE472-2BEA-0040-9030-3F131F0E8C93}"/>
              </a:ext>
            </a:extLst>
          </p:cNvPr>
          <p:cNvGrpSpPr/>
          <p:nvPr/>
        </p:nvGrpSpPr>
        <p:grpSpPr>
          <a:xfrm>
            <a:off x="1028700" y="1605495"/>
            <a:ext cx="696307" cy="683413"/>
            <a:chOff x="0" y="0"/>
            <a:chExt cx="685800" cy="673100"/>
          </a:xfrm>
        </p:grpSpPr>
        <p:sp>
          <p:nvSpPr>
            <p:cNvPr id="4" name="Freeform 4">
              <a:extLst>
                <a:ext uri="{FF2B5EF4-FFF2-40B4-BE49-F238E27FC236}">
                  <a16:creationId xmlns:a16="http://schemas.microsoft.com/office/drawing/2014/main" id="{8CB7070E-B1A4-14AF-A5FA-ACB2BC7CE539}"/>
                </a:ext>
              </a:extLst>
            </p:cNvPr>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5" name="TextBox 5">
              <a:extLst>
                <a:ext uri="{FF2B5EF4-FFF2-40B4-BE49-F238E27FC236}">
                  <a16:creationId xmlns:a16="http://schemas.microsoft.com/office/drawing/2014/main" id="{F3C9277A-C985-AF01-16CA-7C902CFEA7FF}"/>
                </a:ext>
              </a:extLst>
            </p:cNvPr>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6" name="Group 6">
            <a:extLst>
              <a:ext uri="{FF2B5EF4-FFF2-40B4-BE49-F238E27FC236}">
                <a16:creationId xmlns:a16="http://schemas.microsoft.com/office/drawing/2014/main" id="{A00E02CE-D9E9-7100-8752-146CAFF1C230}"/>
              </a:ext>
            </a:extLst>
          </p:cNvPr>
          <p:cNvGrpSpPr/>
          <p:nvPr/>
        </p:nvGrpSpPr>
        <p:grpSpPr>
          <a:xfrm>
            <a:off x="1028700" y="4060758"/>
            <a:ext cx="696307" cy="683413"/>
            <a:chOff x="0" y="0"/>
            <a:chExt cx="685800" cy="673100"/>
          </a:xfrm>
        </p:grpSpPr>
        <p:sp>
          <p:nvSpPr>
            <p:cNvPr id="7" name="Freeform 7">
              <a:extLst>
                <a:ext uri="{FF2B5EF4-FFF2-40B4-BE49-F238E27FC236}">
                  <a16:creationId xmlns:a16="http://schemas.microsoft.com/office/drawing/2014/main" id="{C3739980-9B07-BDA8-0114-4952F4F58FD7}"/>
                </a:ext>
              </a:extLst>
            </p:cNvPr>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8" name="TextBox 8">
              <a:extLst>
                <a:ext uri="{FF2B5EF4-FFF2-40B4-BE49-F238E27FC236}">
                  <a16:creationId xmlns:a16="http://schemas.microsoft.com/office/drawing/2014/main" id="{31AD3788-2B19-9942-79F5-3D73DB48918C}"/>
                </a:ext>
              </a:extLst>
            </p:cNvPr>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9" name="Group 9">
            <a:extLst>
              <a:ext uri="{FF2B5EF4-FFF2-40B4-BE49-F238E27FC236}">
                <a16:creationId xmlns:a16="http://schemas.microsoft.com/office/drawing/2014/main" id="{782C462F-6B21-6177-A184-B93400A40811}"/>
              </a:ext>
            </a:extLst>
          </p:cNvPr>
          <p:cNvGrpSpPr/>
          <p:nvPr/>
        </p:nvGrpSpPr>
        <p:grpSpPr>
          <a:xfrm>
            <a:off x="1028700" y="6513016"/>
            <a:ext cx="696307" cy="683413"/>
            <a:chOff x="0" y="0"/>
            <a:chExt cx="685800" cy="673100"/>
          </a:xfrm>
        </p:grpSpPr>
        <p:sp>
          <p:nvSpPr>
            <p:cNvPr id="10" name="Freeform 10">
              <a:extLst>
                <a:ext uri="{FF2B5EF4-FFF2-40B4-BE49-F238E27FC236}">
                  <a16:creationId xmlns:a16="http://schemas.microsoft.com/office/drawing/2014/main" id="{5616449F-2011-5344-2E2F-9B119C2A870E}"/>
                </a:ext>
              </a:extLst>
            </p:cNvPr>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1" name="TextBox 11">
              <a:extLst>
                <a:ext uri="{FF2B5EF4-FFF2-40B4-BE49-F238E27FC236}">
                  <a16:creationId xmlns:a16="http://schemas.microsoft.com/office/drawing/2014/main" id="{37B0A2BD-A5B3-EB4C-D152-9D87DC76DEA2}"/>
                </a:ext>
              </a:extLst>
            </p:cNvPr>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12" name="Group 12">
            <a:extLst>
              <a:ext uri="{FF2B5EF4-FFF2-40B4-BE49-F238E27FC236}">
                <a16:creationId xmlns:a16="http://schemas.microsoft.com/office/drawing/2014/main" id="{9E87D0BD-7AAD-E3D2-24D1-3220552A9B30}"/>
              </a:ext>
            </a:extLst>
          </p:cNvPr>
          <p:cNvGrpSpPr/>
          <p:nvPr/>
        </p:nvGrpSpPr>
        <p:grpSpPr>
          <a:xfrm>
            <a:off x="10461284" y="3316985"/>
            <a:ext cx="6674191" cy="5073834"/>
            <a:chOff x="0" y="0"/>
            <a:chExt cx="1293443" cy="983297"/>
          </a:xfrm>
        </p:grpSpPr>
        <p:sp>
          <p:nvSpPr>
            <p:cNvPr id="13" name="Freeform 13">
              <a:extLst>
                <a:ext uri="{FF2B5EF4-FFF2-40B4-BE49-F238E27FC236}">
                  <a16:creationId xmlns:a16="http://schemas.microsoft.com/office/drawing/2014/main" id="{F430DF1A-A288-5CCB-A6B8-F94E16BB17DE}"/>
                </a:ext>
              </a:extLst>
            </p:cNvPr>
            <p:cNvSpPr/>
            <p:nvPr/>
          </p:nvSpPr>
          <p:spPr>
            <a:xfrm>
              <a:off x="0" y="0"/>
              <a:ext cx="1293443" cy="983297"/>
            </a:xfrm>
            <a:custGeom>
              <a:avLst/>
              <a:gdLst/>
              <a:ahLst/>
              <a:cxnLst/>
              <a:rect l="l" t="t" r="r" b="b"/>
              <a:pathLst>
                <a:path w="1293443" h="983297">
                  <a:moveTo>
                    <a:pt x="0" y="0"/>
                  </a:moveTo>
                  <a:lnTo>
                    <a:pt x="1293443" y="0"/>
                  </a:lnTo>
                  <a:lnTo>
                    <a:pt x="1293443" y="983297"/>
                  </a:lnTo>
                  <a:lnTo>
                    <a:pt x="0" y="983297"/>
                  </a:lnTo>
                  <a:close/>
                </a:path>
              </a:pathLst>
            </a:custGeom>
            <a:blipFill>
              <a:blip r:embed="rId3"/>
              <a:stretch>
                <a:fillRect l="-821" r="-821"/>
              </a:stretch>
            </a:blipFill>
            <a:ln w="85725" cap="sq">
              <a:solidFill>
                <a:srgbClr val="FFDE59"/>
              </a:solidFill>
              <a:prstDash val="solid"/>
              <a:miter/>
            </a:ln>
          </p:spPr>
          <p:txBody>
            <a:bodyPr/>
            <a:lstStyle/>
            <a:p>
              <a:endParaRPr lang="en-RO"/>
            </a:p>
          </p:txBody>
        </p:sp>
      </p:grpSp>
      <p:grpSp>
        <p:nvGrpSpPr>
          <p:cNvPr id="14" name="Group 14">
            <a:extLst>
              <a:ext uri="{FF2B5EF4-FFF2-40B4-BE49-F238E27FC236}">
                <a16:creationId xmlns:a16="http://schemas.microsoft.com/office/drawing/2014/main" id="{FBF78A8B-B290-75ED-6D07-6E7A83B8CD59}"/>
              </a:ext>
            </a:extLst>
          </p:cNvPr>
          <p:cNvGrpSpPr/>
          <p:nvPr/>
        </p:nvGrpSpPr>
        <p:grpSpPr>
          <a:xfrm>
            <a:off x="8736507" y="-1641561"/>
            <a:ext cx="3449554" cy="3385673"/>
            <a:chOff x="0" y="0"/>
            <a:chExt cx="685800" cy="673100"/>
          </a:xfrm>
        </p:grpSpPr>
        <p:sp>
          <p:nvSpPr>
            <p:cNvPr id="15" name="Freeform 15">
              <a:extLst>
                <a:ext uri="{FF2B5EF4-FFF2-40B4-BE49-F238E27FC236}">
                  <a16:creationId xmlns:a16="http://schemas.microsoft.com/office/drawing/2014/main" id="{D7AB4131-A88B-E522-4201-DED459CF0396}"/>
                </a:ext>
              </a:extLst>
            </p:cNvPr>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6" name="TextBox 16">
              <a:extLst>
                <a:ext uri="{FF2B5EF4-FFF2-40B4-BE49-F238E27FC236}">
                  <a16:creationId xmlns:a16="http://schemas.microsoft.com/office/drawing/2014/main" id="{AA96830F-A929-8B47-2700-2D87C604E4F7}"/>
                </a:ext>
              </a:extLst>
            </p:cNvPr>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
        <p:nvSpPr>
          <p:cNvPr id="18" name="TextBox 18">
            <a:extLst>
              <a:ext uri="{FF2B5EF4-FFF2-40B4-BE49-F238E27FC236}">
                <a16:creationId xmlns:a16="http://schemas.microsoft.com/office/drawing/2014/main" id="{50AEFD0E-C493-489E-3BE8-1D5F4252F3C2}"/>
              </a:ext>
            </a:extLst>
          </p:cNvPr>
          <p:cNvSpPr txBox="1"/>
          <p:nvPr/>
        </p:nvSpPr>
        <p:spPr>
          <a:xfrm>
            <a:off x="1932584" y="2357935"/>
            <a:ext cx="7041495" cy="1416086"/>
          </a:xfrm>
          <a:prstGeom prst="rect">
            <a:avLst/>
          </a:prstGeom>
        </p:spPr>
        <p:txBody>
          <a:bodyPr lIns="0" tIns="0" rIns="0" bIns="0" rtlCol="0" anchor="t">
            <a:spAutoFit/>
          </a:bodyPr>
          <a:lstStyle/>
          <a:p>
            <a:pPr marL="0" lvl="0" indent="0" algn="just">
              <a:lnSpc>
                <a:spcPts val="2798"/>
              </a:lnSpc>
              <a:spcBef>
                <a:spcPct val="0"/>
              </a:spcBef>
            </a:pPr>
            <a:r>
              <a:rPr lang="en-US" sz="1998">
                <a:solidFill>
                  <a:srgbClr val="FFFFFF"/>
                </a:solidFill>
                <a:latin typeface="Poppins"/>
                <a:ea typeface="Poppins"/>
                <a:cs typeface="Poppins"/>
                <a:sym typeface="Poppins"/>
              </a:rPr>
              <a:t>Modelul a fost evaluat folosind metrici standard: Acuratețe, Precizie, Recall și F1-Score. Rezultatele demonstrează performanță ridicată în clasificarea donatorilor.</a:t>
            </a:r>
          </a:p>
        </p:txBody>
      </p:sp>
      <p:sp>
        <p:nvSpPr>
          <p:cNvPr id="19" name="TextBox 19">
            <a:extLst>
              <a:ext uri="{FF2B5EF4-FFF2-40B4-BE49-F238E27FC236}">
                <a16:creationId xmlns:a16="http://schemas.microsoft.com/office/drawing/2014/main" id="{F187EF37-41F3-314F-6112-D7864C8E64A6}"/>
              </a:ext>
            </a:extLst>
          </p:cNvPr>
          <p:cNvSpPr txBox="1"/>
          <p:nvPr/>
        </p:nvSpPr>
        <p:spPr>
          <a:xfrm>
            <a:off x="1932584" y="1702726"/>
            <a:ext cx="3206495" cy="366613"/>
          </a:xfrm>
          <a:prstGeom prst="rect">
            <a:avLst/>
          </a:prstGeom>
        </p:spPr>
        <p:txBody>
          <a:bodyPr lIns="0" tIns="0" rIns="0" bIns="0" rtlCol="0" anchor="t">
            <a:spAutoFit/>
          </a:bodyPr>
          <a:lstStyle/>
          <a:p>
            <a:pPr marL="0" lvl="0" indent="0" algn="l">
              <a:lnSpc>
                <a:spcPts val="2892"/>
              </a:lnSpc>
              <a:spcBef>
                <a:spcPct val="0"/>
              </a:spcBef>
            </a:pPr>
            <a:r>
              <a:rPr lang="en-US" sz="2066">
                <a:solidFill>
                  <a:srgbClr val="FFFFFF"/>
                </a:solidFill>
                <a:latin typeface="Poppins"/>
                <a:ea typeface="Poppins"/>
                <a:cs typeface="Poppins"/>
                <a:sym typeface="Poppins"/>
              </a:rPr>
              <a:t>METRICI DE EVALUARE</a:t>
            </a:r>
          </a:p>
        </p:txBody>
      </p:sp>
      <p:sp>
        <p:nvSpPr>
          <p:cNvPr id="20" name="TextBox 20">
            <a:extLst>
              <a:ext uri="{FF2B5EF4-FFF2-40B4-BE49-F238E27FC236}">
                <a16:creationId xmlns:a16="http://schemas.microsoft.com/office/drawing/2014/main" id="{CE0441D0-89D5-FAE9-B595-7AD99543C704}"/>
              </a:ext>
            </a:extLst>
          </p:cNvPr>
          <p:cNvSpPr txBox="1"/>
          <p:nvPr/>
        </p:nvSpPr>
        <p:spPr>
          <a:xfrm>
            <a:off x="1932584" y="4813197"/>
            <a:ext cx="7041495" cy="1416086"/>
          </a:xfrm>
          <a:prstGeom prst="rect">
            <a:avLst/>
          </a:prstGeom>
        </p:spPr>
        <p:txBody>
          <a:bodyPr lIns="0" tIns="0" rIns="0" bIns="0" rtlCol="0" anchor="t">
            <a:spAutoFit/>
          </a:bodyPr>
          <a:lstStyle/>
          <a:p>
            <a:pPr marL="0" lvl="0" indent="0" algn="just">
              <a:lnSpc>
                <a:spcPts val="2798"/>
              </a:lnSpc>
              <a:spcBef>
                <a:spcPct val="0"/>
              </a:spcBef>
            </a:pPr>
            <a:r>
              <a:rPr lang="en-US" sz="1998">
                <a:solidFill>
                  <a:srgbClr val="FFFFFF"/>
                </a:solidFill>
                <a:latin typeface="Poppins"/>
                <a:ea typeface="Poppins"/>
                <a:cs typeface="Poppins"/>
                <a:sym typeface="Poppins"/>
              </a:rPr>
              <a:t>Sistemul a atins o acuratețe de 78% pe setul de test, cu un F1-Score de 0.76. Matricea de confuzie arată o rată scăzută de fals negative, crucială pentru aplicații medicale.</a:t>
            </a:r>
          </a:p>
        </p:txBody>
      </p:sp>
      <p:sp>
        <p:nvSpPr>
          <p:cNvPr id="21" name="TextBox 21">
            <a:extLst>
              <a:ext uri="{FF2B5EF4-FFF2-40B4-BE49-F238E27FC236}">
                <a16:creationId xmlns:a16="http://schemas.microsoft.com/office/drawing/2014/main" id="{5CB79976-6E11-8DEE-4321-85AB85539FD9}"/>
              </a:ext>
            </a:extLst>
          </p:cNvPr>
          <p:cNvSpPr txBox="1"/>
          <p:nvPr/>
        </p:nvSpPr>
        <p:spPr>
          <a:xfrm>
            <a:off x="1932584" y="4157989"/>
            <a:ext cx="4527145" cy="366613"/>
          </a:xfrm>
          <a:prstGeom prst="rect">
            <a:avLst/>
          </a:prstGeom>
        </p:spPr>
        <p:txBody>
          <a:bodyPr lIns="0" tIns="0" rIns="0" bIns="0" rtlCol="0" anchor="t">
            <a:spAutoFit/>
          </a:bodyPr>
          <a:lstStyle/>
          <a:p>
            <a:pPr marL="0" lvl="0" indent="0" algn="l">
              <a:lnSpc>
                <a:spcPts val="2892"/>
              </a:lnSpc>
              <a:spcBef>
                <a:spcPct val="0"/>
              </a:spcBef>
            </a:pPr>
            <a:r>
              <a:rPr lang="en-US" sz="2066">
                <a:solidFill>
                  <a:srgbClr val="FFFFFF"/>
                </a:solidFill>
                <a:latin typeface="Poppins"/>
                <a:ea typeface="Poppins"/>
                <a:cs typeface="Poppins"/>
                <a:sym typeface="Poppins"/>
              </a:rPr>
              <a:t>ACURATEȚEA PREDICȚIILOR</a:t>
            </a:r>
          </a:p>
        </p:txBody>
      </p:sp>
      <p:sp>
        <p:nvSpPr>
          <p:cNvPr id="22" name="TextBox 22">
            <a:extLst>
              <a:ext uri="{FF2B5EF4-FFF2-40B4-BE49-F238E27FC236}">
                <a16:creationId xmlns:a16="http://schemas.microsoft.com/office/drawing/2014/main" id="{3BF7DDC3-671B-BA6B-3877-7416B2EEB49D}"/>
              </a:ext>
            </a:extLst>
          </p:cNvPr>
          <p:cNvSpPr txBox="1"/>
          <p:nvPr/>
        </p:nvSpPr>
        <p:spPr>
          <a:xfrm>
            <a:off x="1932584" y="7265455"/>
            <a:ext cx="7041495" cy="1416086"/>
          </a:xfrm>
          <a:prstGeom prst="rect">
            <a:avLst/>
          </a:prstGeom>
        </p:spPr>
        <p:txBody>
          <a:bodyPr lIns="0" tIns="0" rIns="0" bIns="0" rtlCol="0" anchor="t">
            <a:spAutoFit/>
          </a:bodyPr>
          <a:lstStyle/>
          <a:p>
            <a:pPr marL="0" lvl="0" indent="0" algn="just">
              <a:lnSpc>
                <a:spcPts val="2798"/>
              </a:lnSpc>
              <a:spcBef>
                <a:spcPct val="0"/>
              </a:spcBef>
            </a:pPr>
            <a:r>
              <a:rPr lang="en-US" sz="1998">
                <a:solidFill>
                  <a:srgbClr val="FFFFFF"/>
                </a:solidFill>
                <a:latin typeface="Poppins"/>
                <a:ea typeface="Poppins"/>
                <a:cs typeface="Poppins"/>
                <a:sym typeface="Poppins"/>
              </a:rPr>
              <a:t>Față de metodele tradiționale bazate pe reguli simple, modelul ML oferă o îmbunătățire de 23% în identificarea donatorilor care vor reveni, reducând costurile campaniilor.</a:t>
            </a:r>
          </a:p>
        </p:txBody>
      </p:sp>
      <p:sp>
        <p:nvSpPr>
          <p:cNvPr id="23" name="TextBox 23">
            <a:extLst>
              <a:ext uri="{FF2B5EF4-FFF2-40B4-BE49-F238E27FC236}">
                <a16:creationId xmlns:a16="http://schemas.microsoft.com/office/drawing/2014/main" id="{DF4C2D4F-9860-576D-8115-C048C05D3955}"/>
              </a:ext>
            </a:extLst>
          </p:cNvPr>
          <p:cNvSpPr txBox="1"/>
          <p:nvPr/>
        </p:nvSpPr>
        <p:spPr>
          <a:xfrm>
            <a:off x="1932584" y="6610247"/>
            <a:ext cx="5277514" cy="366613"/>
          </a:xfrm>
          <a:prstGeom prst="rect">
            <a:avLst/>
          </a:prstGeom>
        </p:spPr>
        <p:txBody>
          <a:bodyPr lIns="0" tIns="0" rIns="0" bIns="0" rtlCol="0" anchor="t">
            <a:spAutoFit/>
          </a:bodyPr>
          <a:lstStyle/>
          <a:p>
            <a:pPr marL="0" lvl="0" indent="0" algn="l">
              <a:lnSpc>
                <a:spcPts val="2892"/>
              </a:lnSpc>
              <a:spcBef>
                <a:spcPct val="0"/>
              </a:spcBef>
            </a:pPr>
            <a:r>
              <a:rPr lang="en-US" sz="2066">
                <a:solidFill>
                  <a:srgbClr val="FFFFFF"/>
                </a:solidFill>
                <a:latin typeface="Poppins"/>
                <a:ea typeface="Poppins"/>
                <a:cs typeface="Poppins"/>
                <a:sym typeface="Poppins"/>
              </a:rPr>
              <a:t>COMPARAȚIE CU METODELE TRADIȚIONALE</a:t>
            </a:r>
          </a:p>
        </p:txBody>
      </p:sp>
      <p:sp>
        <p:nvSpPr>
          <p:cNvPr id="24" name="TextBox 24">
            <a:extLst>
              <a:ext uri="{FF2B5EF4-FFF2-40B4-BE49-F238E27FC236}">
                <a16:creationId xmlns:a16="http://schemas.microsoft.com/office/drawing/2014/main" id="{EA5D4D56-4AAD-B560-9492-DCB374125E55}"/>
              </a:ext>
            </a:extLst>
          </p:cNvPr>
          <p:cNvSpPr txBox="1"/>
          <p:nvPr/>
        </p:nvSpPr>
        <p:spPr>
          <a:xfrm>
            <a:off x="10478217" y="1600659"/>
            <a:ext cx="6921841" cy="778411"/>
          </a:xfrm>
          <a:prstGeom prst="rect">
            <a:avLst/>
          </a:prstGeom>
        </p:spPr>
        <p:txBody>
          <a:bodyPr lIns="0" tIns="0" rIns="0" bIns="0" rtlCol="0" anchor="t">
            <a:spAutoFit/>
          </a:bodyPr>
          <a:lstStyle/>
          <a:p>
            <a:pPr marL="0" lvl="0" indent="0" algn="l">
              <a:lnSpc>
                <a:spcPts val="6445"/>
              </a:lnSpc>
              <a:spcBef>
                <a:spcPct val="0"/>
              </a:spcBef>
            </a:pPr>
            <a:r>
              <a:rPr lang="en-US" sz="4603" b="1" dirty="0" err="1">
                <a:solidFill>
                  <a:srgbClr val="FFFFFF"/>
                </a:solidFill>
                <a:latin typeface="Red Hat Display Bold"/>
                <a:ea typeface="Red Hat Display Bold"/>
                <a:cs typeface="Red Hat Display Bold"/>
                <a:sym typeface="Red Hat Display Bold"/>
              </a:rPr>
              <a:t>Rezultate</a:t>
            </a:r>
            <a:r>
              <a:rPr lang="en-US" sz="4603" b="1" dirty="0">
                <a:solidFill>
                  <a:srgbClr val="FFFFFF"/>
                </a:solidFill>
                <a:latin typeface="Red Hat Display Bold"/>
                <a:ea typeface="Red Hat Display Bold"/>
                <a:cs typeface="Red Hat Display Bold"/>
                <a:sym typeface="Red Hat Display Bold"/>
              </a:rPr>
              <a:t> </a:t>
            </a:r>
            <a:r>
              <a:rPr lang="en-US" sz="4603" b="1" dirty="0" err="1">
                <a:solidFill>
                  <a:srgbClr val="FFFFFF"/>
                </a:solidFill>
                <a:latin typeface="Red Hat Display Bold"/>
                <a:ea typeface="Red Hat Display Bold"/>
                <a:cs typeface="Red Hat Display Bold"/>
                <a:sym typeface="Red Hat Display Bold"/>
              </a:rPr>
              <a:t>și</a:t>
            </a:r>
            <a:r>
              <a:rPr lang="en-US" sz="4603" b="1" dirty="0">
                <a:solidFill>
                  <a:srgbClr val="FFFFFF"/>
                </a:solidFill>
                <a:latin typeface="Red Hat Display Bold"/>
                <a:ea typeface="Red Hat Display Bold"/>
                <a:cs typeface="Red Hat Display Bold"/>
                <a:sym typeface="Red Hat Display Bold"/>
              </a:rPr>
              <a:t> </a:t>
            </a:r>
            <a:r>
              <a:rPr lang="en-US" sz="4603" b="1" dirty="0" err="1">
                <a:solidFill>
                  <a:srgbClr val="FFFFFF"/>
                </a:solidFill>
                <a:latin typeface="Red Hat Display Bold"/>
                <a:ea typeface="Red Hat Display Bold"/>
                <a:cs typeface="Red Hat Display Bold"/>
                <a:sym typeface="Red Hat Display Bold"/>
              </a:rPr>
              <a:t>Performanță</a:t>
            </a:r>
            <a:endParaRPr lang="en-US" sz="4603" b="1" dirty="0">
              <a:solidFill>
                <a:srgbClr val="FFFFFF"/>
              </a:solidFill>
              <a:latin typeface="Red Hat Display Bold"/>
              <a:ea typeface="Red Hat Display Bold"/>
              <a:cs typeface="Red Hat Display Bold"/>
              <a:sym typeface="Red Hat Display Bold"/>
            </a:endParaRPr>
          </a:p>
        </p:txBody>
      </p:sp>
    </p:spTree>
    <p:extLst>
      <p:ext uri="{BB962C8B-B14F-4D97-AF65-F5344CB8AC3E}">
        <p14:creationId xmlns:p14="http://schemas.microsoft.com/office/powerpoint/2010/main" val="10539105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B2C43"/>
        </a:solidFill>
        <a:effectLst/>
      </p:bgPr>
    </p:bg>
    <p:spTree>
      <p:nvGrpSpPr>
        <p:cNvPr id="1" name=""/>
        <p:cNvGrpSpPr/>
        <p:nvPr/>
      </p:nvGrpSpPr>
      <p:grpSpPr>
        <a:xfrm>
          <a:off x="0" y="0"/>
          <a:ext cx="0" cy="0"/>
          <a:chOff x="0" y="0"/>
          <a:chExt cx="0" cy="0"/>
        </a:xfrm>
      </p:grpSpPr>
      <p:sp>
        <p:nvSpPr>
          <p:cNvPr id="2" name="Freeform 2"/>
          <p:cNvSpPr/>
          <p:nvPr/>
        </p:nvSpPr>
        <p:spPr>
          <a:xfrm>
            <a:off x="924899" y="988338"/>
            <a:ext cx="625932" cy="591089"/>
          </a:xfrm>
          <a:custGeom>
            <a:avLst/>
            <a:gdLst/>
            <a:ahLst/>
            <a:cxnLst/>
            <a:rect l="l" t="t" r="r" b="b"/>
            <a:pathLst>
              <a:path w="625932" h="591089">
                <a:moveTo>
                  <a:pt x="0" y="0"/>
                </a:moveTo>
                <a:lnTo>
                  <a:pt x="625932" y="0"/>
                </a:lnTo>
                <a:lnTo>
                  <a:pt x="625932" y="591089"/>
                </a:lnTo>
                <a:lnTo>
                  <a:pt x="0" y="591089"/>
                </a:lnTo>
                <a:lnTo>
                  <a:pt x="0" y="0"/>
                </a:lnTo>
                <a:close/>
              </a:path>
            </a:pathLst>
          </a:custGeom>
          <a:blipFill>
            <a:blip r:embed="rId2"/>
            <a:stretch>
              <a:fillRect/>
            </a:stretch>
          </a:blipFill>
        </p:spPr>
        <p:txBody>
          <a:bodyPr/>
          <a:lstStyle/>
          <a:p>
            <a:endParaRPr lang="en-RO"/>
          </a:p>
        </p:txBody>
      </p:sp>
      <p:grpSp>
        <p:nvGrpSpPr>
          <p:cNvPr id="3" name="Group 3"/>
          <p:cNvGrpSpPr/>
          <p:nvPr/>
        </p:nvGrpSpPr>
        <p:grpSpPr>
          <a:xfrm>
            <a:off x="559773" y="9070975"/>
            <a:ext cx="2355891" cy="2312263"/>
            <a:chOff x="0" y="0"/>
            <a:chExt cx="685800" cy="673100"/>
          </a:xfrm>
        </p:grpSpPr>
        <p:sp>
          <p:nvSpPr>
            <p:cNvPr id="4" name="Freeform 4"/>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5" name="TextBox 5"/>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6" name="Group 6"/>
          <p:cNvGrpSpPr/>
          <p:nvPr/>
        </p:nvGrpSpPr>
        <p:grpSpPr>
          <a:xfrm>
            <a:off x="1280681" y="2502982"/>
            <a:ext cx="6798761" cy="5281037"/>
            <a:chOff x="0" y="0"/>
            <a:chExt cx="1046392" cy="812800"/>
          </a:xfrm>
        </p:grpSpPr>
        <p:sp>
          <p:nvSpPr>
            <p:cNvPr id="7" name="Freeform 7"/>
            <p:cNvSpPr/>
            <p:nvPr/>
          </p:nvSpPr>
          <p:spPr>
            <a:xfrm>
              <a:off x="0" y="0"/>
              <a:ext cx="1046392" cy="812800"/>
            </a:xfrm>
            <a:custGeom>
              <a:avLst/>
              <a:gdLst/>
              <a:ahLst/>
              <a:cxnLst/>
              <a:rect l="l" t="t" r="r" b="b"/>
              <a:pathLst>
                <a:path w="1046392" h="812800">
                  <a:moveTo>
                    <a:pt x="0" y="0"/>
                  </a:moveTo>
                  <a:lnTo>
                    <a:pt x="1046392" y="0"/>
                  </a:lnTo>
                  <a:lnTo>
                    <a:pt x="1046392" y="812800"/>
                  </a:lnTo>
                  <a:lnTo>
                    <a:pt x="0" y="812800"/>
                  </a:lnTo>
                  <a:close/>
                </a:path>
              </a:pathLst>
            </a:custGeom>
            <a:blipFill>
              <a:blip r:embed="rId3"/>
              <a:stretch>
                <a:fillRect l="-38" r="-38"/>
              </a:stretch>
            </a:blipFill>
            <a:ln w="85725" cap="sq">
              <a:solidFill>
                <a:srgbClr val="FFDE59"/>
              </a:solidFill>
              <a:prstDash val="solid"/>
              <a:miter/>
            </a:ln>
          </p:spPr>
          <p:txBody>
            <a:bodyPr/>
            <a:lstStyle/>
            <a:p>
              <a:endParaRPr lang="en-RO"/>
            </a:p>
          </p:txBody>
        </p:sp>
      </p:grpSp>
      <p:grpSp>
        <p:nvGrpSpPr>
          <p:cNvPr id="8" name="Group 8"/>
          <p:cNvGrpSpPr/>
          <p:nvPr/>
        </p:nvGrpSpPr>
        <p:grpSpPr>
          <a:xfrm>
            <a:off x="10496889" y="-1490142"/>
            <a:ext cx="3167239" cy="3108586"/>
            <a:chOff x="0" y="0"/>
            <a:chExt cx="685800" cy="673100"/>
          </a:xfrm>
        </p:grpSpPr>
        <p:sp>
          <p:nvSpPr>
            <p:cNvPr id="9" name="Freeform 9"/>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0" name="TextBox 10"/>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
        <p:nvSpPr>
          <p:cNvPr id="11" name="TextBox 11"/>
          <p:cNvSpPr txBox="1"/>
          <p:nvPr/>
        </p:nvSpPr>
        <p:spPr>
          <a:xfrm>
            <a:off x="9172165" y="4548787"/>
            <a:ext cx="8587582" cy="1467791"/>
          </a:xfrm>
          <a:prstGeom prst="rect">
            <a:avLst/>
          </a:prstGeom>
        </p:spPr>
        <p:txBody>
          <a:bodyPr lIns="0" tIns="0" rIns="0" bIns="0" rtlCol="0" anchor="t">
            <a:spAutoFit/>
          </a:bodyPr>
          <a:lstStyle/>
          <a:p>
            <a:pPr marL="0" lvl="0" indent="0" algn="just">
              <a:lnSpc>
                <a:spcPts val="2308"/>
              </a:lnSpc>
              <a:spcBef>
                <a:spcPct val="0"/>
              </a:spcBef>
            </a:pPr>
            <a:r>
              <a:rPr lang="en-US" sz="1648">
                <a:solidFill>
                  <a:srgbClr val="FFFFFF"/>
                </a:solidFill>
                <a:latin typeface="Poppins"/>
                <a:ea typeface="Poppins"/>
                <a:cs typeface="Poppins"/>
                <a:sym typeface="Poppins"/>
              </a:rPr>
              <a:t>Prin ajustarea pragului de decizie la 0.4, am optimizat sistemul pentru a minimiza 'Fals Negativele'. În contextul donării de sânge, este vital să nu pierdem niciun donator real. Matricea de confuzie demonstrează că modelul reușește să captureze 60% din donatorii activi, oferind o bază solidă pentru campanii de rechemare direcționate.</a:t>
            </a:r>
          </a:p>
        </p:txBody>
      </p:sp>
      <p:sp>
        <p:nvSpPr>
          <p:cNvPr id="12" name="TextBox 12"/>
          <p:cNvSpPr txBox="1"/>
          <p:nvPr/>
        </p:nvSpPr>
        <p:spPr>
          <a:xfrm>
            <a:off x="9172165" y="3477613"/>
            <a:ext cx="7201342" cy="705981"/>
          </a:xfrm>
          <a:prstGeom prst="rect">
            <a:avLst/>
          </a:prstGeom>
        </p:spPr>
        <p:txBody>
          <a:bodyPr lIns="0" tIns="0" rIns="0" bIns="0" rtlCol="0" anchor="t">
            <a:spAutoFit/>
          </a:bodyPr>
          <a:lstStyle/>
          <a:p>
            <a:pPr marL="0" lvl="0" indent="0" algn="l">
              <a:lnSpc>
                <a:spcPts val="5712"/>
              </a:lnSpc>
              <a:spcBef>
                <a:spcPct val="0"/>
              </a:spcBef>
            </a:pPr>
            <a:r>
              <a:rPr lang="en-US" sz="4080" b="1">
                <a:solidFill>
                  <a:srgbClr val="FFFFFF"/>
                </a:solidFill>
                <a:latin typeface="Red Hat Display Bold"/>
                <a:ea typeface="Red Hat Display Bold"/>
                <a:cs typeface="Red Hat Display Bold"/>
                <a:sym typeface="Red Hat Display Bold"/>
              </a:rPr>
              <a:t>Optimizarea pentru Recall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666" b="-666"/>
            </a:stretch>
          </a:blipFill>
        </p:spPr>
        <p:txBody>
          <a:bodyPr/>
          <a:lstStyle/>
          <a:p>
            <a:endParaRPr lang="en-RO"/>
          </a:p>
        </p:txBody>
      </p:sp>
      <p:sp>
        <p:nvSpPr>
          <p:cNvPr id="3" name="Freeform 3"/>
          <p:cNvSpPr/>
          <p:nvPr/>
        </p:nvSpPr>
        <p:spPr>
          <a:xfrm>
            <a:off x="1028700" y="1028700"/>
            <a:ext cx="503963" cy="589744"/>
          </a:xfrm>
          <a:custGeom>
            <a:avLst/>
            <a:gdLst/>
            <a:ahLst/>
            <a:cxnLst/>
            <a:rect l="l" t="t" r="r" b="b"/>
            <a:pathLst>
              <a:path w="503963" h="589744">
                <a:moveTo>
                  <a:pt x="0" y="0"/>
                </a:moveTo>
                <a:lnTo>
                  <a:pt x="503963" y="0"/>
                </a:lnTo>
                <a:lnTo>
                  <a:pt x="503963" y="589744"/>
                </a:lnTo>
                <a:lnTo>
                  <a:pt x="0" y="58974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RO"/>
          </a:p>
        </p:txBody>
      </p:sp>
      <p:grpSp>
        <p:nvGrpSpPr>
          <p:cNvPr id="4" name="Group 4"/>
          <p:cNvGrpSpPr/>
          <p:nvPr/>
        </p:nvGrpSpPr>
        <p:grpSpPr>
          <a:xfrm>
            <a:off x="2277499" y="3981715"/>
            <a:ext cx="13733001" cy="2323571"/>
            <a:chOff x="0" y="0"/>
            <a:chExt cx="2401946" cy="406400"/>
          </a:xfrm>
        </p:grpSpPr>
        <p:sp>
          <p:nvSpPr>
            <p:cNvPr id="5" name="Freeform 5"/>
            <p:cNvSpPr/>
            <p:nvPr/>
          </p:nvSpPr>
          <p:spPr>
            <a:xfrm>
              <a:off x="0" y="0"/>
              <a:ext cx="2401946" cy="406400"/>
            </a:xfrm>
            <a:custGeom>
              <a:avLst/>
              <a:gdLst/>
              <a:ahLst/>
              <a:cxnLst/>
              <a:rect l="l" t="t" r="r" b="b"/>
              <a:pathLst>
                <a:path w="2401946" h="406400">
                  <a:moveTo>
                    <a:pt x="2198746" y="0"/>
                  </a:moveTo>
                  <a:cubicBezTo>
                    <a:pt x="2310970" y="0"/>
                    <a:pt x="2401946" y="90976"/>
                    <a:pt x="2401946" y="203200"/>
                  </a:cubicBezTo>
                  <a:cubicBezTo>
                    <a:pt x="2401946" y="315424"/>
                    <a:pt x="2310970" y="406400"/>
                    <a:pt x="2198746" y="406400"/>
                  </a:cubicBezTo>
                  <a:lnTo>
                    <a:pt x="203200" y="406400"/>
                  </a:lnTo>
                  <a:cubicBezTo>
                    <a:pt x="90976" y="406400"/>
                    <a:pt x="0" y="315424"/>
                    <a:pt x="0" y="203200"/>
                  </a:cubicBezTo>
                  <a:cubicBezTo>
                    <a:pt x="0" y="90976"/>
                    <a:pt x="90976" y="0"/>
                    <a:pt x="203200" y="0"/>
                  </a:cubicBezTo>
                  <a:close/>
                </a:path>
              </a:pathLst>
            </a:custGeom>
            <a:ln w="85725" cap="sq">
              <a:solidFill>
                <a:srgbClr val="FFDE59"/>
              </a:solidFill>
              <a:prstDash val="solid"/>
              <a:miter/>
            </a:ln>
          </p:spPr>
          <p:txBody>
            <a:bodyPr/>
            <a:lstStyle/>
            <a:p>
              <a:endParaRPr lang="en-RO"/>
            </a:p>
          </p:txBody>
        </p:sp>
        <p:sp>
          <p:nvSpPr>
            <p:cNvPr id="6" name="TextBox 6"/>
            <p:cNvSpPr txBox="1"/>
            <p:nvPr/>
          </p:nvSpPr>
          <p:spPr>
            <a:xfrm>
              <a:off x="0" y="-66675"/>
              <a:ext cx="2401946" cy="473075"/>
            </a:xfrm>
            <a:prstGeom prst="rect">
              <a:avLst/>
            </a:prstGeom>
          </p:spPr>
          <p:txBody>
            <a:bodyPr lIns="50800" tIns="50800" rIns="50800" bIns="50800" rtlCol="0" anchor="ctr"/>
            <a:lstStyle/>
            <a:p>
              <a:pPr marL="0" lvl="0" indent="0" algn="ctr">
                <a:lnSpc>
                  <a:spcPts val="3499"/>
                </a:lnSpc>
              </a:pPr>
              <a:endParaRPr/>
            </a:p>
          </p:txBody>
        </p:sp>
      </p:grpSp>
      <p:sp>
        <p:nvSpPr>
          <p:cNvPr id="7" name="TextBox 7"/>
          <p:cNvSpPr txBox="1"/>
          <p:nvPr/>
        </p:nvSpPr>
        <p:spPr>
          <a:xfrm>
            <a:off x="3327579" y="4414918"/>
            <a:ext cx="11632843" cy="1638140"/>
          </a:xfrm>
          <a:prstGeom prst="rect">
            <a:avLst/>
          </a:prstGeom>
        </p:spPr>
        <p:txBody>
          <a:bodyPr lIns="0" tIns="0" rIns="0" bIns="0" rtlCol="0" anchor="t">
            <a:spAutoFit/>
          </a:bodyPr>
          <a:lstStyle/>
          <a:p>
            <a:pPr marL="0" lvl="0" indent="0" algn="ctr">
              <a:lnSpc>
                <a:spcPts val="12591"/>
              </a:lnSpc>
            </a:pPr>
            <a:r>
              <a:rPr lang="en-US" sz="11991" b="1">
                <a:solidFill>
                  <a:srgbClr val="FFFFFF"/>
                </a:solidFill>
                <a:latin typeface="Red Hat Display Bold"/>
                <a:ea typeface="Red Hat Display Bold"/>
                <a:cs typeface="Red Hat Display Bold"/>
                <a:sym typeface="Red Hat Display Bold"/>
              </a:rPr>
              <a:t>Vă Mulțumesc!</a:t>
            </a:r>
          </a:p>
        </p:txBody>
      </p:sp>
      <p:grpSp>
        <p:nvGrpSpPr>
          <p:cNvPr id="8" name="Group 8"/>
          <p:cNvGrpSpPr/>
          <p:nvPr/>
        </p:nvGrpSpPr>
        <p:grpSpPr>
          <a:xfrm>
            <a:off x="-1273851" y="8002127"/>
            <a:ext cx="3167239" cy="3108586"/>
            <a:chOff x="0" y="0"/>
            <a:chExt cx="685800" cy="673100"/>
          </a:xfrm>
        </p:grpSpPr>
        <p:sp>
          <p:nvSpPr>
            <p:cNvPr id="9" name="Freeform 9"/>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0" name="TextBox 10"/>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11" name="Group 11"/>
          <p:cNvGrpSpPr/>
          <p:nvPr/>
        </p:nvGrpSpPr>
        <p:grpSpPr>
          <a:xfrm>
            <a:off x="11793183" y="-1174448"/>
            <a:ext cx="3167239" cy="3108586"/>
            <a:chOff x="0" y="0"/>
            <a:chExt cx="685800" cy="673100"/>
          </a:xfrm>
        </p:grpSpPr>
        <p:sp>
          <p:nvSpPr>
            <p:cNvPr id="12" name="Freeform 12"/>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3" name="TextBox 13"/>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grpSp>
        <p:nvGrpSpPr>
          <p:cNvPr id="14" name="Group 14"/>
          <p:cNvGrpSpPr/>
          <p:nvPr/>
        </p:nvGrpSpPr>
        <p:grpSpPr>
          <a:xfrm>
            <a:off x="16704381" y="5775064"/>
            <a:ext cx="3167239" cy="3108586"/>
            <a:chOff x="0" y="0"/>
            <a:chExt cx="685800" cy="673100"/>
          </a:xfrm>
        </p:grpSpPr>
        <p:sp>
          <p:nvSpPr>
            <p:cNvPr id="15" name="Freeform 15"/>
            <p:cNvSpPr/>
            <p:nvPr/>
          </p:nvSpPr>
          <p:spPr>
            <a:xfrm>
              <a:off x="0" y="0"/>
              <a:ext cx="685800" cy="679450"/>
            </a:xfrm>
            <a:custGeom>
              <a:avLst/>
              <a:gdLst/>
              <a:ahLst/>
              <a:cxnLst/>
              <a:rect l="l" t="t" r="r" b="b"/>
              <a:pathLst>
                <a:path w="685800" h="679450">
                  <a:moveTo>
                    <a:pt x="342900" y="0"/>
                  </a:moveTo>
                  <a:lnTo>
                    <a:pt x="382270" y="210820"/>
                  </a:lnTo>
                  <a:lnTo>
                    <a:pt x="529590" y="54610"/>
                  </a:lnTo>
                  <a:lnTo>
                    <a:pt x="449580" y="254000"/>
                  </a:lnTo>
                  <a:lnTo>
                    <a:pt x="657860" y="201930"/>
                  </a:lnTo>
                  <a:lnTo>
                    <a:pt x="482600" y="326390"/>
                  </a:lnTo>
                  <a:lnTo>
                    <a:pt x="685800" y="396240"/>
                  </a:lnTo>
                  <a:lnTo>
                    <a:pt x="471170" y="405130"/>
                  </a:lnTo>
                  <a:lnTo>
                    <a:pt x="604520" y="572770"/>
                  </a:lnTo>
                  <a:lnTo>
                    <a:pt x="419100" y="464820"/>
                  </a:lnTo>
                  <a:lnTo>
                    <a:pt x="440690" y="679450"/>
                  </a:lnTo>
                  <a:lnTo>
                    <a:pt x="342900" y="487680"/>
                  </a:lnTo>
                  <a:lnTo>
                    <a:pt x="245110" y="679450"/>
                  </a:lnTo>
                  <a:lnTo>
                    <a:pt x="266700" y="464820"/>
                  </a:lnTo>
                  <a:lnTo>
                    <a:pt x="81280" y="572770"/>
                  </a:lnTo>
                  <a:lnTo>
                    <a:pt x="214630" y="405130"/>
                  </a:lnTo>
                  <a:lnTo>
                    <a:pt x="0" y="396240"/>
                  </a:lnTo>
                  <a:lnTo>
                    <a:pt x="203200" y="326390"/>
                  </a:lnTo>
                  <a:lnTo>
                    <a:pt x="27940" y="201930"/>
                  </a:lnTo>
                  <a:lnTo>
                    <a:pt x="236220" y="254000"/>
                  </a:lnTo>
                  <a:lnTo>
                    <a:pt x="156210" y="54610"/>
                  </a:lnTo>
                  <a:lnTo>
                    <a:pt x="303530" y="210820"/>
                  </a:lnTo>
                  <a:close/>
                </a:path>
              </a:pathLst>
            </a:custGeom>
            <a:solidFill>
              <a:srgbClr val="FFDE59"/>
            </a:solidFill>
          </p:spPr>
          <p:txBody>
            <a:bodyPr/>
            <a:lstStyle/>
            <a:p>
              <a:endParaRPr lang="en-RO"/>
            </a:p>
          </p:txBody>
        </p:sp>
        <p:sp>
          <p:nvSpPr>
            <p:cNvPr id="16" name="TextBox 16"/>
            <p:cNvSpPr txBox="1"/>
            <p:nvPr/>
          </p:nvSpPr>
          <p:spPr>
            <a:xfrm>
              <a:off x="203200" y="136525"/>
              <a:ext cx="279400" cy="346075"/>
            </a:xfrm>
            <a:prstGeom prst="rect">
              <a:avLst/>
            </a:prstGeom>
          </p:spPr>
          <p:txBody>
            <a:bodyPr lIns="50800" tIns="50800" rIns="50800" bIns="50800" rtlCol="0" anchor="ctr"/>
            <a:lstStyle/>
            <a:p>
              <a:pPr marL="0" lvl="0" indent="0" algn="ctr">
                <a:lnSpc>
                  <a:spcPts val="3499"/>
                </a:lnSpc>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806</TotalTime>
  <Words>555</Words>
  <Application>Microsoft Macintosh PowerPoint</Application>
  <PresentationFormat>Custom</PresentationFormat>
  <Paragraphs>50</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Poppins</vt:lpstr>
      <vt:lpstr>Poppins Bold</vt:lpstr>
      <vt:lpstr>Red Hat Display Bold</vt:lpstr>
      <vt:lpstr>Abadi MT Condensed Light</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MODELUL FINAL: XGBOOST</dc:title>
  <cp:lastModifiedBy>Raul Ionut Berinde</cp:lastModifiedBy>
  <cp:revision>4</cp:revision>
  <dcterms:created xsi:type="dcterms:W3CDTF">2006-08-16T00:00:00Z</dcterms:created>
  <dcterms:modified xsi:type="dcterms:W3CDTF">2026-05-28T05:39:55Z</dcterms:modified>
  <dc:identifier>DAHKMpYDXwA</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b58b62f-6f94-46bd-8089-18e64b0a9abb_Enabled">
    <vt:lpwstr>true</vt:lpwstr>
  </property>
  <property fmtid="{D5CDD505-2E9C-101B-9397-08002B2CF9AE}" pid="3" name="MSIP_Label_5b58b62f-6f94-46bd-8089-18e64b0a9abb_SetDate">
    <vt:lpwstr>2026-05-20T12:31:42Z</vt:lpwstr>
  </property>
  <property fmtid="{D5CDD505-2E9C-101B-9397-08002B2CF9AE}" pid="4" name="MSIP_Label_5b58b62f-6f94-46bd-8089-18e64b0a9abb_Method">
    <vt:lpwstr>Standard</vt:lpwstr>
  </property>
  <property fmtid="{D5CDD505-2E9C-101B-9397-08002B2CF9AE}" pid="5" name="MSIP_Label_5b58b62f-6f94-46bd-8089-18e64b0a9abb_Name">
    <vt:lpwstr>defa4170-0d19-0005-0004-bc88714345d2</vt:lpwstr>
  </property>
  <property fmtid="{D5CDD505-2E9C-101B-9397-08002B2CF9AE}" pid="6" name="MSIP_Label_5b58b62f-6f94-46bd-8089-18e64b0a9abb_SiteId">
    <vt:lpwstr>a6eb79fa-c4a9-4cce-818d-b85274d15305</vt:lpwstr>
  </property>
  <property fmtid="{D5CDD505-2E9C-101B-9397-08002B2CF9AE}" pid="7" name="MSIP_Label_5b58b62f-6f94-46bd-8089-18e64b0a9abb_ActionId">
    <vt:lpwstr>a5367816-8897-44b9-b512-41a483ee0d19</vt:lpwstr>
  </property>
  <property fmtid="{D5CDD505-2E9C-101B-9397-08002B2CF9AE}" pid="8" name="MSIP_Label_5b58b62f-6f94-46bd-8089-18e64b0a9abb_ContentBits">
    <vt:lpwstr>0</vt:lpwstr>
  </property>
  <property fmtid="{D5CDD505-2E9C-101B-9397-08002B2CF9AE}" pid="9" name="MSIP_Label_5b58b62f-6f94-46bd-8089-18e64b0a9abb_Tag">
    <vt:lpwstr>50, 3, 0, 1</vt:lpwstr>
  </property>
</Properties>
</file>