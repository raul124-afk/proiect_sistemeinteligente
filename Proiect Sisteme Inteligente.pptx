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8288000" cy="10287000"/>
  <p:notesSz cx="6858000" cy="9144000"/>
  <p:embeddedFontLst>
    <p:embeddedFont>
      <p:font typeface="Poppins" pitchFamily="2" charset="77"/>
      <p:regular r:id="rId10"/>
    </p:embeddedFont>
    <p:embeddedFont>
      <p:font typeface="Poppins Bold" pitchFamily="2" charset="77"/>
      <p:regular r:id="rId11"/>
      <p:bold r:id="rId12"/>
    </p:embeddedFont>
    <p:embeddedFont>
      <p:font typeface="Red Hat Display Bold" panose="02010803040201060303" pitchFamily="2" charset="77"/>
      <p:regular r:id="rId13"/>
      <p:bold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066" autoAdjust="0"/>
    <p:restoredTop sz="94612" autoAdjust="0"/>
  </p:normalViewPr>
  <p:slideViewPr>
    <p:cSldViewPr>
      <p:cViewPr varScale="1">
        <p:scale>
          <a:sx n="61" d="100"/>
          <a:sy n="61" d="100"/>
        </p:scale>
        <p:origin x="288" y="6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5.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7.png"/><Relationship Id="rId1" Type="http://schemas.openxmlformats.org/officeDocument/2006/relationships/slideLayout" Target="../slideLayouts/slideLayout7.xml"/><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txBody>
          <a:bodyPr/>
          <a:lstStyle/>
          <a:p>
            <a:endParaRPr lang="en-RO"/>
          </a:p>
        </p:txBody>
      </p:sp>
      <p:sp>
        <p:nvSpPr>
          <p:cNvPr id="3" name="Freeform 3"/>
          <p:cNvSpPr/>
          <p:nvPr/>
        </p:nvSpPr>
        <p:spPr>
          <a:xfrm>
            <a:off x="1028700" y="1028700"/>
            <a:ext cx="503963" cy="589744"/>
          </a:xfrm>
          <a:custGeom>
            <a:avLst/>
            <a:gdLst/>
            <a:ahLst/>
            <a:cxnLst/>
            <a:rect l="l" t="t" r="r" b="b"/>
            <a:pathLst>
              <a:path w="503963" h="589744">
                <a:moveTo>
                  <a:pt x="0" y="0"/>
                </a:moveTo>
                <a:lnTo>
                  <a:pt x="503963" y="0"/>
                </a:lnTo>
                <a:lnTo>
                  <a:pt x="503963" y="589744"/>
                </a:lnTo>
                <a:lnTo>
                  <a:pt x="0" y="58974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RO"/>
          </a:p>
        </p:txBody>
      </p:sp>
      <p:sp>
        <p:nvSpPr>
          <p:cNvPr id="4" name="Freeform 4"/>
          <p:cNvSpPr/>
          <p:nvPr/>
        </p:nvSpPr>
        <p:spPr>
          <a:xfrm flipH="1" flipV="1">
            <a:off x="1028700" y="8002127"/>
            <a:ext cx="1270028" cy="1256173"/>
          </a:xfrm>
          <a:custGeom>
            <a:avLst/>
            <a:gdLst/>
            <a:ahLst/>
            <a:cxnLst/>
            <a:rect l="l" t="t" r="r" b="b"/>
            <a:pathLst>
              <a:path w="1270028" h="1256173">
                <a:moveTo>
                  <a:pt x="1270028" y="1256173"/>
                </a:moveTo>
                <a:lnTo>
                  <a:pt x="0" y="1256173"/>
                </a:lnTo>
                <a:lnTo>
                  <a:pt x="0" y="0"/>
                </a:lnTo>
                <a:lnTo>
                  <a:pt x="1270028" y="0"/>
                </a:lnTo>
                <a:lnTo>
                  <a:pt x="1270028" y="1256173"/>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RO"/>
          </a:p>
        </p:txBody>
      </p:sp>
      <p:sp>
        <p:nvSpPr>
          <p:cNvPr id="5" name="TextBox 5"/>
          <p:cNvSpPr txBox="1"/>
          <p:nvPr/>
        </p:nvSpPr>
        <p:spPr>
          <a:xfrm>
            <a:off x="6776030" y="8836025"/>
            <a:ext cx="4735939" cy="276131"/>
          </a:xfrm>
          <a:prstGeom prst="rect">
            <a:avLst/>
          </a:prstGeom>
        </p:spPr>
        <p:txBody>
          <a:bodyPr lIns="0" tIns="0" rIns="0" bIns="0" rtlCol="0" anchor="t">
            <a:spAutoFit/>
          </a:bodyPr>
          <a:lstStyle/>
          <a:p>
            <a:pPr marL="0" lvl="0" indent="0" algn="ctr">
              <a:lnSpc>
                <a:spcPts val="2105"/>
              </a:lnSpc>
              <a:spcBef>
                <a:spcPct val="0"/>
              </a:spcBef>
            </a:pPr>
            <a:r>
              <a:rPr lang="en-US" sz="1503">
                <a:solidFill>
                  <a:srgbClr val="FFDE59"/>
                </a:solidFill>
                <a:latin typeface="Poppins"/>
                <a:ea typeface="Poppins"/>
                <a:cs typeface="Poppins"/>
                <a:sym typeface="Poppins"/>
              </a:rPr>
              <a:t>Student: Raul Berinde | Proiect Sisteme Inteligente</a:t>
            </a:r>
          </a:p>
        </p:txBody>
      </p:sp>
      <p:grpSp>
        <p:nvGrpSpPr>
          <p:cNvPr id="6" name="Group 6"/>
          <p:cNvGrpSpPr/>
          <p:nvPr/>
        </p:nvGrpSpPr>
        <p:grpSpPr>
          <a:xfrm>
            <a:off x="3362202" y="5543649"/>
            <a:ext cx="11563596" cy="1259355"/>
            <a:chOff x="0" y="0"/>
            <a:chExt cx="3731627" cy="406400"/>
          </a:xfrm>
        </p:grpSpPr>
        <p:sp>
          <p:nvSpPr>
            <p:cNvPr id="7" name="Freeform 7"/>
            <p:cNvSpPr/>
            <p:nvPr/>
          </p:nvSpPr>
          <p:spPr>
            <a:xfrm>
              <a:off x="0" y="0"/>
              <a:ext cx="3731627" cy="406400"/>
            </a:xfrm>
            <a:custGeom>
              <a:avLst/>
              <a:gdLst/>
              <a:ahLst/>
              <a:cxnLst/>
              <a:rect l="l" t="t" r="r" b="b"/>
              <a:pathLst>
                <a:path w="3731627" h="406400">
                  <a:moveTo>
                    <a:pt x="3528427" y="0"/>
                  </a:moveTo>
                  <a:cubicBezTo>
                    <a:pt x="3640651" y="0"/>
                    <a:pt x="3731627" y="90976"/>
                    <a:pt x="3731627" y="203200"/>
                  </a:cubicBezTo>
                  <a:cubicBezTo>
                    <a:pt x="3731627" y="315424"/>
                    <a:pt x="3640651" y="406400"/>
                    <a:pt x="3528427" y="406400"/>
                  </a:cubicBezTo>
                  <a:lnTo>
                    <a:pt x="203200" y="406400"/>
                  </a:lnTo>
                  <a:cubicBezTo>
                    <a:pt x="90976" y="406400"/>
                    <a:pt x="0" y="315424"/>
                    <a:pt x="0" y="203200"/>
                  </a:cubicBezTo>
                  <a:cubicBezTo>
                    <a:pt x="0" y="90976"/>
                    <a:pt x="90976" y="0"/>
                    <a:pt x="203200" y="0"/>
                  </a:cubicBezTo>
                  <a:close/>
                </a:path>
              </a:pathLst>
            </a:custGeom>
            <a:ln w="85725" cap="sq">
              <a:solidFill>
                <a:srgbClr val="FFDE59"/>
              </a:solidFill>
              <a:prstDash val="solid"/>
              <a:miter/>
            </a:ln>
          </p:spPr>
          <p:txBody>
            <a:bodyPr/>
            <a:lstStyle/>
            <a:p>
              <a:endParaRPr lang="en-RO"/>
            </a:p>
          </p:txBody>
        </p:sp>
        <p:sp>
          <p:nvSpPr>
            <p:cNvPr id="8" name="TextBox 8"/>
            <p:cNvSpPr txBox="1"/>
            <p:nvPr/>
          </p:nvSpPr>
          <p:spPr>
            <a:xfrm>
              <a:off x="0" y="-66675"/>
              <a:ext cx="3731627" cy="473075"/>
            </a:xfrm>
            <a:prstGeom prst="rect">
              <a:avLst/>
            </a:prstGeom>
          </p:spPr>
          <p:txBody>
            <a:bodyPr lIns="50800" tIns="50800" rIns="50800" bIns="50800" rtlCol="0" anchor="ctr"/>
            <a:lstStyle/>
            <a:p>
              <a:pPr marL="0" lvl="0" indent="0" algn="ctr">
                <a:lnSpc>
                  <a:spcPts val="3499"/>
                </a:lnSpc>
              </a:pPr>
              <a:endParaRPr/>
            </a:p>
          </p:txBody>
        </p:sp>
      </p:grpSp>
      <p:sp>
        <p:nvSpPr>
          <p:cNvPr id="9" name="TextBox 9"/>
          <p:cNvSpPr txBox="1"/>
          <p:nvPr/>
        </p:nvSpPr>
        <p:spPr>
          <a:xfrm>
            <a:off x="3327579" y="3569720"/>
            <a:ext cx="11632843" cy="1528006"/>
          </a:xfrm>
          <a:prstGeom prst="rect">
            <a:avLst/>
          </a:prstGeom>
        </p:spPr>
        <p:txBody>
          <a:bodyPr lIns="0" tIns="0" rIns="0" bIns="0" rtlCol="0" anchor="t">
            <a:spAutoFit/>
          </a:bodyPr>
          <a:lstStyle/>
          <a:p>
            <a:pPr marL="0" lvl="0" indent="0" algn="ctr">
              <a:lnSpc>
                <a:spcPts val="5995"/>
              </a:lnSpc>
            </a:pPr>
            <a:r>
              <a:rPr lang="en-US" sz="5710" b="1">
                <a:solidFill>
                  <a:srgbClr val="FFFFFF"/>
                </a:solidFill>
                <a:latin typeface="Red Hat Display Bold"/>
                <a:ea typeface="Red Hat Display Bold"/>
                <a:cs typeface="Red Hat Display Bold"/>
                <a:sym typeface="Red Hat Display Bold"/>
              </a:rPr>
              <a:t>Sistem Inteligent pentru Predicția Revenirii Donatorilor de Sânge</a:t>
            </a:r>
          </a:p>
        </p:txBody>
      </p:sp>
      <p:sp>
        <p:nvSpPr>
          <p:cNvPr id="10" name="Freeform 10"/>
          <p:cNvSpPr/>
          <p:nvPr/>
        </p:nvSpPr>
        <p:spPr>
          <a:xfrm flipV="1">
            <a:off x="15989272" y="8002127"/>
            <a:ext cx="1270028" cy="1256173"/>
          </a:xfrm>
          <a:custGeom>
            <a:avLst/>
            <a:gdLst/>
            <a:ahLst/>
            <a:cxnLst/>
            <a:rect l="l" t="t" r="r" b="b"/>
            <a:pathLst>
              <a:path w="1270028" h="1256173">
                <a:moveTo>
                  <a:pt x="0" y="1256173"/>
                </a:moveTo>
                <a:lnTo>
                  <a:pt x="1270028" y="1256173"/>
                </a:lnTo>
                <a:lnTo>
                  <a:pt x="1270028" y="0"/>
                </a:lnTo>
                <a:lnTo>
                  <a:pt x="0" y="0"/>
                </a:lnTo>
                <a:lnTo>
                  <a:pt x="0" y="1256173"/>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RO"/>
          </a:p>
        </p:txBody>
      </p:sp>
      <p:sp>
        <p:nvSpPr>
          <p:cNvPr id="11" name="TextBox 11"/>
          <p:cNvSpPr txBox="1"/>
          <p:nvPr/>
        </p:nvSpPr>
        <p:spPr>
          <a:xfrm>
            <a:off x="3468284" y="5868527"/>
            <a:ext cx="11351431" cy="523929"/>
          </a:xfrm>
          <a:prstGeom prst="rect">
            <a:avLst/>
          </a:prstGeom>
        </p:spPr>
        <p:txBody>
          <a:bodyPr lIns="0" tIns="0" rIns="0" bIns="0" rtlCol="0" anchor="t">
            <a:spAutoFit/>
          </a:bodyPr>
          <a:lstStyle/>
          <a:p>
            <a:pPr marL="0" lvl="0" indent="0" algn="ctr">
              <a:lnSpc>
                <a:spcPts val="4197"/>
              </a:lnSpc>
              <a:spcBef>
                <a:spcPct val="0"/>
              </a:spcBef>
            </a:pPr>
            <a:r>
              <a:rPr lang="en-US" sz="2997">
                <a:solidFill>
                  <a:srgbClr val="FFFFFF"/>
                </a:solidFill>
                <a:latin typeface="Poppins"/>
                <a:ea typeface="Poppins"/>
                <a:cs typeface="Poppins"/>
                <a:sym typeface="Poppins"/>
              </a:rPr>
              <a:t>Optimizarea resurselor medicale prin Machine Learning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B2C43"/>
        </a:solidFill>
        <a:effectLst/>
      </p:bgPr>
    </p:bg>
    <p:spTree>
      <p:nvGrpSpPr>
        <p:cNvPr id="1" name=""/>
        <p:cNvGrpSpPr/>
        <p:nvPr/>
      </p:nvGrpSpPr>
      <p:grpSpPr>
        <a:xfrm>
          <a:off x="0" y="0"/>
          <a:ext cx="0" cy="0"/>
          <a:chOff x="0" y="0"/>
          <a:chExt cx="0" cy="0"/>
        </a:xfrm>
      </p:grpSpPr>
      <p:sp>
        <p:nvSpPr>
          <p:cNvPr id="2" name="Freeform 2"/>
          <p:cNvSpPr/>
          <p:nvPr/>
        </p:nvSpPr>
        <p:spPr>
          <a:xfrm>
            <a:off x="1028700" y="1028700"/>
            <a:ext cx="503963" cy="589744"/>
          </a:xfrm>
          <a:custGeom>
            <a:avLst/>
            <a:gdLst/>
            <a:ahLst/>
            <a:cxnLst/>
            <a:rect l="l" t="t" r="r" b="b"/>
            <a:pathLst>
              <a:path w="503963" h="589744">
                <a:moveTo>
                  <a:pt x="0" y="0"/>
                </a:moveTo>
                <a:lnTo>
                  <a:pt x="503963" y="0"/>
                </a:lnTo>
                <a:lnTo>
                  <a:pt x="503963" y="589744"/>
                </a:lnTo>
                <a:lnTo>
                  <a:pt x="0" y="5897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RO"/>
          </a:p>
        </p:txBody>
      </p:sp>
      <p:sp>
        <p:nvSpPr>
          <p:cNvPr id="3" name="Freeform 3"/>
          <p:cNvSpPr/>
          <p:nvPr/>
        </p:nvSpPr>
        <p:spPr>
          <a:xfrm>
            <a:off x="16292625" y="8280339"/>
            <a:ext cx="1115413" cy="1128105"/>
          </a:xfrm>
          <a:custGeom>
            <a:avLst/>
            <a:gdLst/>
            <a:ahLst/>
            <a:cxnLst/>
            <a:rect l="l" t="t" r="r" b="b"/>
            <a:pathLst>
              <a:path w="1115413" h="1128105">
                <a:moveTo>
                  <a:pt x="0" y="0"/>
                </a:moveTo>
                <a:lnTo>
                  <a:pt x="1115414" y="0"/>
                </a:lnTo>
                <a:lnTo>
                  <a:pt x="1115414" y="1128105"/>
                </a:lnTo>
                <a:lnTo>
                  <a:pt x="0" y="1128105"/>
                </a:lnTo>
                <a:lnTo>
                  <a:pt x="0" y="0"/>
                </a:lnTo>
                <a:close/>
              </a:path>
            </a:pathLst>
          </a:custGeom>
          <a:blipFill>
            <a:blip r:embed="rId4"/>
            <a:stretch>
              <a:fillRect/>
            </a:stretch>
          </a:blipFill>
        </p:spPr>
        <p:txBody>
          <a:bodyPr/>
          <a:lstStyle/>
          <a:p>
            <a:endParaRPr lang="en-RO"/>
          </a:p>
        </p:txBody>
      </p:sp>
      <p:sp>
        <p:nvSpPr>
          <p:cNvPr id="4" name="TextBox 4"/>
          <p:cNvSpPr txBox="1"/>
          <p:nvPr/>
        </p:nvSpPr>
        <p:spPr>
          <a:xfrm>
            <a:off x="1280681" y="1069572"/>
            <a:ext cx="1783679" cy="441370"/>
          </a:xfrm>
          <a:prstGeom prst="rect">
            <a:avLst/>
          </a:prstGeom>
        </p:spPr>
        <p:txBody>
          <a:bodyPr lIns="0" tIns="0" rIns="0" bIns="0" rtlCol="0" anchor="t">
            <a:spAutoFit/>
          </a:bodyPr>
          <a:lstStyle/>
          <a:p>
            <a:pPr marL="0" lvl="0" indent="0" algn="r">
              <a:lnSpc>
                <a:spcPts val="3497"/>
              </a:lnSpc>
              <a:spcBef>
                <a:spcPct val="0"/>
              </a:spcBef>
            </a:pPr>
            <a:r>
              <a:rPr lang="en-US" sz="2498">
                <a:solidFill>
                  <a:srgbClr val="FFDE59"/>
                </a:solidFill>
                <a:latin typeface="Poppins"/>
                <a:ea typeface="Poppins"/>
                <a:cs typeface="Poppins"/>
                <a:sym typeface="Poppins"/>
              </a:rPr>
              <a:t>Proiect SI</a:t>
            </a:r>
          </a:p>
        </p:txBody>
      </p:sp>
      <p:sp>
        <p:nvSpPr>
          <p:cNvPr id="5" name="TextBox 5"/>
          <p:cNvSpPr txBox="1"/>
          <p:nvPr/>
        </p:nvSpPr>
        <p:spPr>
          <a:xfrm>
            <a:off x="9172165" y="4529737"/>
            <a:ext cx="7832565" cy="2632120"/>
          </a:xfrm>
          <a:prstGeom prst="rect">
            <a:avLst/>
          </a:prstGeom>
        </p:spPr>
        <p:txBody>
          <a:bodyPr lIns="0" tIns="0" rIns="0" bIns="0" rtlCol="0" anchor="t">
            <a:spAutoFit/>
          </a:bodyPr>
          <a:lstStyle/>
          <a:p>
            <a:pPr marL="0" lvl="0" indent="0" algn="just">
              <a:lnSpc>
                <a:spcPts val="3497"/>
              </a:lnSpc>
              <a:spcBef>
                <a:spcPct val="0"/>
              </a:spcBef>
            </a:pPr>
            <a:r>
              <a:rPr lang="en-US" sz="2498">
                <a:solidFill>
                  <a:srgbClr val="FFFFFF"/>
                </a:solidFill>
                <a:latin typeface="Poppins"/>
                <a:ea typeface="Poppins"/>
                <a:cs typeface="Poppins"/>
                <a:sym typeface="Poppins"/>
              </a:rPr>
              <a:t>• Eficientizarea sistemului medical prin tehnologie și date istorice.</a:t>
            </a:r>
          </a:p>
          <a:p>
            <a:pPr marL="0" lvl="0" indent="0" algn="just">
              <a:lnSpc>
                <a:spcPts val="3497"/>
              </a:lnSpc>
              <a:spcBef>
                <a:spcPct val="0"/>
              </a:spcBef>
            </a:pPr>
            <a:r>
              <a:rPr lang="en-US" sz="2498">
                <a:solidFill>
                  <a:srgbClr val="FFFFFF"/>
                </a:solidFill>
                <a:latin typeface="Poppins"/>
                <a:ea typeface="Poppins"/>
                <a:cs typeface="Poppins"/>
                <a:sym typeface="Poppins"/>
              </a:rPr>
              <a:t>• Eliminarea campaniilor de rechemare ineficiente și costisitoare.</a:t>
            </a:r>
          </a:p>
          <a:p>
            <a:pPr marL="0" lvl="0" indent="0" algn="just">
              <a:lnSpc>
                <a:spcPts val="3497"/>
              </a:lnSpc>
              <a:spcBef>
                <a:spcPct val="0"/>
              </a:spcBef>
            </a:pPr>
            <a:r>
              <a:rPr lang="en-US" sz="2498">
                <a:solidFill>
                  <a:srgbClr val="FFFFFF"/>
                </a:solidFill>
                <a:latin typeface="Poppins"/>
                <a:ea typeface="Poppins"/>
                <a:cs typeface="Poppins"/>
                <a:sym typeface="Poppins"/>
              </a:rPr>
              <a:t>• Salvarea de vieți prin asigurarea unui flux constant și predictibil de donatori.</a:t>
            </a:r>
          </a:p>
        </p:txBody>
      </p:sp>
      <p:sp>
        <p:nvSpPr>
          <p:cNvPr id="6" name="TextBox 6"/>
          <p:cNvSpPr txBox="1"/>
          <p:nvPr/>
        </p:nvSpPr>
        <p:spPr>
          <a:xfrm>
            <a:off x="9172165" y="2846587"/>
            <a:ext cx="4730552" cy="645289"/>
          </a:xfrm>
          <a:prstGeom prst="rect">
            <a:avLst/>
          </a:prstGeom>
        </p:spPr>
        <p:txBody>
          <a:bodyPr lIns="0" tIns="0" rIns="0" bIns="0" rtlCol="0" anchor="t">
            <a:spAutoFit/>
          </a:bodyPr>
          <a:lstStyle/>
          <a:p>
            <a:pPr marL="0" lvl="0" indent="0" algn="l">
              <a:lnSpc>
                <a:spcPts val="5382"/>
              </a:lnSpc>
              <a:spcBef>
                <a:spcPct val="0"/>
              </a:spcBef>
            </a:pPr>
            <a:r>
              <a:rPr lang="en-US" sz="3844" b="1" dirty="0">
                <a:solidFill>
                  <a:srgbClr val="FFFFFF"/>
                </a:solidFill>
                <a:latin typeface="Red Hat Display Bold"/>
                <a:ea typeface="Red Hat Display Bold"/>
                <a:cs typeface="Red Hat Display Bold"/>
                <a:sym typeface="Red Hat Display Bold"/>
              </a:rPr>
              <a:t>De </a:t>
            </a:r>
            <a:r>
              <a:rPr lang="en-US" sz="3844" b="1" dirty="0" err="1">
                <a:solidFill>
                  <a:srgbClr val="FFFFFF"/>
                </a:solidFill>
                <a:latin typeface="Red Hat Display Bold"/>
                <a:ea typeface="Red Hat Display Bold"/>
                <a:cs typeface="Red Hat Display Bold"/>
                <a:sym typeface="Red Hat Display Bold"/>
              </a:rPr>
              <a:t>ce</a:t>
            </a:r>
            <a:r>
              <a:rPr lang="en-US" sz="3844" b="1" dirty="0">
                <a:solidFill>
                  <a:srgbClr val="FFFFFF"/>
                </a:solidFill>
                <a:latin typeface="Red Hat Display Bold"/>
                <a:ea typeface="Red Hat Display Bold"/>
                <a:cs typeface="Red Hat Display Bold"/>
                <a:sym typeface="Red Hat Display Bold"/>
              </a:rPr>
              <a:t> </a:t>
            </a:r>
            <a:r>
              <a:rPr lang="en-US" sz="3844" b="1" dirty="0" err="1">
                <a:solidFill>
                  <a:srgbClr val="FFFFFF"/>
                </a:solidFill>
                <a:latin typeface="Red Hat Display Bold"/>
                <a:ea typeface="Red Hat Display Bold"/>
                <a:cs typeface="Red Hat Display Bold"/>
                <a:sym typeface="Red Hat Display Bold"/>
              </a:rPr>
              <a:t>această</a:t>
            </a:r>
            <a:r>
              <a:rPr lang="en-US" sz="3844" b="1" dirty="0">
                <a:solidFill>
                  <a:srgbClr val="FFFFFF"/>
                </a:solidFill>
                <a:latin typeface="Red Hat Display Bold"/>
                <a:ea typeface="Red Hat Display Bold"/>
                <a:cs typeface="Red Hat Display Bold"/>
                <a:sym typeface="Red Hat Display Bold"/>
              </a:rPr>
              <a:t> </a:t>
            </a:r>
            <a:r>
              <a:rPr lang="en-US" sz="3844" b="1" dirty="0" err="1">
                <a:solidFill>
                  <a:srgbClr val="FFFFFF"/>
                </a:solidFill>
                <a:latin typeface="Red Hat Display Bold"/>
                <a:ea typeface="Red Hat Display Bold"/>
                <a:cs typeface="Red Hat Display Bold"/>
                <a:sym typeface="Red Hat Display Bold"/>
              </a:rPr>
              <a:t>temă</a:t>
            </a:r>
            <a:r>
              <a:rPr lang="en-US" sz="3844" b="1" dirty="0">
                <a:solidFill>
                  <a:srgbClr val="FFFFFF"/>
                </a:solidFill>
                <a:latin typeface="Red Hat Display Bold"/>
                <a:ea typeface="Red Hat Display Bold"/>
                <a:cs typeface="Red Hat Display Bold"/>
                <a:sym typeface="Red Hat Display Bold"/>
              </a:rPr>
              <a:t>?</a:t>
            </a:r>
          </a:p>
        </p:txBody>
      </p:sp>
      <p:grpSp>
        <p:nvGrpSpPr>
          <p:cNvPr id="7" name="Group 7"/>
          <p:cNvGrpSpPr/>
          <p:nvPr/>
        </p:nvGrpSpPr>
        <p:grpSpPr>
          <a:xfrm>
            <a:off x="1283271" y="2502982"/>
            <a:ext cx="5810269" cy="5281037"/>
            <a:chOff x="0" y="0"/>
            <a:chExt cx="1016625" cy="812800"/>
          </a:xfrm>
        </p:grpSpPr>
        <p:sp>
          <p:nvSpPr>
            <p:cNvPr id="8" name="Freeform 8"/>
            <p:cNvSpPr/>
            <p:nvPr/>
          </p:nvSpPr>
          <p:spPr>
            <a:xfrm>
              <a:off x="0" y="0"/>
              <a:ext cx="1016625" cy="812800"/>
            </a:xfrm>
            <a:custGeom>
              <a:avLst/>
              <a:gdLst/>
              <a:ahLst/>
              <a:cxnLst/>
              <a:rect l="l" t="t" r="r" b="b"/>
              <a:pathLst>
                <a:path w="1016625" h="812800">
                  <a:moveTo>
                    <a:pt x="0" y="0"/>
                  </a:moveTo>
                  <a:lnTo>
                    <a:pt x="1016625" y="0"/>
                  </a:lnTo>
                  <a:lnTo>
                    <a:pt x="1016625" y="812800"/>
                  </a:lnTo>
                  <a:lnTo>
                    <a:pt x="0" y="812800"/>
                  </a:lnTo>
                  <a:close/>
                </a:path>
              </a:pathLst>
            </a:custGeom>
            <a:blipFill>
              <a:blip r:embed="rId5"/>
              <a:stretch>
                <a:fillRect t="-577" b="-577"/>
              </a:stretch>
            </a:blipFill>
            <a:ln w="85725" cap="sq">
              <a:solidFill>
                <a:srgbClr val="FFDE59"/>
              </a:solidFill>
              <a:prstDash val="solid"/>
              <a:miter/>
            </a:ln>
          </p:spPr>
          <p:txBody>
            <a:bodyPr/>
            <a:lstStyle/>
            <a:p>
              <a:endParaRPr lang="en-RO"/>
            </a:p>
          </p:txBody>
        </p:sp>
      </p:grpSp>
      <p:grpSp>
        <p:nvGrpSpPr>
          <p:cNvPr id="9" name="Group 9"/>
          <p:cNvGrpSpPr/>
          <p:nvPr/>
        </p:nvGrpSpPr>
        <p:grpSpPr>
          <a:xfrm>
            <a:off x="6181272" y="1618444"/>
            <a:ext cx="1951580" cy="1915440"/>
            <a:chOff x="0" y="0"/>
            <a:chExt cx="685800" cy="673100"/>
          </a:xfrm>
        </p:grpSpPr>
        <p:sp>
          <p:nvSpPr>
            <p:cNvPr id="10" name="Freeform 10"/>
            <p:cNvSpPr/>
            <p:nvPr/>
          </p:nvSpPr>
          <p:spPr>
            <a:xfrm>
              <a:off x="0" y="0"/>
              <a:ext cx="685800" cy="679450"/>
            </a:xfrm>
            <a:custGeom>
              <a:avLst/>
              <a:gdLst/>
              <a:ahLst/>
              <a:cxnLst/>
              <a:rect l="l" t="t" r="r" b="b"/>
              <a:pathLst>
                <a:path w="685800" h="679450">
                  <a:moveTo>
                    <a:pt x="342900" y="0"/>
                  </a:moveTo>
                  <a:lnTo>
                    <a:pt x="382270" y="210820"/>
                  </a:lnTo>
                  <a:lnTo>
                    <a:pt x="529590" y="54610"/>
                  </a:lnTo>
                  <a:lnTo>
                    <a:pt x="449580" y="254000"/>
                  </a:lnTo>
                  <a:lnTo>
                    <a:pt x="657860" y="201930"/>
                  </a:lnTo>
                  <a:lnTo>
                    <a:pt x="482600" y="326390"/>
                  </a:lnTo>
                  <a:lnTo>
                    <a:pt x="685800" y="396240"/>
                  </a:lnTo>
                  <a:lnTo>
                    <a:pt x="471170" y="405130"/>
                  </a:lnTo>
                  <a:lnTo>
                    <a:pt x="604520" y="572770"/>
                  </a:lnTo>
                  <a:lnTo>
                    <a:pt x="419100" y="464820"/>
                  </a:lnTo>
                  <a:lnTo>
                    <a:pt x="440690" y="679450"/>
                  </a:lnTo>
                  <a:lnTo>
                    <a:pt x="342900" y="487680"/>
                  </a:lnTo>
                  <a:lnTo>
                    <a:pt x="245110" y="679450"/>
                  </a:lnTo>
                  <a:lnTo>
                    <a:pt x="266700" y="464820"/>
                  </a:lnTo>
                  <a:lnTo>
                    <a:pt x="81280" y="572770"/>
                  </a:lnTo>
                  <a:lnTo>
                    <a:pt x="214630" y="405130"/>
                  </a:lnTo>
                  <a:lnTo>
                    <a:pt x="0" y="396240"/>
                  </a:lnTo>
                  <a:lnTo>
                    <a:pt x="203200" y="326390"/>
                  </a:lnTo>
                  <a:lnTo>
                    <a:pt x="27940" y="201930"/>
                  </a:lnTo>
                  <a:lnTo>
                    <a:pt x="236220" y="254000"/>
                  </a:lnTo>
                  <a:lnTo>
                    <a:pt x="156210" y="54610"/>
                  </a:lnTo>
                  <a:lnTo>
                    <a:pt x="303530" y="210820"/>
                  </a:lnTo>
                  <a:close/>
                </a:path>
              </a:pathLst>
            </a:custGeom>
            <a:solidFill>
              <a:srgbClr val="FFDE59"/>
            </a:solidFill>
          </p:spPr>
          <p:txBody>
            <a:bodyPr/>
            <a:lstStyle/>
            <a:p>
              <a:endParaRPr lang="en-RO"/>
            </a:p>
          </p:txBody>
        </p:sp>
        <p:sp>
          <p:nvSpPr>
            <p:cNvPr id="11" name="TextBox 11"/>
            <p:cNvSpPr txBox="1"/>
            <p:nvPr/>
          </p:nvSpPr>
          <p:spPr>
            <a:xfrm>
              <a:off x="203200" y="136525"/>
              <a:ext cx="279400" cy="346075"/>
            </a:xfrm>
            <a:prstGeom prst="rect">
              <a:avLst/>
            </a:prstGeom>
          </p:spPr>
          <p:txBody>
            <a:bodyPr lIns="50800" tIns="50800" rIns="50800" bIns="50800" rtlCol="0" anchor="ctr"/>
            <a:lstStyle/>
            <a:p>
              <a:pPr marL="0" lvl="0" indent="0" algn="ctr">
                <a:lnSpc>
                  <a:spcPts val="3499"/>
                </a:lnSpc>
              </a:pPr>
              <a:endParaRPr/>
            </a:p>
          </p:txBody>
        </p:sp>
      </p:grpSp>
      <p:pic>
        <p:nvPicPr>
          <p:cNvPr id="13" name="Picture 12" descr="A heart with arrows and arrows&#10;&#10;AI-generated content may be incorrect.">
            <a:extLst>
              <a:ext uri="{FF2B5EF4-FFF2-40B4-BE49-F238E27FC236}">
                <a16:creationId xmlns:a16="http://schemas.microsoft.com/office/drawing/2014/main" id="{EA2D40F7-E5A1-29E6-5A57-291DB46FFCA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22825" y="2527468"/>
            <a:ext cx="5770715" cy="521577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B2C43"/>
        </a:solidFill>
        <a:effectLst/>
      </p:bgPr>
    </p:bg>
    <p:spTree>
      <p:nvGrpSpPr>
        <p:cNvPr id="1" name=""/>
        <p:cNvGrpSpPr/>
        <p:nvPr/>
      </p:nvGrpSpPr>
      <p:grpSpPr>
        <a:xfrm>
          <a:off x="0" y="0"/>
          <a:ext cx="0" cy="0"/>
          <a:chOff x="0" y="0"/>
          <a:chExt cx="0" cy="0"/>
        </a:xfrm>
      </p:grpSpPr>
      <p:sp>
        <p:nvSpPr>
          <p:cNvPr id="2" name="Freeform 2"/>
          <p:cNvSpPr/>
          <p:nvPr/>
        </p:nvSpPr>
        <p:spPr>
          <a:xfrm>
            <a:off x="954232" y="1034315"/>
            <a:ext cx="606572" cy="553221"/>
          </a:xfrm>
          <a:custGeom>
            <a:avLst/>
            <a:gdLst/>
            <a:ahLst/>
            <a:cxnLst/>
            <a:rect l="l" t="t" r="r" b="b"/>
            <a:pathLst>
              <a:path w="606572" h="553221">
                <a:moveTo>
                  <a:pt x="0" y="0"/>
                </a:moveTo>
                <a:lnTo>
                  <a:pt x="606572" y="0"/>
                </a:lnTo>
                <a:lnTo>
                  <a:pt x="606572" y="553221"/>
                </a:lnTo>
                <a:lnTo>
                  <a:pt x="0" y="553221"/>
                </a:lnTo>
                <a:lnTo>
                  <a:pt x="0" y="0"/>
                </a:lnTo>
                <a:close/>
              </a:path>
            </a:pathLst>
          </a:custGeom>
          <a:blipFill>
            <a:blip r:embed="rId2"/>
            <a:stretch>
              <a:fillRect/>
            </a:stretch>
          </a:blipFill>
        </p:spPr>
        <p:txBody>
          <a:bodyPr/>
          <a:lstStyle/>
          <a:p>
            <a:endParaRPr lang="en-RO"/>
          </a:p>
        </p:txBody>
      </p:sp>
      <p:sp>
        <p:nvSpPr>
          <p:cNvPr id="3" name="Freeform 3"/>
          <p:cNvSpPr/>
          <p:nvPr/>
        </p:nvSpPr>
        <p:spPr>
          <a:xfrm flipV="1">
            <a:off x="15989272" y="8002127"/>
            <a:ext cx="1270028" cy="1256173"/>
          </a:xfrm>
          <a:custGeom>
            <a:avLst/>
            <a:gdLst/>
            <a:ahLst/>
            <a:cxnLst/>
            <a:rect l="l" t="t" r="r" b="b"/>
            <a:pathLst>
              <a:path w="1270028" h="1256173">
                <a:moveTo>
                  <a:pt x="0" y="1256173"/>
                </a:moveTo>
                <a:lnTo>
                  <a:pt x="1270028" y="1256173"/>
                </a:lnTo>
                <a:lnTo>
                  <a:pt x="1270028" y="0"/>
                </a:lnTo>
                <a:lnTo>
                  <a:pt x="0" y="0"/>
                </a:lnTo>
                <a:lnTo>
                  <a:pt x="0" y="1256173"/>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RO"/>
          </a:p>
        </p:txBody>
      </p:sp>
      <p:grpSp>
        <p:nvGrpSpPr>
          <p:cNvPr id="4" name="Group 4"/>
          <p:cNvGrpSpPr/>
          <p:nvPr/>
        </p:nvGrpSpPr>
        <p:grpSpPr>
          <a:xfrm>
            <a:off x="1028700" y="2277227"/>
            <a:ext cx="6357701" cy="5916731"/>
            <a:chOff x="0" y="0"/>
            <a:chExt cx="974699" cy="907094"/>
          </a:xfrm>
        </p:grpSpPr>
        <p:sp>
          <p:nvSpPr>
            <p:cNvPr id="5" name="Freeform 5"/>
            <p:cNvSpPr/>
            <p:nvPr/>
          </p:nvSpPr>
          <p:spPr>
            <a:xfrm>
              <a:off x="0" y="0"/>
              <a:ext cx="974699" cy="907094"/>
            </a:xfrm>
            <a:custGeom>
              <a:avLst/>
              <a:gdLst/>
              <a:ahLst/>
              <a:cxnLst/>
              <a:rect l="l" t="t" r="r" b="b"/>
              <a:pathLst>
                <a:path w="974699" h="907094">
                  <a:moveTo>
                    <a:pt x="0" y="0"/>
                  </a:moveTo>
                  <a:lnTo>
                    <a:pt x="974699" y="0"/>
                  </a:lnTo>
                  <a:lnTo>
                    <a:pt x="974699" y="907094"/>
                  </a:lnTo>
                  <a:lnTo>
                    <a:pt x="0" y="907094"/>
                  </a:lnTo>
                  <a:close/>
                </a:path>
              </a:pathLst>
            </a:custGeom>
            <a:blipFill>
              <a:blip r:embed="rId5"/>
              <a:stretch>
                <a:fillRect l="-34" r="-34"/>
              </a:stretch>
            </a:blipFill>
            <a:ln w="85725" cap="sq">
              <a:solidFill>
                <a:srgbClr val="FFDE59"/>
              </a:solidFill>
              <a:prstDash val="solid"/>
              <a:miter/>
            </a:ln>
          </p:spPr>
          <p:txBody>
            <a:bodyPr/>
            <a:lstStyle/>
            <a:p>
              <a:endParaRPr lang="en-RO"/>
            </a:p>
          </p:txBody>
        </p:sp>
      </p:grpSp>
      <p:grpSp>
        <p:nvGrpSpPr>
          <p:cNvPr id="6" name="Group 6"/>
          <p:cNvGrpSpPr/>
          <p:nvPr/>
        </p:nvGrpSpPr>
        <p:grpSpPr>
          <a:xfrm>
            <a:off x="10496889" y="-1490142"/>
            <a:ext cx="3167239" cy="3108586"/>
            <a:chOff x="0" y="0"/>
            <a:chExt cx="685800" cy="673100"/>
          </a:xfrm>
        </p:grpSpPr>
        <p:sp>
          <p:nvSpPr>
            <p:cNvPr id="7" name="Freeform 7"/>
            <p:cNvSpPr/>
            <p:nvPr/>
          </p:nvSpPr>
          <p:spPr>
            <a:xfrm>
              <a:off x="0" y="0"/>
              <a:ext cx="685800" cy="679450"/>
            </a:xfrm>
            <a:custGeom>
              <a:avLst/>
              <a:gdLst/>
              <a:ahLst/>
              <a:cxnLst/>
              <a:rect l="l" t="t" r="r" b="b"/>
              <a:pathLst>
                <a:path w="685800" h="679450">
                  <a:moveTo>
                    <a:pt x="342900" y="0"/>
                  </a:moveTo>
                  <a:lnTo>
                    <a:pt x="382270" y="210820"/>
                  </a:lnTo>
                  <a:lnTo>
                    <a:pt x="529590" y="54610"/>
                  </a:lnTo>
                  <a:lnTo>
                    <a:pt x="449580" y="254000"/>
                  </a:lnTo>
                  <a:lnTo>
                    <a:pt x="657860" y="201930"/>
                  </a:lnTo>
                  <a:lnTo>
                    <a:pt x="482600" y="326390"/>
                  </a:lnTo>
                  <a:lnTo>
                    <a:pt x="685800" y="396240"/>
                  </a:lnTo>
                  <a:lnTo>
                    <a:pt x="471170" y="405130"/>
                  </a:lnTo>
                  <a:lnTo>
                    <a:pt x="604520" y="572770"/>
                  </a:lnTo>
                  <a:lnTo>
                    <a:pt x="419100" y="464820"/>
                  </a:lnTo>
                  <a:lnTo>
                    <a:pt x="440690" y="679450"/>
                  </a:lnTo>
                  <a:lnTo>
                    <a:pt x="342900" y="487680"/>
                  </a:lnTo>
                  <a:lnTo>
                    <a:pt x="245110" y="679450"/>
                  </a:lnTo>
                  <a:lnTo>
                    <a:pt x="266700" y="464820"/>
                  </a:lnTo>
                  <a:lnTo>
                    <a:pt x="81280" y="572770"/>
                  </a:lnTo>
                  <a:lnTo>
                    <a:pt x="214630" y="405130"/>
                  </a:lnTo>
                  <a:lnTo>
                    <a:pt x="0" y="396240"/>
                  </a:lnTo>
                  <a:lnTo>
                    <a:pt x="203200" y="326390"/>
                  </a:lnTo>
                  <a:lnTo>
                    <a:pt x="27940" y="201930"/>
                  </a:lnTo>
                  <a:lnTo>
                    <a:pt x="236220" y="254000"/>
                  </a:lnTo>
                  <a:lnTo>
                    <a:pt x="156210" y="54610"/>
                  </a:lnTo>
                  <a:lnTo>
                    <a:pt x="303530" y="210820"/>
                  </a:lnTo>
                  <a:close/>
                </a:path>
              </a:pathLst>
            </a:custGeom>
            <a:solidFill>
              <a:srgbClr val="FFDE59"/>
            </a:solidFill>
          </p:spPr>
          <p:txBody>
            <a:bodyPr/>
            <a:lstStyle/>
            <a:p>
              <a:endParaRPr lang="en-RO"/>
            </a:p>
          </p:txBody>
        </p:sp>
        <p:sp>
          <p:nvSpPr>
            <p:cNvPr id="8" name="TextBox 8"/>
            <p:cNvSpPr txBox="1"/>
            <p:nvPr/>
          </p:nvSpPr>
          <p:spPr>
            <a:xfrm>
              <a:off x="203200" y="136525"/>
              <a:ext cx="279400" cy="346075"/>
            </a:xfrm>
            <a:prstGeom prst="rect">
              <a:avLst/>
            </a:prstGeom>
          </p:spPr>
          <p:txBody>
            <a:bodyPr lIns="50800" tIns="50800" rIns="50800" bIns="50800" rtlCol="0" anchor="ctr"/>
            <a:lstStyle/>
            <a:p>
              <a:pPr marL="0" lvl="0" indent="0" algn="ctr">
                <a:lnSpc>
                  <a:spcPts val="3499"/>
                </a:lnSpc>
              </a:pPr>
              <a:endParaRPr/>
            </a:p>
          </p:txBody>
        </p:sp>
      </p:grpSp>
      <p:grpSp>
        <p:nvGrpSpPr>
          <p:cNvPr id="9" name="Group 9"/>
          <p:cNvGrpSpPr/>
          <p:nvPr/>
        </p:nvGrpSpPr>
        <p:grpSpPr>
          <a:xfrm>
            <a:off x="7227695" y="9070975"/>
            <a:ext cx="2355891" cy="2312263"/>
            <a:chOff x="0" y="0"/>
            <a:chExt cx="685800" cy="673100"/>
          </a:xfrm>
        </p:grpSpPr>
        <p:sp>
          <p:nvSpPr>
            <p:cNvPr id="10" name="Freeform 10"/>
            <p:cNvSpPr/>
            <p:nvPr/>
          </p:nvSpPr>
          <p:spPr>
            <a:xfrm>
              <a:off x="0" y="0"/>
              <a:ext cx="685800" cy="679450"/>
            </a:xfrm>
            <a:custGeom>
              <a:avLst/>
              <a:gdLst/>
              <a:ahLst/>
              <a:cxnLst/>
              <a:rect l="l" t="t" r="r" b="b"/>
              <a:pathLst>
                <a:path w="685800" h="679450">
                  <a:moveTo>
                    <a:pt x="342900" y="0"/>
                  </a:moveTo>
                  <a:lnTo>
                    <a:pt x="382270" y="210820"/>
                  </a:lnTo>
                  <a:lnTo>
                    <a:pt x="529590" y="54610"/>
                  </a:lnTo>
                  <a:lnTo>
                    <a:pt x="449580" y="254000"/>
                  </a:lnTo>
                  <a:lnTo>
                    <a:pt x="657860" y="201930"/>
                  </a:lnTo>
                  <a:lnTo>
                    <a:pt x="482600" y="326390"/>
                  </a:lnTo>
                  <a:lnTo>
                    <a:pt x="685800" y="396240"/>
                  </a:lnTo>
                  <a:lnTo>
                    <a:pt x="471170" y="405130"/>
                  </a:lnTo>
                  <a:lnTo>
                    <a:pt x="604520" y="572770"/>
                  </a:lnTo>
                  <a:lnTo>
                    <a:pt x="419100" y="464820"/>
                  </a:lnTo>
                  <a:lnTo>
                    <a:pt x="440690" y="679450"/>
                  </a:lnTo>
                  <a:lnTo>
                    <a:pt x="342900" y="487680"/>
                  </a:lnTo>
                  <a:lnTo>
                    <a:pt x="245110" y="679450"/>
                  </a:lnTo>
                  <a:lnTo>
                    <a:pt x="266700" y="464820"/>
                  </a:lnTo>
                  <a:lnTo>
                    <a:pt x="81280" y="572770"/>
                  </a:lnTo>
                  <a:lnTo>
                    <a:pt x="214630" y="405130"/>
                  </a:lnTo>
                  <a:lnTo>
                    <a:pt x="0" y="396240"/>
                  </a:lnTo>
                  <a:lnTo>
                    <a:pt x="203200" y="326390"/>
                  </a:lnTo>
                  <a:lnTo>
                    <a:pt x="27940" y="201930"/>
                  </a:lnTo>
                  <a:lnTo>
                    <a:pt x="236220" y="254000"/>
                  </a:lnTo>
                  <a:lnTo>
                    <a:pt x="156210" y="54610"/>
                  </a:lnTo>
                  <a:lnTo>
                    <a:pt x="303530" y="210820"/>
                  </a:lnTo>
                  <a:close/>
                </a:path>
              </a:pathLst>
            </a:custGeom>
            <a:solidFill>
              <a:srgbClr val="FFDE59"/>
            </a:solidFill>
          </p:spPr>
          <p:txBody>
            <a:bodyPr/>
            <a:lstStyle/>
            <a:p>
              <a:endParaRPr lang="en-RO"/>
            </a:p>
          </p:txBody>
        </p:sp>
        <p:sp>
          <p:nvSpPr>
            <p:cNvPr id="11" name="TextBox 11"/>
            <p:cNvSpPr txBox="1"/>
            <p:nvPr/>
          </p:nvSpPr>
          <p:spPr>
            <a:xfrm>
              <a:off x="203200" y="136525"/>
              <a:ext cx="279400" cy="346075"/>
            </a:xfrm>
            <a:prstGeom prst="rect">
              <a:avLst/>
            </a:prstGeom>
          </p:spPr>
          <p:txBody>
            <a:bodyPr lIns="50800" tIns="50800" rIns="50800" bIns="50800" rtlCol="0" anchor="ctr"/>
            <a:lstStyle/>
            <a:p>
              <a:pPr marL="0" lvl="0" indent="0" algn="ctr">
                <a:lnSpc>
                  <a:spcPts val="3499"/>
                </a:lnSpc>
              </a:pPr>
              <a:endParaRPr/>
            </a:p>
          </p:txBody>
        </p:sp>
      </p:grpSp>
      <p:sp>
        <p:nvSpPr>
          <p:cNvPr id="12" name="TextBox 12"/>
          <p:cNvSpPr txBox="1"/>
          <p:nvPr/>
        </p:nvSpPr>
        <p:spPr>
          <a:xfrm>
            <a:off x="14562919" y="1069572"/>
            <a:ext cx="2696381" cy="424979"/>
          </a:xfrm>
          <a:prstGeom prst="rect">
            <a:avLst/>
          </a:prstGeom>
        </p:spPr>
        <p:txBody>
          <a:bodyPr lIns="0" tIns="0" rIns="0" bIns="0" rtlCol="0" anchor="t">
            <a:spAutoFit/>
          </a:bodyPr>
          <a:lstStyle/>
          <a:p>
            <a:pPr marL="0" lvl="0" indent="0" algn="r">
              <a:lnSpc>
                <a:spcPts val="3350"/>
              </a:lnSpc>
              <a:spcBef>
                <a:spcPct val="0"/>
              </a:spcBef>
            </a:pPr>
            <a:r>
              <a:rPr lang="en-US" sz="2393">
                <a:solidFill>
                  <a:srgbClr val="FFDE59"/>
                </a:solidFill>
                <a:latin typeface="Poppins"/>
                <a:ea typeface="Poppins"/>
                <a:cs typeface="Poppins"/>
                <a:sym typeface="Poppins"/>
              </a:rPr>
              <a:t>Raul Berinde</a:t>
            </a:r>
          </a:p>
        </p:txBody>
      </p:sp>
      <p:sp>
        <p:nvSpPr>
          <p:cNvPr id="13" name="TextBox 13"/>
          <p:cNvSpPr txBox="1"/>
          <p:nvPr/>
        </p:nvSpPr>
        <p:spPr>
          <a:xfrm>
            <a:off x="9172165" y="4529737"/>
            <a:ext cx="7832565" cy="2939579"/>
          </a:xfrm>
          <a:prstGeom prst="rect">
            <a:avLst/>
          </a:prstGeom>
        </p:spPr>
        <p:txBody>
          <a:bodyPr lIns="0" tIns="0" rIns="0" bIns="0" rtlCol="0" anchor="t">
            <a:spAutoFit/>
          </a:bodyPr>
          <a:lstStyle/>
          <a:p>
            <a:pPr marL="0" lvl="0" indent="0" algn="just">
              <a:lnSpc>
                <a:spcPts val="3350"/>
              </a:lnSpc>
              <a:spcBef>
                <a:spcPct val="0"/>
              </a:spcBef>
            </a:pPr>
            <a:r>
              <a:rPr lang="en-US" sz="2393">
                <a:solidFill>
                  <a:srgbClr val="FFFFFF"/>
                </a:solidFill>
                <a:latin typeface="Poppins"/>
                <a:ea typeface="Poppins"/>
                <a:cs typeface="Poppins"/>
                <a:sym typeface="Poppins"/>
              </a:rPr>
              <a:t>Procesul de dezvoltare a sistemului inteligent include colectarea datelor istorice de la centrele de transfuzie, curățarea și preprocesarea acestora, extragerea caracteristicilor relevante și antrenarea modelelor de Machine Learning. Algoritmii utilizați includ Random Forest, Gradient Boosting și rețele neuronale pentru clasificare.</a:t>
            </a:r>
          </a:p>
        </p:txBody>
      </p:sp>
      <p:sp>
        <p:nvSpPr>
          <p:cNvPr id="14" name="TextBox 14"/>
          <p:cNvSpPr txBox="1"/>
          <p:nvPr/>
        </p:nvSpPr>
        <p:spPr>
          <a:xfrm>
            <a:off x="9172165" y="3496663"/>
            <a:ext cx="5870917" cy="506631"/>
          </a:xfrm>
          <a:prstGeom prst="rect">
            <a:avLst/>
          </a:prstGeom>
        </p:spPr>
        <p:txBody>
          <a:bodyPr lIns="0" tIns="0" rIns="0" bIns="0" rtlCol="0" anchor="t">
            <a:spAutoFit/>
          </a:bodyPr>
          <a:lstStyle/>
          <a:p>
            <a:pPr marL="0" lvl="0" indent="0" algn="l">
              <a:lnSpc>
                <a:spcPts val="4100"/>
              </a:lnSpc>
              <a:spcBef>
                <a:spcPct val="0"/>
              </a:spcBef>
            </a:pPr>
            <a:r>
              <a:rPr lang="en-US" sz="2928" b="1">
                <a:solidFill>
                  <a:srgbClr val="FFFFFF"/>
                </a:solidFill>
                <a:latin typeface="Red Hat Display Bold"/>
                <a:ea typeface="Red Hat Display Bold"/>
                <a:cs typeface="Red Hat Display Bold"/>
                <a:sym typeface="Red Hat Display Bold"/>
              </a:rPr>
              <a:t>Metodologie și Abordare Tehnică</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B2C43"/>
        </a:solidFill>
        <a:effectLst/>
      </p:bgPr>
    </p:bg>
    <p:spTree>
      <p:nvGrpSpPr>
        <p:cNvPr id="1" name=""/>
        <p:cNvGrpSpPr/>
        <p:nvPr/>
      </p:nvGrpSpPr>
      <p:grpSpPr>
        <a:xfrm>
          <a:off x="0" y="0"/>
          <a:ext cx="0" cy="0"/>
          <a:chOff x="0" y="0"/>
          <a:chExt cx="0" cy="0"/>
        </a:xfrm>
      </p:grpSpPr>
      <p:sp>
        <p:nvSpPr>
          <p:cNvPr id="2" name="Freeform 2"/>
          <p:cNvSpPr/>
          <p:nvPr/>
        </p:nvSpPr>
        <p:spPr>
          <a:xfrm>
            <a:off x="901950" y="1064883"/>
            <a:ext cx="667267" cy="588971"/>
          </a:xfrm>
          <a:custGeom>
            <a:avLst/>
            <a:gdLst/>
            <a:ahLst/>
            <a:cxnLst/>
            <a:rect l="l" t="t" r="r" b="b"/>
            <a:pathLst>
              <a:path w="667267" h="588971">
                <a:moveTo>
                  <a:pt x="0" y="0"/>
                </a:moveTo>
                <a:lnTo>
                  <a:pt x="667267" y="0"/>
                </a:lnTo>
                <a:lnTo>
                  <a:pt x="667267" y="588971"/>
                </a:lnTo>
                <a:lnTo>
                  <a:pt x="0" y="588971"/>
                </a:lnTo>
                <a:lnTo>
                  <a:pt x="0" y="0"/>
                </a:lnTo>
                <a:close/>
              </a:path>
            </a:pathLst>
          </a:custGeom>
          <a:blipFill>
            <a:blip r:embed="rId2"/>
            <a:stretch>
              <a:fillRect/>
            </a:stretch>
          </a:blipFill>
        </p:spPr>
        <p:txBody>
          <a:bodyPr/>
          <a:lstStyle/>
          <a:p>
            <a:endParaRPr lang="en-RO"/>
          </a:p>
        </p:txBody>
      </p:sp>
      <p:grpSp>
        <p:nvGrpSpPr>
          <p:cNvPr id="3" name="Group 3"/>
          <p:cNvGrpSpPr/>
          <p:nvPr/>
        </p:nvGrpSpPr>
        <p:grpSpPr>
          <a:xfrm>
            <a:off x="6276109" y="9130868"/>
            <a:ext cx="2355891" cy="2312263"/>
            <a:chOff x="0" y="0"/>
            <a:chExt cx="685800" cy="673100"/>
          </a:xfrm>
        </p:grpSpPr>
        <p:sp>
          <p:nvSpPr>
            <p:cNvPr id="4" name="Freeform 4"/>
            <p:cNvSpPr/>
            <p:nvPr/>
          </p:nvSpPr>
          <p:spPr>
            <a:xfrm>
              <a:off x="0" y="0"/>
              <a:ext cx="685800" cy="679450"/>
            </a:xfrm>
            <a:custGeom>
              <a:avLst/>
              <a:gdLst/>
              <a:ahLst/>
              <a:cxnLst/>
              <a:rect l="l" t="t" r="r" b="b"/>
              <a:pathLst>
                <a:path w="685800" h="679450">
                  <a:moveTo>
                    <a:pt x="342900" y="0"/>
                  </a:moveTo>
                  <a:lnTo>
                    <a:pt x="382270" y="210820"/>
                  </a:lnTo>
                  <a:lnTo>
                    <a:pt x="529590" y="54610"/>
                  </a:lnTo>
                  <a:lnTo>
                    <a:pt x="449580" y="254000"/>
                  </a:lnTo>
                  <a:lnTo>
                    <a:pt x="657860" y="201930"/>
                  </a:lnTo>
                  <a:lnTo>
                    <a:pt x="482600" y="326390"/>
                  </a:lnTo>
                  <a:lnTo>
                    <a:pt x="685800" y="396240"/>
                  </a:lnTo>
                  <a:lnTo>
                    <a:pt x="471170" y="405130"/>
                  </a:lnTo>
                  <a:lnTo>
                    <a:pt x="604520" y="572770"/>
                  </a:lnTo>
                  <a:lnTo>
                    <a:pt x="419100" y="464820"/>
                  </a:lnTo>
                  <a:lnTo>
                    <a:pt x="440690" y="679450"/>
                  </a:lnTo>
                  <a:lnTo>
                    <a:pt x="342900" y="487680"/>
                  </a:lnTo>
                  <a:lnTo>
                    <a:pt x="245110" y="679450"/>
                  </a:lnTo>
                  <a:lnTo>
                    <a:pt x="266700" y="464820"/>
                  </a:lnTo>
                  <a:lnTo>
                    <a:pt x="81280" y="572770"/>
                  </a:lnTo>
                  <a:lnTo>
                    <a:pt x="214630" y="405130"/>
                  </a:lnTo>
                  <a:lnTo>
                    <a:pt x="0" y="396240"/>
                  </a:lnTo>
                  <a:lnTo>
                    <a:pt x="203200" y="326390"/>
                  </a:lnTo>
                  <a:lnTo>
                    <a:pt x="27940" y="201930"/>
                  </a:lnTo>
                  <a:lnTo>
                    <a:pt x="236220" y="254000"/>
                  </a:lnTo>
                  <a:lnTo>
                    <a:pt x="156210" y="54610"/>
                  </a:lnTo>
                  <a:lnTo>
                    <a:pt x="303530" y="210820"/>
                  </a:lnTo>
                  <a:close/>
                </a:path>
              </a:pathLst>
            </a:custGeom>
            <a:solidFill>
              <a:srgbClr val="FFDE59"/>
            </a:solidFill>
          </p:spPr>
          <p:txBody>
            <a:bodyPr/>
            <a:lstStyle/>
            <a:p>
              <a:endParaRPr lang="en-RO"/>
            </a:p>
          </p:txBody>
        </p:sp>
        <p:sp>
          <p:nvSpPr>
            <p:cNvPr id="5" name="TextBox 5"/>
            <p:cNvSpPr txBox="1"/>
            <p:nvPr/>
          </p:nvSpPr>
          <p:spPr>
            <a:xfrm>
              <a:off x="203200" y="136525"/>
              <a:ext cx="279400" cy="346075"/>
            </a:xfrm>
            <a:prstGeom prst="rect">
              <a:avLst/>
            </a:prstGeom>
          </p:spPr>
          <p:txBody>
            <a:bodyPr lIns="50800" tIns="50800" rIns="50800" bIns="50800" rtlCol="0" anchor="ctr"/>
            <a:lstStyle/>
            <a:p>
              <a:pPr marL="0" lvl="0" indent="0" algn="ctr">
                <a:lnSpc>
                  <a:spcPts val="3499"/>
                </a:lnSpc>
              </a:pPr>
              <a:endParaRPr/>
            </a:p>
          </p:txBody>
        </p:sp>
      </p:grpSp>
      <p:grpSp>
        <p:nvGrpSpPr>
          <p:cNvPr id="6" name="Group 6"/>
          <p:cNvGrpSpPr/>
          <p:nvPr/>
        </p:nvGrpSpPr>
        <p:grpSpPr>
          <a:xfrm>
            <a:off x="1028700" y="6057178"/>
            <a:ext cx="15222536" cy="3201122"/>
            <a:chOff x="0" y="0"/>
            <a:chExt cx="2342888" cy="492682"/>
          </a:xfrm>
        </p:grpSpPr>
        <p:sp>
          <p:nvSpPr>
            <p:cNvPr id="7" name="Freeform 7"/>
            <p:cNvSpPr/>
            <p:nvPr/>
          </p:nvSpPr>
          <p:spPr>
            <a:xfrm>
              <a:off x="0" y="0"/>
              <a:ext cx="2342888" cy="492682"/>
            </a:xfrm>
            <a:custGeom>
              <a:avLst/>
              <a:gdLst/>
              <a:ahLst/>
              <a:cxnLst/>
              <a:rect l="l" t="t" r="r" b="b"/>
              <a:pathLst>
                <a:path w="2342888" h="492682">
                  <a:moveTo>
                    <a:pt x="0" y="0"/>
                  </a:moveTo>
                  <a:lnTo>
                    <a:pt x="2342888" y="0"/>
                  </a:lnTo>
                  <a:lnTo>
                    <a:pt x="2342888" y="492682"/>
                  </a:lnTo>
                  <a:lnTo>
                    <a:pt x="0" y="492682"/>
                  </a:lnTo>
                  <a:close/>
                </a:path>
              </a:pathLst>
            </a:custGeom>
            <a:blipFill>
              <a:blip r:embed="rId3"/>
              <a:stretch>
                <a:fillRect t="-228" b="-228"/>
              </a:stretch>
            </a:blipFill>
            <a:ln w="85725" cap="sq">
              <a:solidFill>
                <a:srgbClr val="FFDE59"/>
              </a:solidFill>
              <a:prstDash val="solid"/>
              <a:miter/>
            </a:ln>
          </p:spPr>
          <p:txBody>
            <a:bodyPr/>
            <a:lstStyle/>
            <a:p>
              <a:endParaRPr lang="en-RO"/>
            </a:p>
          </p:txBody>
        </p:sp>
      </p:grpSp>
      <p:grpSp>
        <p:nvGrpSpPr>
          <p:cNvPr id="8" name="Group 8"/>
          <p:cNvGrpSpPr/>
          <p:nvPr/>
        </p:nvGrpSpPr>
        <p:grpSpPr>
          <a:xfrm>
            <a:off x="15932109" y="-127432"/>
            <a:ext cx="2355891" cy="2312263"/>
            <a:chOff x="0" y="0"/>
            <a:chExt cx="685800" cy="673100"/>
          </a:xfrm>
        </p:grpSpPr>
        <p:sp>
          <p:nvSpPr>
            <p:cNvPr id="9" name="Freeform 9"/>
            <p:cNvSpPr/>
            <p:nvPr/>
          </p:nvSpPr>
          <p:spPr>
            <a:xfrm>
              <a:off x="0" y="0"/>
              <a:ext cx="685800" cy="679450"/>
            </a:xfrm>
            <a:custGeom>
              <a:avLst/>
              <a:gdLst/>
              <a:ahLst/>
              <a:cxnLst/>
              <a:rect l="l" t="t" r="r" b="b"/>
              <a:pathLst>
                <a:path w="685800" h="679450">
                  <a:moveTo>
                    <a:pt x="342900" y="0"/>
                  </a:moveTo>
                  <a:lnTo>
                    <a:pt x="382270" y="210820"/>
                  </a:lnTo>
                  <a:lnTo>
                    <a:pt x="529590" y="54610"/>
                  </a:lnTo>
                  <a:lnTo>
                    <a:pt x="449580" y="254000"/>
                  </a:lnTo>
                  <a:lnTo>
                    <a:pt x="657860" y="201930"/>
                  </a:lnTo>
                  <a:lnTo>
                    <a:pt x="482600" y="326390"/>
                  </a:lnTo>
                  <a:lnTo>
                    <a:pt x="685800" y="396240"/>
                  </a:lnTo>
                  <a:lnTo>
                    <a:pt x="471170" y="405130"/>
                  </a:lnTo>
                  <a:lnTo>
                    <a:pt x="604520" y="572770"/>
                  </a:lnTo>
                  <a:lnTo>
                    <a:pt x="419100" y="464820"/>
                  </a:lnTo>
                  <a:lnTo>
                    <a:pt x="440690" y="679450"/>
                  </a:lnTo>
                  <a:lnTo>
                    <a:pt x="342900" y="487680"/>
                  </a:lnTo>
                  <a:lnTo>
                    <a:pt x="245110" y="679450"/>
                  </a:lnTo>
                  <a:lnTo>
                    <a:pt x="266700" y="464820"/>
                  </a:lnTo>
                  <a:lnTo>
                    <a:pt x="81280" y="572770"/>
                  </a:lnTo>
                  <a:lnTo>
                    <a:pt x="214630" y="405130"/>
                  </a:lnTo>
                  <a:lnTo>
                    <a:pt x="0" y="396240"/>
                  </a:lnTo>
                  <a:lnTo>
                    <a:pt x="203200" y="326390"/>
                  </a:lnTo>
                  <a:lnTo>
                    <a:pt x="27940" y="201930"/>
                  </a:lnTo>
                  <a:lnTo>
                    <a:pt x="236220" y="254000"/>
                  </a:lnTo>
                  <a:lnTo>
                    <a:pt x="156210" y="54610"/>
                  </a:lnTo>
                  <a:lnTo>
                    <a:pt x="303530" y="210820"/>
                  </a:lnTo>
                  <a:close/>
                </a:path>
              </a:pathLst>
            </a:custGeom>
            <a:solidFill>
              <a:srgbClr val="FFDE59"/>
            </a:solidFill>
          </p:spPr>
          <p:txBody>
            <a:bodyPr/>
            <a:lstStyle/>
            <a:p>
              <a:endParaRPr lang="en-RO"/>
            </a:p>
          </p:txBody>
        </p:sp>
        <p:sp>
          <p:nvSpPr>
            <p:cNvPr id="10" name="TextBox 10"/>
            <p:cNvSpPr txBox="1"/>
            <p:nvPr/>
          </p:nvSpPr>
          <p:spPr>
            <a:xfrm>
              <a:off x="203200" y="136525"/>
              <a:ext cx="279400" cy="346075"/>
            </a:xfrm>
            <a:prstGeom prst="rect">
              <a:avLst/>
            </a:prstGeom>
          </p:spPr>
          <p:txBody>
            <a:bodyPr lIns="50800" tIns="50800" rIns="50800" bIns="50800" rtlCol="0" anchor="ctr"/>
            <a:lstStyle/>
            <a:p>
              <a:pPr marL="0" lvl="0" indent="0" algn="ctr">
                <a:lnSpc>
                  <a:spcPts val="3499"/>
                </a:lnSpc>
              </a:pPr>
              <a:endParaRPr/>
            </a:p>
          </p:txBody>
        </p:sp>
      </p:grpSp>
      <p:sp>
        <p:nvSpPr>
          <p:cNvPr id="11" name="TextBox 11"/>
          <p:cNvSpPr txBox="1"/>
          <p:nvPr/>
        </p:nvSpPr>
        <p:spPr>
          <a:xfrm>
            <a:off x="1028700" y="2540764"/>
            <a:ext cx="7832565" cy="2825393"/>
          </a:xfrm>
          <a:prstGeom prst="rect">
            <a:avLst/>
          </a:prstGeom>
        </p:spPr>
        <p:txBody>
          <a:bodyPr lIns="0" tIns="0" rIns="0" bIns="0" rtlCol="0" anchor="t">
            <a:spAutoFit/>
          </a:bodyPr>
          <a:lstStyle/>
          <a:p>
            <a:pPr marL="0" lvl="0" indent="0" algn="just">
              <a:lnSpc>
                <a:spcPts val="2819"/>
              </a:lnSpc>
              <a:spcBef>
                <a:spcPct val="0"/>
              </a:spcBef>
            </a:pPr>
            <a:r>
              <a:rPr lang="en-US" sz="2014">
                <a:solidFill>
                  <a:srgbClr val="FFFFFF"/>
                </a:solidFill>
                <a:latin typeface="Poppins"/>
                <a:ea typeface="Poppins"/>
                <a:cs typeface="Poppins"/>
                <a:sym typeface="Poppins"/>
              </a:rPr>
              <a:t>Variabile utilizate în model:</a:t>
            </a:r>
          </a:p>
          <a:p>
            <a:pPr marL="0" lvl="0" indent="0" algn="just">
              <a:lnSpc>
                <a:spcPts val="2819"/>
              </a:lnSpc>
              <a:spcBef>
                <a:spcPct val="0"/>
              </a:spcBef>
            </a:pPr>
            <a:r>
              <a:rPr lang="en-US" sz="2014">
                <a:solidFill>
                  <a:srgbClr val="FFFFFF"/>
                </a:solidFill>
                <a:latin typeface="Poppins"/>
                <a:ea typeface="Poppins"/>
                <a:cs typeface="Poppins"/>
                <a:sym typeface="Poppins"/>
              </a:rPr>
              <a:t>• Recency: luni de la ultima donare</a:t>
            </a:r>
          </a:p>
          <a:p>
            <a:pPr marL="0" lvl="0" indent="0" algn="just">
              <a:lnSpc>
                <a:spcPts val="2819"/>
              </a:lnSpc>
              <a:spcBef>
                <a:spcPct val="0"/>
              </a:spcBef>
            </a:pPr>
            <a:r>
              <a:rPr lang="en-US" sz="2014">
                <a:solidFill>
                  <a:srgbClr val="FFFFFF"/>
                </a:solidFill>
                <a:latin typeface="Poppins"/>
                <a:ea typeface="Poppins"/>
                <a:cs typeface="Poppins"/>
                <a:sym typeface="Poppins"/>
              </a:rPr>
              <a:t>• Frequency: numărul total de donări</a:t>
            </a:r>
          </a:p>
          <a:p>
            <a:pPr marL="0" lvl="0" indent="0" algn="just">
              <a:lnSpc>
                <a:spcPts val="2819"/>
              </a:lnSpc>
              <a:spcBef>
                <a:spcPct val="0"/>
              </a:spcBef>
            </a:pPr>
            <a:r>
              <a:rPr lang="en-US" sz="2014">
                <a:solidFill>
                  <a:srgbClr val="FFFFFF"/>
                </a:solidFill>
                <a:latin typeface="Poppins"/>
                <a:ea typeface="Poppins"/>
                <a:cs typeface="Poppins"/>
                <a:sym typeface="Poppins"/>
              </a:rPr>
              <a:t>• Monetary: volumul total de sânge donat (ml)</a:t>
            </a:r>
          </a:p>
          <a:p>
            <a:pPr marL="0" lvl="0" indent="0" algn="just">
              <a:lnSpc>
                <a:spcPts val="2819"/>
              </a:lnSpc>
              <a:spcBef>
                <a:spcPct val="0"/>
              </a:spcBef>
            </a:pPr>
            <a:r>
              <a:rPr lang="en-US" sz="2014">
                <a:solidFill>
                  <a:srgbClr val="FFFFFF"/>
                </a:solidFill>
                <a:latin typeface="Poppins"/>
                <a:ea typeface="Poppins"/>
                <a:cs typeface="Poppins"/>
                <a:sym typeface="Poppins"/>
              </a:rPr>
              <a:t>• Time: luni de la prima donare</a:t>
            </a:r>
          </a:p>
          <a:p>
            <a:pPr marL="0" lvl="0" indent="0" algn="just">
              <a:lnSpc>
                <a:spcPts val="2819"/>
              </a:lnSpc>
              <a:spcBef>
                <a:spcPct val="0"/>
              </a:spcBef>
            </a:pPr>
            <a:r>
              <a:rPr lang="en-US" sz="2014">
                <a:solidFill>
                  <a:srgbClr val="FFFFFF"/>
                </a:solidFill>
                <a:latin typeface="Poppins"/>
                <a:ea typeface="Poppins"/>
                <a:cs typeface="Poppins"/>
                <a:sym typeface="Poppins"/>
              </a:rPr>
              <a:t>• Target: donare în perioada țintă (da/nu)</a:t>
            </a:r>
          </a:p>
          <a:p>
            <a:pPr marL="0" lvl="0" indent="0" algn="just">
              <a:lnSpc>
                <a:spcPts val="2819"/>
              </a:lnSpc>
              <a:spcBef>
                <a:spcPct val="0"/>
              </a:spcBef>
            </a:pPr>
            <a:r>
              <a:rPr lang="en-US" sz="2014">
                <a:solidFill>
                  <a:srgbClr val="FFFFFF"/>
                </a:solidFill>
                <a:latin typeface="Poppins"/>
                <a:ea typeface="Poppins"/>
                <a:cs typeface="Poppins"/>
                <a:sym typeface="Poppins"/>
              </a:rPr>
              <a:t>Analiza exploratorie a datelor relevă corelații semnificative între frecvența donărilor și probabilitatea de revenire.</a:t>
            </a:r>
          </a:p>
        </p:txBody>
      </p:sp>
      <p:sp>
        <p:nvSpPr>
          <p:cNvPr id="12" name="TextBox 12"/>
          <p:cNvSpPr txBox="1"/>
          <p:nvPr/>
        </p:nvSpPr>
        <p:spPr>
          <a:xfrm>
            <a:off x="1732305" y="1587179"/>
            <a:ext cx="6425354" cy="612507"/>
          </a:xfrm>
          <a:prstGeom prst="rect">
            <a:avLst/>
          </a:prstGeom>
        </p:spPr>
        <p:txBody>
          <a:bodyPr lIns="0" tIns="0" rIns="0" bIns="0" rtlCol="0" anchor="t">
            <a:spAutoFit/>
          </a:bodyPr>
          <a:lstStyle/>
          <a:p>
            <a:pPr marL="0" lvl="0" indent="0" algn="l">
              <a:lnSpc>
                <a:spcPts val="5089"/>
              </a:lnSpc>
              <a:spcBef>
                <a:spcPct val="0"/>
              </a:spcBef>
            </a:pPr>
            <a:r>
              <a:rPr lang="en-US" sz="3635" b="1">
                <a:solidFill>
                  <a:srgbClr val="FFFFFF"/>
                </a:solidFill>
                <a:latin typeface="Red Hat Display Bold"/>
                <a:ea typeface="Red Hat Display Bold"/>
                <a:cs typeface="Red Hat Display Bold"/>
                <a:sym typeface="Red Hat Display Bold"/>
              </a:rPr>
              <a:t>Setul de Date și Caracteristici</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B2C43"/>
        </a:solidFill>
        <a:effectLst/>
      </p:bgPr>
    </p:bg>
    <p:spTree>
      <p:nvGrpSpPr>
        <p:cNvPr id="1" name=""/>
        <p:cNvGrpSpPr/>
        <p:nvPr/>
      </p:nvGrpSpPr>
      <p:grpSpPr>
        <a:xfrm>
          <a:off x="0" y="0"/>
          <a:ext cx="0" cy="0"/>
          <a:chOff x="0" y="0"/>
          <a:chExt cx="0" cy="0"/>
        </a:xfrm>
      </p:grpSpPr>
      <p:sp>
        <p:nvSpPr>
          <p:cNvPr id="2" name="Freeform 2"/>
          <p:cNvSpPr/>
          <p:nvPr/>
        </p:nvSpPr>
        <p:spPr>
          <a:xfrm>
            <a:off x="1022005" y="1016706"/>
            <a:ext cx="469636" cy="596025"/>
          </a:xfrm>
          <a:custGeom>
            <a:avLst/>
            <a:gdLst/>
            <a:ahLst/>
            <a:cxnLst/>
            <a:rect l="l" t="t" r="r" b="b"/>
            <a:pathLst>
              <a:path w="469636" h="596025">
                <a:moveTo>
                  <a:pt x="0" y="0"/>
                </a:moveTo>
                <a:lnTo>
                  <a:pt x="469636" y="0"/>
                </a:lnTo>
                <a:lnTo>
                  <a:pt x="469636" y="596025"/>
                </a:lnTo>
                <a:lnTo>
                  <a:pt x="0" y="596025"/>
                </a:lnTo>
                <a:lnTo>
                  <a:pt x="0" y="0"/>
                </a:lnTo>
                <a:close/>
              </a:path>
            </a:pathLst>
          </a:custGeom>
          <a:blipFill>
            <a:blip r:embed="rId2"/>
            <a:stretch>
              <a:fillRect/>
            </a:stretch>
          </a:blipFill>
        </p:spPr>
        <p:txBody>
          <a:bodyPr/>
          <a:lstStyle/>
          <a:p>
            <a:endParaRPr lang="en-RO"/>
          </a:p>
        </p:txBody>
      </p:sp>
      <p:sp>
        <p:nvSpPr>
          <p:cNvPr id="3" name="Freeform 3"/>
          <p:cNvSpPr/>
          <p:nvPr/>
        </p:nvSpPr>
        <p:spPr>
          <a:xfrm flipV="1">
            <a:off x="15989272" y="8002127"/>
            <a:ext cx="1270028" cy="1256173"/>
          </a:xfrm>
          <a:custGeom>
            <a:avLst/>
            <a:gdLst/>
            <a:ahLst/>
            <a:cxnLst/>
            <a:rect l="l" t="t" r="r" b="b"/>
            <a:pathLst>
              <a:path w="1270028" h="1256173">
                <a:moveTo>
                  <a:pt x="0" y="1256173"/>
                </a:moveTo>
                <a:lnTo>
                  <a:pt x="1270028" y="1256173"/>
                </a:lnTo>
                <a:lnTo>
                  <a:pt x="1270028" y="0"/>
                </a:lnTo>
                <a:lnTo>
                  <a:pt x="0" y="0"/>
                </a:lnTo>
                <a:lnTo>
                  <a:pt x="0" y="1256173"/>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RO"/>
          </a:p>
        </p:txBody>
      </p:sp>
      <p:grpSp>
        <p:nvGrpSpPr>
          <p:cNvPr id="4" name="Group 4"/>
          <p:cNvGrpSpPr/>
          <p:nvPr/>
        </p:nvGrpSpPr>
        <p:grpSpPr>
          <a:xfrm>
            <a:off x="-4003218" y="2955242"/>
            <a:ext cx="6298694" cy="6182052"/>
            <a:chOff x="0" y="0"/>
            <a:chExt cx="685800" cy="673100"/>
          </a:xfrm>
        </p:grpSpPr>
        <p:sp>
          <p:nvSpPr>
            <p:cNvPr id="5" name="Freeform 5"/>
            <p:cNvSpPr/>
            <p:nvPr/>
          </p:nvSpPr>
          <p:spPr>
            <a:xfrm>
              <a:off x="0" y="0"/>
              <a:ext cx="685800" cy="679450"/>
            </a:xfrm>
            <a:custGeom>
              <a:avLst/>
              <a:gdLst/>
              <a:ahLst/>
              <a:cxnLst/>
              <a:rect l="l" t="t" r="r" b="b"/>
              <a:pathLst>
                <a:path w="685800" h="679450">
                  <a:moveTo>
                    <a:pt x="342900" y="0"/>
                  </a:moveTo>
                  <a:lnTo>
                    <a:pt x="382270" y="210820"/>
                  </a:lnTo>
                  <a:lnTo>
                    <a:pt x="529590" y="54610"/>
                  </a:lnTo>
                  <a:lnTo>
                    <a:pt x="449580" y="254000"/>
                  </a:lnTo>
                  <a:lnTo>
                    <a:pt x="657860" y="201930"/>
                  </a:lnTo>
                  <a:lnTo>
                    <a:pt x="482600" y="326390"/>
                  </a:lnTo>
                  <a:lnTo>
                    <a:pt x="685800" y="396240"/>
                  </a:lnTo>
                  <a:lnTo>
                    <a:pt x="471170" y="405130"/>
                  </a:lnTo>
                  <a:lnTo>
                    <a:pt x="604520" y="572770"/>
                  </a:lnTo>
                  <a:lnTo>
                    <a:pt x="419100" y="464820"/>
                  </a:lnTo>
                  <a:lnTo>
                    <a:pt x="440690" y="679450"/>
                  </a:lnTo>
                  <a:lnTo>
                    <a:pt x="342900" y="487680"/>
                  </a:lnTo>
                  <a:lnTo>
                    <a:pt x="245110" y="679450"/>
                  </a:lnTo>
                  <a:lnTo>
                    <a:pt x="266700" y="464820"/>
                  </a:lnTo>
                  <a:lnTo>
                    <a:pt x="81280" y="572770"/>
                  </a:lnTo>
                  <a:lnTo>
                    <a:pt x="214630" y="405130"/>
                  </a:lnTo>
                  <a:lnTo>
                    <a:pt x="0" y="396240"/>
                  </a:lnTo>
                  <a:lnTo>
                    <a:pt x="203200" y="326390"/>
                  </a:lnTo>
                  <a:lnTo>
                    <a:pt x="27940" y="201930"/>
                  </a:lnTo>
                  <a:lnTo>
                    <a:pt x="236220" y="254000"/>
                  </a:lnTo>
                  <a:lnTo>
                    <a:pt x="156210" y="54610"/>
                  </a:lnTo>
                  <a:lnTo>
                    <a:pt x="303530" y="210820"/>
                  </a:lnTo>
                  <a:close/>
                </a:path>
              </a:pathLst>
            </a:custGeom>
            <a:solidFill>
              <a:srgbClr val="FFDE59"/>
            </a:solidFill>
          </p:spPr>
          <p:txBody>
            <a:bodyPr/>
            <a:lstStyle/>
            <a:p>
              <a:endParaRPr lang="en-RO"/>
            </a:p>
          </p:txBody>
        </p:sp>
        <p:sp>
          <p:nvSpPr>
            <p:cNvPr id="6" name="TextBox 6"/>
            <p:cNvSpPr txBox="1"/>
            <p:nvPr/>
          </p:nvSpPr>
          <p:spPr>
            <a:xfrm>
              <a:off x="203200" y="136525"/>
              <a:ext cx="279400" cy="346075"/>
            </a:xfrm>
            <a:prstGeom prst="rect">
              <a:avLst/>
            </a:prstGeom>
          </p:spPr>
          <p:txBody>
            <a:bodyPr lIns="50800" tIns="50800" rIns="50800" bIns="50800" rtlCol="0" anchor="ctr"/>
            <a:lstStyle/>
            <a:p>
              <a:pPr marL="0" lvl="0" indent="0" algn="ctr">
                <a:lnSpc>
                  <a:spcPts val="3499"/>
                </a:lnSpc>
              </a:pPr>
              <a:endParaRPr/>
            </a:p>
          </p:txBody>
        </p:sp>
      </p:grpSp>
      <p:sp>
        <p:nvSpPr>
          <p:cNvPr id="7" name="TextBox 7"/>
          <p:cNvSpPr txBox="1"/>
          <p:nvPr/>
        </p:nvSpPr>
        <p:spPr>
          <a:xfrm>
            <a:off x="14562919" y="1069572"/>
            <a:ext cx="2696381" cy="400725"/>
          </a:xfrm>
          <a:prstGeom prst="rect">
            <a:avLst/>
          </a:prstGeom>
        </p:spPr>
        <p:txBody>
          <a:bodyPr lIns="0" tIns="0" rIns="0" bIns="0" rtlCol="0" anchor="t">
            <a:spAutoFit/>
          </a:bodyPr>
          <a:lstStyle/>
          <a:p>
            <a:pPr marL="0" lvl="0" indent="0" algn="r">
              <a:lnSpc>
                <a:spcPts val="3112"/>
              </a:lnSpc>
              <a:spcBef>
                <a:spcPct val="0"/>
              </a:spcBef>
            </a:pPr>
            <a:r>
              <a:rPr lang="en-US" sz="2223">
                <a:solidFill>
                  <a:srgbClr val="FFDE59"/>
                </a:solidFill>
                <a:latin typeface="Poppins"/>
                <a:ea typeface="Poppins"/>
                <a:cs typeface="Poppins"/>
                <a:sym typeface="Poppins"/>
              </a:rPr>
              <a:t>Raul Berinde</a:t>
            </a:r>
          </a:p>
        </p:txBody>
      </p:sp>
      <p:sp>
        <p:nvSpPr>
          <p:cNvPr id="8" name="TextBox 8"/>
          <p:cNvSpPr txBox="1"/>
          <p:nvPr/>
        </p:nvSpPr>
        <p:spPr>
          <a:xfrm>
            <a:off x="1280681" y="1069572"/>
            <a:ext cx="1783679" cy="400725"/>
          </a:xfrm>
          <a:prstGeom prst="rect">
            <a:avLst/>
          </a:prstGeom>
        </p:spPr>
        <p:txBody>
          <a:bodyPr lIns="0" tIns="0" rIns="0" bIns="0" rtlCol="0" anchor="t">
            <a:spAutoFit/>
          </a:bodyPr>
          <a:lstStyle/>
          <a:p>
            <a:pPr marL="0" lvl="0" indent="0" algn="r">
              <a:lnSpc>
                <a:spcPts val="3112"/>
              </a:lnSpc>
              <a:spcBef>
                <a:spcPct val="0"/>
              </a:spcBef>
            </a:pPr>
            <a:r>
              <a:rPr lang="en-US" sz="2223">
                <a:solidFill>
                  <a:srgbClr val="FFDE59"/>
                </a:solidFill>
                <a:latin typeface="Poppins"/>
                <a:ea typeface="Poppins"/>
                <a:cs typeface="Poppins"/>
                <a:sym typeface="Poppins"/>
              </a:rPr>
              <a:t>SI Proiect</a:t>
            </a:r>
          </a:p>
        </p:txBody>
      </p:sp>
      <p:sp>
        <p:nvSpPr>
          <p:cNvPr id="9" name="TextBox 9"/>
          <p:cNvSpPr txBox="1"/>
          <p:nvPr/>
        </p:nvSpPr>
        <p:spPr>
          <a:xfrm>
            <a:off x="3696426" y="1295668"/>
            <a:ext cx="10895147" cy="774678"/>
          </a:xfrm>
          <a:prstGeom prst="rect">
            <a:avLst/>
          </a:prstGeom>
        </p:spPr>
        <p:txBody>
          <a:bodyPr lIns="0" tIns="0" rIns="0" bIns="0" rtlCol="0" anchor="t">
            <a:spAutoFit/>
          </a:bodyPr>
          <a:lstStyle/>
          <a:p>
            <a:pPr marL="0" lvl="0" indent="0" algn="ctr">
              <a:lnSpc>
                <a:spcPts val="5745"/>
              </a:lnSpc>
            </a:pPr>
            <a:r>
              <a:rPr lang="en-US" sz="4996" b="1">
                <a:solidFill>
                  <a:srgbClr val="FFFFFF"/>
                </a:solidFill>
                <a:latin typeface="Poppins Bold"/>
                <a:ea typeface="Poppins Bold"/>
                <a:cs typeface="Poppins Bold"/>
                <a:sym typeface="Poppins Bold"/>
              </a:rPr>
              <a:t>ARHITECTURA MODELULUI</a:t>
            </a:r>
          </a:p>
        </p:txBody>
      </p:sp>
      <p:sp>
        <p:nvSpPr>
          <p:cNvPr id="10" name="TextBox 10"/>
          <p:cNvSpPr txBox="1"/>
          <p:nvPr/>
        </p:nvSpPr>
        <p:spPr>
          <a:xfrm>
            <a:off x="2491288" y="3237410"/>
            <a:ext cx="4968991" cy="1259745"/>
          </a:xfrm>
          <a:prstGeom prst="rect">
            <a:avLst/>
          </a:prstGeom>
        </p:spPr>
        <p:txBody>
          <a:bodyPr lIns="0" tIns="0" rIns="0" bIns="0" rtlCol="0" anchor="t">
            <a:spAutoFit/>
          </a:bodyPr>
          <a:lstStyle/>
          <a:p>
            <a:pPr marL="0" lvl="0" indent="0" algn="just">
              <a:lnSpc>
                <a:spcPts val="2490"/>
              </a:lnSpc>
              <a:spcBef>
                <a:spcPct val="0"/>
              </a:spcBef>
            </a:pPr>
            <a:r>
              <a:rPr lang="en-US" sz="1778">
                <a:solidFill>
                  <a:srgbClr val="FFFFFF"/>
                </a:solidFill>
                <a:latin typeface="Poppins"/>
                <a:ea typeface="Poppins"/>
                <a:cs typeface="Poppins"/>
                <a:sym typeface="Poppins"/>
              </a:rPr>
              <a:t>Curățarea și normalizarea datelor brute din baza de date a centrului de transfuzii. Transformarea variabilelor categorice și scalarea caracteristicilor numerice.</a:t>
            </a:r>
          </a:p>
        </p:txBody>
      </p:sp>
      <p:sp>
        <p:nvSpPr>
          <p:cNvPr id="11" name="TextBox 11"/>
          <p:cNvSpPr txBox="1"/>
          <p:nvPr/>
        </p:nvSpPr>
        <p:spPr>
          <a:xfrm>
            <a:off x="2495212" y="2568011"/>
            <a:ext cx="3354347" cy="398536"/>
          </a:xfrm>
          <a:prstGeom prst="rect">
            <a:avLst/>
          </a:prstGeom>
        </p:spPr>
        <p:txBody>
          <a:bodyPr lIns="0" tIns="0" rIns="0" bIns="0" rtlCol="0" anchor="t">
            <a:spAutoFit/>
          </a:bodyPr>
          <a:lstStyle/>
          <a:p>
            <a:pPr marL="0" lvl="0" indent="0" algn="l">
              <a:lnSpc>
                <a:spcPts val="3131"/>
              </a:lnSpc>
              <a:spcBef>
                <a:spcPct val="0"/>
              </a:spcBef>
            </a:pPr>
            <a:r>
              <a:rPr lang="en-US" sz="2236">
                <a:solidFill>
                  <a:srgbClr val="FFFFFF"/>
                </a:solidFill>
                <a:latin typeface="Poppins"/>
                <a:ea typeface="Poppins"/>
                <a:cs typeface="Poppins"/>
                <a:sym typeface="Poppins"/>
              </a:rPr>
              <a:t>PREPROCESARE DATE</a:t>
            </a:r>
          </a:p>
        </p:txBody>
      </p:sp>
      <p:sp>
        <p:nvSpPr>
          <p:cNvPr id="12" name="TextBox 12"/>
          <p:cNvSpPr txBox="1"/>
          <p:nvPr/>
        </p:nvSpPr>
        <p:spPr>
          <a:xfrm>
            <a:off x="12085446" y="3396651"/>
            <a:ext cx="4968991" cy="1259745"/>
          </a:xfrm>
          <a:prstGeom prst="rect">
            <a:avLst/>
          </a:prstGeom>
        </p:spPr>
        <p:txBody>
          <a:bodyPr lIns="0" tIns="0" rIns="0" bIns="0" rtlCol="0" anchor="t">
            <a:spAutoFit/>
          </a:bodyPr>
          <a:lstStyle/>
          <a:p>
            <a:pPr marL="0" lvl="0" indent="0" algn="just">
              <a:lnSpc>
                <a:spcPts val="2490"/>
              </a:lnSpc>
              <a:spcBef>
                <a:spcPct val="0"/>
              </a:spcBef>
            </a:pPr>
            <a:r>
              <a:rPr lang="en-US" sz="1778">
                <a:solidFill>
                  <a:srgbClr val="FFFFFF"/>
                </a:solidFill>
                <a:latin typeface="Poppins"/>
                <a:ea typeface="Poppins"/>
                <a:cs typeface="Poppins"/>
                <a:sym typeface="Poppins"/>
              </a:rPr>
              <a:t>Identificarea caracteristicilor relevante: frecvența donărilor, intervalele între vizite, date demografice și comportamentale ale donatorilor.</a:t>
            </a:r>
          </a:p>
        </p:txBody>
      </p:sp>
      <p:sp>
        <p:nvSpPr>
          <p:cNvPr id="13" name="TextBox 13"/>
          <p:cNvSpPr txBox="1"/>
          <p:nvPr/>
        </p:nvSpPr>
        <p:spPr>
          <a:xfrm>
            <a:off x="12085446" y="2731918"/>
            <a:ext cx="3971172" cy="398730"/>
          </a:xfrm>
          <a:prstGeom prst="rect">
            <a:avLst/>
          </a:prstGeom>
        </p:spPr>
        <p:txBody>
          <a:bodyPr lIns="0" tIns="0" rIns="0" bIns="0" rtlCol="0" anchor="t">
            <a:spAutoFit/>
          </a:bodyPr>
          <a:lstStyle/>
          <a:p>
            <a:pPr marL="0" lvl="0" indent="0" algn="l">
              <a:lnSpc>
                <a:spcPts val="3222"/>
              </a:lnSpc>
              <a:spcBef>
                <a:spcPct val="0"/>
              </a:spcBef>
            </a:pPr>
            <a:r>
              <a:rPr lang="en-US" sz="2301">
                <a:solidFill>
                  <a:srgbClr val="FFFFFF"/>
                </a:solidFill>
                <a:latin typeface="Poppins"/>
                <a:ea typeface="Poppins"/>
                <a:cs typeface="Poppins"/>
                <a:sym typeface="Poppins"/>
              </a:rPr>
              <a:t>EXTRAGERE FEATURES</a:t>
            </a:r>
          </a:p>
        </p:txBody>
      </p:sp>
      <p:sp>
        <p:nvSpPr>
          <p:cNvPr id="14" name="TextBox 14"/>
          <p:cNvSpPr txBox="1"/>
          <p:nvPr/>
        </p:nvSpPr>
        <p:spPr>
          <a:xfrm>
            <a:off x="2259037" y="7753237"/>
            <a:ext cx="4968991" cy="1259745"/>
          </a:xfrm>
          <a:prstGeom prst="rect">
            <a:avLst/>
          </a:prstGeom>
        </p:spPr>
        <p:txBody>
          <a:bodyPr lIns="0" tIns="0" rIns="0" bIns="0" rtlCol="0" anchor="t">
            <a:spAutoFit/>
          </a:bodyPr>
          <a:lstStyle/>
          <a:p>
            <a:pPr marL="0" lvl="0" indent="0" algn="just">
              <a:lnSpc>
                <a:spcPts val="2490"/>
              </a:lnSpc>
              <a:spcBef>
                <a:spcPct val="0"/>
              </a:spcBef>
            </a:pPr>
            <a:r>
              <a:rPr lang="en-US" sz="1778" dirty="0" err="1">
                <a:solidFill>
                  <a:srgbClr val="FFFFFF"/>
                </a:solidFill>
                <a:latin typeface="Poppins"/>
                <a:ea typeface="Poppins"/>
                <a:cs typeface="Poppins"/>
                <a:sym typeface="Poppins"/>
              </a:rPr>
              <a:t>Algoritm</a:t>
            </a:r>
            <a:r>
              <a:rPr lang="en-US" sz="1778" dirty="0">
                <a:solidFill>
                  <a:srgbClr val="FFFFFF"/>
                </a:solidFill>
                <a:latin typeface="Poppins"/>
                <a:ea typeface="Poppins"/>
                <a:cs typeface="Poppins"/>
                <a:sym typeface="Poppins"/>
              </a:rPr>
              <a:t> de tip Gradient Boosting, ales </a:t>
            </a:r>
            <a:r>
              <a:rPr lang="en-US" sz="1778" dirty="0" err="1">
                <a:solidFill>
                  <a:srgbClr val="FFFFFF"/>
                </a:solidFill>
                <a:latin typeface="Poppins"/>
                <a:ea typeface="Poppins"/>
                <a:cs typeface="Poppins"/>
                <a:sym typeface="Poppins"/>
              </a:rPr>
              <a:t>pentru</a:t>
            </a:r>
            <a:r>
              <a:rPr lang="en-US" sz="1778" dirty="0">
                <a:solidFill>
                  <a:srgbClr val="FFFFFF"/>
                </a:solidFill>
                <a:latin typeface="Poppins"/>
                <a:ea typeface="Poppins"/>
                <a:cs typeface="Poppins"/>
                <a:sym typeface="Poppins"/>
              </a:rPr>
              <a:t> </a:t>
            </a:r>
            <a:r>
              <a:rPr lang="en-US" sz="1778" dirty="0" err="1">
                <a:solidFill>
                  <a:srgbClr val="FFFFFF"/>
                </a:solidFill>
                <a:latin typeface="Poppins"/>
                <a:ea typeface="Poppins"/>
                <a:cs typeface="Poppins"/>
                <a:sym typeface="Poppins"/>
              </a:rPr>
              <a:t>performanța</a:t>
            </a:r>
            <a:r>
              <a:rPr lang="en-US" sz="1778" dirty="0">
                <a:solidFill>
                  <a:srgbClr val="FFFFFF"/>
                </a:solidFill>
                <a:latin typeface="Poppins"/>
                <a:ea typeface="Poppins"/>
                <a:cs typeface="Poppins"/>
                <a:sym typeface="Poppins"/>
              </a:rPr>
              <a:t> </a:t>
            </a:r>
            <a:r>
              <a:rPr lang="en-US" sz="1778" dirty="0" err="1">
                <a:solidFill>
                  <a:srgbClr val="FFFFFF"/>
                </a:solidFill>
                <a:latin typeface="Poppins"/>
                <a:ea typeface="Poppins"/>
                <a:cs typeface="Poppins"/>
                <a:sym typeface="Poppins"/>
              </a:rPr>
              <a:t>superioară</a:t>
            </a:r>
            <a:r>
              <a:rPr lang="en-US" sz="1778" dirty="0">
                <a:solidFill>
                  <a:srgbClr val="FFFFFF"/>
                </a:solidFill>
                <a:latin typeface="Poppins"/>
                <a:ea typeface="Poppins"/>
                <a:cs typeface="Poppins"/>
                <a:sym typeface="Poppins"/>
              </a:rPr>
              <a:t> </a:t>
            </a:r>
            <a:r>
              <a:rPr lang="en-US" sz="1778" dirty="0" err="1">
                <a:solidFill>
                  <a:srgbClr val="FFFFFF"/>
                </a:solidFill>
                <a:latin typeface="Poppins"/>
                <a:ea typeface="Poppins"/>
                <a:cs typeface="Poppins"/>
                <a:sym typeface="Poppins"/>
              </a:rPr>
              <a:t>în</a:t>
            </a:r>
            <a:r>
              <a:rPr lang="en-US" sz="1778" dirty="0">
                <a:solidFill>
                  <a:srgbClr val="FFFFFF"/>
                </a:solidFill>
                <a:latin typeface="Poppins"/>
                <a:ea typeface="Poppins"/>
                <a:cs typeface="Poppins"/>
                <a:sym typeface="Poppins"/>
              </a:rPr>
              <a:t> </a:t>
            </a:r>
            <a:r>
              <a:rPr lang="en-US" sz="1778" dirty="0" err="1">
                <a:solidFill>
                  <a:srgbClr val="FFFFFF"/>
                </a:solidFill>
                <a:latin typeface="Poppins"/>
                <a:ea typeface="Poppins"/>
                <a:cs typeface="Poppins"/>
                <a:sym typeface="Poppins"/>
              </a:rPr>
              <a:t>gestionarea</a:t>
            </a:r>
            <a:r>
              <a:rPr lang="en-US" sz="1778" dirty="0">
                <a:solidFill>
                  <a:srgbClr val="FFFFFF"/>
                </a:solidFill>
                <a:latin typeface="Poppins"/>
                <a:ea typeface="Poppins"/>
                <a:cs typeface="Poppins"/>
                <a:sym typeface="Poppins"/>
              </a:rPr>
              <a:t> </a:t>
            </a:r>
            <a:r>
              <a:rPr lang="en-US" sz="1778" dirty="0" err="1">
                <a:solidFill>
                  <a:srgbClr val="FFFFFF"/>
                </a:solidFill>
                <a:latin typeface="Poppins"/>
                <a:ea typeface="Poppins"/>
                <a:cs typeface="Poppins"/>
                <a:sym typeface="Poppins"/>
              </a:rPr>
              <a:t>datelor</a:t>
            </a:r>
            <a:r>
              <a:rPr lang="en-US" sz="1778" dirty="0">
                <a:solidFill>
                  <a:srgbClr val="FFFFFF"/>
                </a:solidFill>
                <a:latin typeface="Poppins"/>
                <a:ea typeface="Poppins"/>
                <a:cs typeface="Poppins"/>
                <a:sym typeface="Poppins"/>
              </a:rPr>
              <a:t> </a:t>
            </a:r>
            <a:r>
              <a:rPr lang="en-US" sz="1778" dirty="0" err="1">
                <a:solidFill>
                  <a:srgbClr val="FFFFFF"/>
                </a:solidFill>
                <a:latin typeface="Poppins"/>
                <a:ea typeface="Poppins"/>
                <a:cs typeface="Poppins"/>
                <a:sym typeface="Poppins"/>
              </a:rPr>
              <a:t>complexe</a:t>
            </a:r>
            <a:r>
              <a:rPr lang="en-US" sz="1778" dirty="0">
                <a:solidFill>
                  <a:srgbClr val="FFFFFF"/>
                </a:solidFill>
                <a:latin typeface="Poppins"/>
                <a:ea typeface="Poppins"/>
                <a:cs typeface="Poppins"/>
                <a:sym typeface="Poppins"/>
              </a:rPr>
              <a:t> </a:t>
            </a:r>
            <a:r>
              <a:rPr lang="en-US" sz="1778" dirty="0" err="1">
                <a:solidFill>
                  <a:srgbClr val="FFFFFF"/>
                </a:solidFill>
                <a:latin typeface="Poppins"/>
                <a:ea typeface="Poppins"/>
                <a:cs typeface="Poppins"/>
                <a:sym typeface="Poppins"/>
              </a:rPr>
              <a:t>și</a:t>
            </a:r>
            <a:r>
              <a:rPr lang="en-US" sz="1778" dirty="0">
                <a:solidFill>
                  <a:srgbClr val="FFFFFF"/>
                </a:solidFill>
                <a:latin typeface="Poppins"/>
                <a:ea typeface="Poppins"/>
                <a:cs typeface="Poppins"/>
                <a:sym typeface="Poppins"/>
              </a:rPr>
              <a:t> </a:t>
            </a:r>
            <a:r>
              <a:rPr lang="en-US" sz="1778" dirty="0" err="1">
                <a:solidFill>
                  <a:srgbClr val="FFFFFF"/>
                </a:solidFill>
                <a:latin typeface="Poppins"/>
                <a:ea typeface="Poppins"/>
                <a:cs typeface="Poppins"/>
                <a:sym typeface="Poppins"/>
              </a:rPr>
              <a:t>capacitatea</a:t>
            </a:r>
            <a:r>
              <a:rPr lang="en-US" sz="1778" dirty="0">
                <a:solidFill>
                  <a:srgbClr val="FFFFFF"/>
                </a:solidFill>
                <a:latin typeface="Poppins"/>
                <a:ea typeface="Poppins"/>
                <a:cs typeface="Poppins"/>
                <a:sym typeface="Poppins"/>
              </a:rPr>
              <a:t> de a </a:t>
            </a:r>
            <a:r>
              <a:rPr lang="en-US" sz="1778" dirty="0" err="1">
                <a:solidFill>
                  <a:srgbClr val="FFFFFF"/>
                </a:solidFill>
                <a:latin typeface="Poppins"/>
                <a:ea typeface="Poppins"/>
                <a:cs typeface="Poppins"/>
                <a:sym typeface="Poppins"/>
              </a:rPr>
              <a:t>oferi</a:t>
            </a:r>
            <a:r>
              <a:rPr lang="en-US" sz="1778" dirty="0">
                <a:solidFill>
                  <a:srgbClr val="FFFFFF"/>
                </a:solidFill>
                <a:latin typeface="Poppins"/>
                <a:ea typeface="Poppins"/>
                <a:cs typeface="Poppins"/>
                <a:sym typeface="Poppins"/>
              </a:rPr>
              <a:t> </a:t>
            </a:r>
            <a:r>
              <a:rPr lang="en-US" sz="1778" dirty="0" err="1">
                <a:solidFill>
                  <a:srgbClr val="FFFFFF"/>
                </a:solidFill>
                <a:latin typeface="Poppins"/>
                <a:ea typeface="Poppins"/>
                <a:cs typeface="Poppins"/>
                <a:sym typeface="Poppins"/>
              </a:rPr>
              <a:t>explicații</a:t>
            </a:r>
            <a:r>
              <a:rPr lang="en-US" sz="1778" dirty="0">
                <a:solidFill>
                  <a:srgbClr val="FFFFFF"/>
                </a:solidFill>
                <a:latin typeface="Poppins"/>
                <a:ea typeface="Poppins"/>
                <a:cs typeface="Poppins"/>
                <a:sym typeface="Poppins"/>
              </a:rPr>
              <a:t> </a:t>
            </a:r>
            <a:r>
              <a:rPr lang="en-US" sz="1778" dirty="0" err="1">
                <a:solidFill>
                  <a:srgbClr val="FFFFFF"/>
                </a:solidFill>
                <a:latin typeface="Poppins"/>
                <a:ea typeface="Poppins"/>
                <a:cs typeface="Poppins"/>
                <a:sym typeface="Poppins"/>
              </a:rPr>
              <a:t>prin</a:t>
            </a:r>
            <a:r>
              <a:rPr lang="en-US" sz="1778" dirty="0">
                <a:solidFill>
                  <a:srgbClr val="FFFFFF"/>
                </a:solidFill>
                <a:latin typeface="Poppins"/>
                <a:ea typeface="Poppins"/>
                <a:cs typeface="Poppins"/>
                <a:sym typeface="Poppins"/>
              </a:rPr>
              <a:t> SHAP.</a:t>
            </a:r>
          </a:p>
        </p:txBody>
      </p:sp>
      <p:sp>
        <p:nvSpPr>
          <p:cNvPr id="15" name="TextBox 15"/>
          <p:cNvSpPr txBox="1"/>
          <p:nvPr/>
        </p:nvSpPr>
        <p:spPr>
          <a:xfrm>
            <a:off x="2259037" y="7088504"/>
            <a:ext cx="4968991" cy="398730"/>
          </a:xfrm>
          <a:prstGeom prst="rect">
            <a:avLst/>
          </a:prstGeom>
        </p:spPr>
        <p:txBody>
          <a:bodyPr lIns="0" tIns="0" rIns="0" bIns="0" rtlCol="0" anchor="t">
            <a:spAutoFit/>
          </a:bodyPr>
          <a:lstStyle/>
          <a:p>
            <a:pPr marL="0" lvl="0" indent="0" algn="l">
              <a:lnSpc>
                <a:spcPts val="3222"/>
              </a:lnSpc>
              <a:spcBef>
                <a:spcPct val="0"/>
              </a:spcBef>
            </a:pPr>
            <a:r>
              <a:rPr lang="en-US" sz="2301">
                <a:solidFill>
                  <a:srgbClr val="FFFFFF"/>
                </a:solidFill>
                <a:latin typeface="Poppins"/>
                <a:ea typeface="Poppins"/>
                <a:cs typeface="Poppins"/>
                <a:sym typeface="Poppins"/>
              </a:rPr>
              <a:t>MODELUL FINAL: XGBOOST</a:t>
            </a:r>
          </a:p>
        </p:txBody>
      </p:sp>
      <p:sp>
        <p:nvSpPr>
          <p:cNvPr id="16" name="TextBox 16"/>
          <p:cNvSpPr txBox="1"/>
          <p:nvPr/>
        </p:nvSpPr>
        <p:spPr>
          <a:xfrm>
            <a:off x="10280351" y="7907618"/>
            <a:ext cx="4968991" cy="1259745"/>
          </a:xfrm>
          <a:prstGeom prst="rect">
            <a:avLst/>
          </a:prstGeom>
        </p:spPr>
        <p:txBody>
          <a:bodyPr lIns="0" tIns="0" rIns="0" bIns="0" rtlCol="0" anchor="t">
            <a:spAutoFit/>
          </a:bodyPr>
          <a:lstStyle/>
          <a:p>
            <a:pPr marL="0" lvl="0" indent="0" algn="just">
              <a:lnSpc>
                <a:spcPts val="2490"/>
              </a:lnSpc>
              <a:spcBef>
                <a:spcPct val="0"/>
              </a:spcBef>
            </a:pPr>
            <a:r>
              <a:rPr lang="en-US" sz="1778">
                <a:solidFill>
                  <a:srgbClr val="FFFFFF"/>
                </a:solidFill>
                <a:latin typeface="Poppins"/>
                <a:ea typeface="Poppins"/>
                <a:cs typeface="Poppins"/>
                <a:sym typeface="Poppins"/>
              </a:rPr>
              <a:t>Generarea probabilităților de revenire pentru fiecare donator. Clasificarea în categorii de risc și prioritizare pentru rechemare.</a:t>
            </a:r>
          </a:p>
        </p:txBody>
      </p:sp>
      <p:sp>
        <p:nvSpPr>
          <p:cNvPr id="17" name="TextBox 17"/>
          <p:cNvSpPr txBox="1"/>
          <p:nvPr/>
        </p:nvSpPr>
        <p:spPr>
          <a:xfrm>
            <a:off x="10280351" y="7242885"/>
            <a:ext cx="2484495" cy="398730"/>
          </a:xfrm>
          <a:prstGeom prst="rect">
            <a:avLst/>
          </a:prstGeom>
        </p:spPr>
        <p:txBody>
          <a:bodyPr lIns="0" tIns="0" rIns="0" bIns="0" rtlCol="0" anchor="t">
            <a:spAutoFit/>
          </a:bodyPr>
          <a:lstStyle/>
          <a:p>
            <a:pPr marL="0" lvl="0" indent="0" algn="l">
              <a:lnSpc>
                <a:spcPts val="3222"/>
              </a:lnSpc>
              <a:spcBef>
                <a:spcPct val="0"/>
              </a:spcBef>
            </a:pPr>
            <a:r>
              <a:rPr lang="en-US" sz="2301">
                <a:solidFill>
                  <a:srgbClr val="FFFFFF"/>
                </a:solidFill>
                <a:latin typeface="Poppins"/>
                <a:ea typeface="Poppins"/>
                <a:cs typeface="Poppins"/>
                <a:sym typeface="Poppins"/>
              </a:rPr>
              <a:t>MODUL PREDICȚIE</a:t>
            </a:r>
          </a:p>
        </p:txBody>
      </p:sp>
      <p:grpSp>
        <p:nvGrpSpPr>
          <p:cNvPr id="18" name="Group 18"/>
          <p:cNvGrpSpPr/>
          <p:nvPr/>
        </p:nvGrpSpPr>
        <p:grpSpPr>
          <a:xfrm>
            <a:off x="1727816" y="2475445"/>
            <a:ext cx="696307" cy="683413"/>
            <a:chOff x="0" y="0"/>
            <a:chExt cx="685800" cy="673100"/>
          </a:xfrm>
        </p:grpSpPr>
        <p:sp>
          <p:nvSpPr>
            <p:cNvPr id="19" name="Freeform 19"/>
            <p:cNvSpPr/>
            <p:nvPr/>
          </p:nvSpPr>
          <p:spPr>
            <a:xfrm>
              <a:off x="0" y="0"/>
              <a:ext cx="685800" cy="679450"/>
            </a:xfrm>
            <a:custGeom>
              <a:avLst/>
              <a:gdLst/>
              <a:ahLst/>
              <a:cxnLst/>
              <a:rect l="l" t="t" r="r" b="b"/>
              <a:pathLst>
                <a:path w="685800" h="679450">
                  <a:moveTo>
                    <a:pt x="342900" y="0"/>
                  </a:moveTo>
                  <a:lnTo>
                    <a:pt x="382270" y="210820"/>
                  </a:lnTo>
                  <a:lnTo>
                    <a:pt x="529590" y="54610"/>
                  </a:lnTo>
                  <a:lnTo>
                    <a:pt x="449580" y="254000"/>
                  </a:lnTo>
                  <a:lnTo>
                    <a:pt x="657860" y="201930"/>
                  </a:lnTo>
                  <a:lnTo>
                    <a:pt x="482600" y="326390"/>
                  </a:lnTo>
                  <a:lnTo>
                    <a:pt x="685800" y="396240"/>
                  </a:lnTo>
                  <a:lnTo>
                    <a:pt x="471170" y="405130"/>
                  </a:lnTo>
                  <a:lnTo>
                    <a:pt x="604520" y="572770"/>
                  </a:lnTo>
                  <a:lnTo>
                    <a:pt x="419100" y="464820"/>
                  </a:lnTo>
                  <a:lnTo>
                    <a:pt x="440690" y="679450"/>
                  </a:lnTo>
                  <a:lnTo>
                    <a:pt x="342900" y="487680"/>
                  </a:lnTo>
                  <a:lnTo>
                    <a:pt x="245110" y="679450"/>
                  </a:lnTo>
                  <a:lnTo>
                    <a:pt x="266700" y="464820"/>
                  </a:lnTo>
                  <a:lnTo>
                    <a:pt x="81280" y="572770"/>
                  </a:lnTo>
                  <a:lnTo>
                    <a:pt x="214630" y="405130"/>
                  </a:lnTo>
                  <a:lnTo>
                    <a:pt x="0" y="396240"/>
                  </a:lnTo>
                  <a:lnTo>
                    <a:pt x="203200" y="326390"/>
                  </a:lnTo>
                  <a:lnTo>
                    <a:pt x="27940" y="201930"/>
                  </a:lnTo>
                  <a:lnTo>
                    <a:pt x="236220" y="254000"/>
                  </a:lnTo>
                  <a:lnTo>
                    <a:pt x="156210" y="54610"/>
                  </a:lnTo>
                  <a:lnTo>
                    <a:pt x="303530" y="210820"/>
                  </a:lnTo>
                  <a:close/>
                </a:path>
              </a:pathLst>
            </a:custGeom>
            <a:solidFill>
              <a:srgbClr val="FFDE59"/>
            </a:solidFill>
          </p:spPr>
          <p:txBody>
            <a:bodyPr/>
            <a:lstStyle/>
            <a:p>
              <a:endParaRPr lang="en-RO"/>
            </a:p>
          </p:txBody>
        </p:sp>
        <p:sp>
          <p:nvSpPr>
            <p:cNvPr id="20" name="TextBox 20"/>
            <p:cNvSpPr txBox="1"/>
            <p:nvPr/>
          </p:nvSpPr>
          <p:spPr>
            <a:xfrm>
              <a:off x="203200" y="136525"/>
              <a:ext cx="279400" cy="346075"/>
            </a:xfrm>
            <a:prstGeom prst="rect">
              <a:avLst/>
            </a:prstGeom>
          </p:spPr>
          <p:txBody>
            <a:bodyPr lIns="50800" tIns="50800" rIns="50800" bIns="50800" rtlCol="0" anchor="ctr"/>
            <a:lstStyle/>
            <a:p>
              <a:pPr marL="0" lvl="0" indent="0" algn="ctr">
                <a:lnSpc>
                  <a:spcPts val="3499"/>
                </a:lnSpc>
              </a:pPr>
              <a:endParaRPr/>
            </a:p>
          </p:txBody>
        </p:sp>
      </p:grpSp>
      <p:grpSp>
        <p:nvGrpSpPr>
          <p:cNvPr id="21" name="Group 21"/>
          <p:cNvGrpSpPr/>
          <p:nvPr/>
        </p:nvGrpSpPr>
        <p:grpSpPr>
          <a:xfrm>
            <a:off x="1491641" y="6991272"/>
            <a:ext cx="696307" cy="683413"/>
            <a:chOff x="0" y="0"/>
            <a:chExt cx="685800" cy="673100"/>
          </a:xfrm>
        </p:grpSpPr>
        <p:sp>
          <p:nvSpPr>
            <p:cNvPr id="22" name="Freeform 22"/>
            <p:cNvSpPr/>
            <p:nvPr/>
          </p:nvSpPr>
          <p:spPr>
            <a:xfrm>
              <a:off x="0" y="0"/>
              <a:ext cx="685800" cy="679450"/>
            </a:xfrm>
            <a:custGeom>
              <a:avLst/>
              <a:gdLst/>
              <a:ahLst/>
              <a:cxnLst/>
              <a:rect l="l" t="t" r="r" b="b"/>
              <a:pathLst>
                <a:path w="685800" h="679450">
                  <a:moveTo>
                    <a:pt x="342900" y="0"/>
                  </a:moveTo>
                  <a:lnTo>
                    <a:pt x="382270" y="210820"/>
                  </a:lnTo>
                  <a:lnTo>
                    <a:pt x="529590" y="54610"/>
                  </a:lnTo>
                  <a:lnTo>
                    <a:pt x="449580" y="254000"/>
                  </a:lnTo>
                  <a:lnTo>
                    <a:pt x="657860" y="201930"/>
                  </a:lnTo>
                  <a:lnTo>
                    <a:pt x="482600" y="326390"/>
                  </a:lnTo>
                  <a:lnTo>
                    <a:pt x="685800" y="396240"/>
                  </a:lnTo>
                  <a:lnTo>
                    <a:pt x="471170" y="405130"/>
                  </a:lnTo>
                  <a:lnTo>
                    <a:pt x="604520" y="572770"/>
                  </a:lnTo>
                  <a:lnTo>
                    <a:pt x="419100" y="464820"/>
                  </a:lnTo>
                  <a:lnTo>
                    <a:pt x="440690" y="679450"/>
                  </a:lnTo>
                  <a:lnTo>
                    <a:pt x="342900" y="487680"/>
                  </a:lnTo>
                  <a:lnTo>
                    <a:pt x="245110" y="679450"/>
                  </a:lnTo>
                  <a:lnTo>
                    <a:pt x="266700" y="464820"/>
                  </a:lnTo>
                  <a:lnTo>
                    <a:pt x="81280" y="572770"/>
                  </a:lnTo>
                  <a:lnTo>
                    <a:pt x="214630" y="405130"/>
                  </a:lnTo>
                  <a:lnTo>
                    <a:pt x="0" y="396240"/>
                  </a:lnTo>
                  <a:lnTo>
                    <a:pt x="203200" y="326390"/>
                  </a:lnTo>
                  <a:lnTo>
                    <a:pt x="27940" y="201930"/>
                  </a:lnTo>
                  <a:lnTo>
                    <a:pt x="236220" y="254000"/>
                  </a:lnTo>
                  <a:lnTo>
                    <a:pt x="156210" y="54610"/>
                  </a:lnTo>
                  <a:lnTo>
                    <a:pt x="303530" y="210820"/>
                  </a:lnTo>
                  <a:close/>
                </a:path>
              </a:pathLst>
            </a:custGeom>
            <a:solidFill>
              <a:srgbClr val="FFDE59"/>
            </a:solidFill>
          </p:spPr>
          <p:txBody>
            <a:bodyPr/>
            <a:lstStyle/>
            <a:p>
              <a:endParaRPr lang="en-RO"/>
            </a:p>
          </p:txBody>
        </p:sp>
        <p:sp>
          <p:nvSpPr>
            <p:cNvPr id="23" name="TextBox 23"/>
            <p:cNvSpPr txBox="1"/>
            <p:nvPr/>
          </p:nvSpPr>
          <p:spPr>
            <a:xfrm>
              <a:off x="203200" y="136525"/>
              <a:ext cx="279400" cy="346075"/>
            </a:xfrm>
            <a:prstGeom prst="rect">
              <a:avLst/>
            </a:prstGeom>
          </p:spPr>
          <p:txBody>
            <a:bodyPr lIns="50800" tIns="50800" rIns="50800" bIns="50800" rtlCol="0" anchor="ctr"/>
            <a:lstStyle/>
            <a:p>
              <a:pPr marL="0" lvl="0" indent="0" algn="ctr">
                <a:lnSpc>
                  <a:spcPts val="3499"/>
                </a:lnSpc>
              </a:pPr>
              <a:endParaRPr/>
            </a:p>
          </p:txBody>
        </p:sp>
      </p:grpSp>
      <p:grpSp>
        <p:nvGrpSpPr>
          <p:cNvPr id="24" name="Group 24"/>
          <p:cNvGrpSpPr/>
          <p:nvPr/>
        </p:nvGrpSpPr>
        <p:grpSpPr>
          <a:xfrm>
            <a:off x="11257316" y="2634686"/>
            <a:ext cx="696307" cy="683413"/>
            <a:chOff x="0" y="0"/>
            <a:chExt cx="685800" cy="673100"/>
          </a:xfrm>
        </p:grpSpPr>
        <p:sp>
          <p:nvSpPr>
            <p:cNvPr id="25" name="Freeform 25"/>
            <p:cNvSpPr/>
            <p:nvPr/>
          </p:nvSpPr>
          <p:spPr>
            <a:xfrm>
              <a:off x="0" y="0"/>
              <a:ext cx="685800" cy="679450"/>
            </a:xfrm>
            <a:custGeom>
              <a:avLst/>
              <a:gdLst/>
              <a:ahLst/>
              <a:cxnLst/>
              <a:rect l="l" t="t" r="r" b="b"/>
              <a:pathLst>
                <a:path w="685800" h="679450">
                  <a:moveTo>
                    <a:pt x="342900" y="0"/>
                  </a:moveTo>
                  <a:lnTo>
                    <a:pt x="382270" y="210820"/>
                  </a:lnTo>
                  <a:lnTo>
                    <a:pt x="529590" y="54610"/>
                  </a:lnTo>
                  <a:lnTo>
                    <a:pt x="449580" y="254000"/>
                  </a:lnTo>
                  <a:lnTo>
                    <a:pt x="657860" y="201930"/>
                  </a:lnTo>
                  <a:lnTo>
                    <a:pt x="482600" y="326390"/>
                  </a:lnTo>
                  <a:lnTo>
                    <a:pt x="685800" y="396240"/>
                  </a:lnTo>
                  <a:lnTo>
                    <a:pt x="471170" y="405130"/>
                  </a:lnTo>
                  <a:lnTo>
                    <a:pt x="604520" y="572770"/>
                  </a:lnTo>
                  <a:lnTo>
                    <a:pt x="419100" y="464820"/>
                  </a:lnTo>
                  <a:lnTo>
                    <a:pt x="440690" y="679450"/>
                  </a:lnTo>
                  <a:lnTo>
                    <a:pt x="342900" y="487680"/>
                  </a:lnTo>
                  <a:lnTo>
                    <a:pt x="245110" y="679450"/>
                  </a:lnTo>
                  <a:lnTo>
                    <a:pt x="266700" y="464820"/>
                  </a:lnTo>
                  <a:lnTo>
                    <a:pt x="81280" y="572770"/>
                  </a:lnTo>
                  <a:lnTo>
                    <a:pt x="214630" y="405130"/>
                  </a:lnTo>
                  <a:lnTo>
                    <a:pt x="0" y="396240"/>
                  </a:lnTo>
                  <a:lnTo>
                    <a:pt x="203200" y="326390"/>
                  </a:lnTo>
                  <a:lnTo>
                    <a:pt x="27940" y="201930"/>
                  </a:lnTo>
                  <a:lnTo>
                    <a:pt x="236220" y="254000"/>
                  </a:lnTo>
                  <a:lnTo>
                    <a:pt x="156210" y="54610"/>
                  </a:lnTo>
                  <a:lnTo>
                    <a:pt x="303530" y="210820"/>
                  </a:lnTo>
                  <a:close/>
                </a:path>
              </a:pathLst>
            </a:custGeom>
            <a:solidFill>
              <a:srgbClr val="FFDE59"/>
            </a:solidFill>
          </p:spPr>
          <p:txBody>
            <a:bodyPr/>
            <a:lstStyle/>
            <a:p>
              <a:endParaRPr lang="en-RO"/>
            </a:p>
          </p:txBody>
        </p:sp>
        <p:sp>
          <p:nvSpPr>
            <p:cNvPr id="26" name="TextBox 26"/>
            <p:cNvSpPr txBox="1"/>
            <p:nvPr/>
          </p:nvSpPr>
          <p:spPr>
            <a:xfrm>
              <a:off x="203200" y="136525"/>
              <a:ext cx="279400" cy="346075"/>
            </a:xfrm>
            <a:prstGeom prst="rect">
              <a:avLst/>
            </a:prstGeom>
          </p:spPr>
          <p:txBody>
            <a:bodyPr lIns="50800" tIns="50800" rIns="50800" bIns="50800" rtlCol="0" anchor="ctr"/>
            <a:lstStyle/>
            <a:p>
              <a:pPr marL="0" lvl="0" indent="0" algn="ctr">
                <a:lnSpc>
                  <a:spcPts val="3499"/>
                </a:lnSpc>
              </a:pPr>
              <a:endParaRPr/>
            </a:p>
          </p:txBody>
        </p:sp>
      </p:grpSp>
      <p:grpSp>
        <p:nvGrpSpPr>
          <p:cNvPr id="27" name="Group 27"/>
          <p:cNvGrpSpPr/>
          <p:nvPr/>
        </p:nvGrpSpPr>
        <p:grpSpPr>
          <a:xfrm>
            <a:off x="9452221" y="7145654"/>
            <a:ext cx="696307" cy="683413"/>
            <a:chOff x="0" y="0"/>
            <a:chExt cx="685800" cy="673100"/>
          </a:xfrm>
        </p:grpSpPr>
        <p:sp>
          <p:nvSpPr>
            <p:cNvPr id="28" name="Freeform 28"/>
            <p:cNvSpPr/>
            <p:nvPr/>
          </p:nvSpPr>
          <p:spPr>
            <a:xfrm>
              <a:off x="0" y="0"/>
              <a:ext cx="685800" cy="679450"/>
            </a:xfrm>
            <a:custGeom>
              <a:avLst/>
              <a:gdLst/>
              <a:ahLst/>
              <a:cxnLst/>
              <a:rect l="l" t="t" r="r" b="b"/>
              <a:pathLst>
                <a:path w="685800" h="679450">
                  <a:moveTo>
                    <a:pt x="342900" y="0"/>
                  </a:moveTo>
                  <a:lnTo>
                    <a:pt x="382270" y="210820"/>
                  </a:lnTo>
                  <a:lnTo>
                    <a:pt x="529590" y="54610"/>
                  </a:lnTo>
                  <a:lnTo>
                    <a:pt x="449580" y="254000"/>
                  </a:lnTo>
                  <a:lnTo>
                    <a:pt x="657860" y="201930"/>
                  </a:lnTo>
                  <a:lnTo>
                    <a:pt x="482600" y="326390"/>
                  </a:lnTo>
                  <a:lnTo>
                    <a:pt x="685800" y="396240"/>
                  </a:lnTo>
                  <a:lnTo>
                    <a:pt x="471170" y="405130"/>
                  </a:lnTo>
                  <a:lnTo>
                    <a:pt x="604520" y="572770"/>
                  </a:lnTo>
                  <a:lnTo>
                    <a:pt x="419100" y="464820"/>
                  </a:lnTo>
                  <a:lnTo>
                    <a:pt x="440690" y="679450"/>
                  </a:lnTo>
                  <a:lnTo>
                    <a:pt x="342900" y="487680"/>
                  </a:lnTo>
                  <a:lnTo>
                    <a:pt x="245110" y="679450"/>
                  </a:lnTo>
                  <a:lnTo>
                    <a:pt x="266700" y="464820"/>
                  </a:lnTo>
                  <a:lnTo>
                    <a:pt x="81280" y="572770"/>
                  </a:lnTo>
                  <a:lnTo>
                    <a:pt x="214630" y="405130"/>
                  </a:lnTo>
                  <a:lnTo>
                    <a:pt x="0" y="396240"/>
                  </a:lnTo>
                  <a:lnTo>
                    <a:pt x="203200" y="326390"/>
                  </a:lnTo>
                  <a:lnTo>
                    <a:pt x="27940" y="201930"/>
                  </a:lnTo>
                  <a:lnTo>
                    <a:pt x="236220" y="254000"/>
                  </a:lnTo>
                  <a:lnTo>
                    <a:pt x="156210" y="54610"/>
                  </a:lnTo>
                  <a:lnTo>
                    <a:pt x="303530" y="210820"/>
                  </a:lnTo>
                  <a:close/>
                </a:path>
              </a:pathLst>
            </a:custGeom>
            <a:solidFill>
              <a:srgbClr val="FFDE59"/>
            </a:solidFill>
          </p:spPr>
          <p:txBody>
            <a:bodyPr/>
            <a:lstStyle/>
            <a:p>
              <a:endParaRPr lang="en-RO"/>
            </a:p>
          </p:txBody>
        </p:sp>
        <p:sp>
          <p:nvSpPr>
            <p:cNvPr id="29" name="TextBox 29"/>
            <p:cNvSpPr txBox="1"/>
            <p:nvPr/>
          </p:nvSpPr>
          <p:spPr>
            <a:xfrm>
              <a:off x="203200" y="136525"/>
              <a:ext cx="279400" cy="346075"/>
            </a:xfrm>
            <a:prstGeom prst="rect">
              <a:avLst/>
            </a:prstGeom>
          </p:spPr>
          <p:txBody>
            <a:bodyPr lIns="50800" tIns="50800" rIns="50800" bIns="50800" rtlCol="0" anchor="ctr"/>
            <a:lstStyle/>
            <a:p>
              <a:pPr marL="0" lvl="0" indent="0" algn="ctr">
                <a:lnSpc>
                  <a:spcPts val="3499"/>
                </a:lnSpc>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B2C43"/>
        </a:solidFill>
        <a:effectLst/>
      </p:bgPr>
    </p:bg>
    <p:spTree>
      <p:nvGrpSpPr>
        <p:cNvPr id="1" name=""/>
        <p:cNvGrpSpPr/>
        <p:nvPr/>
      </p:nvGrpSpPr>
      <p:grpSpPr>
        <a:xfrm>
          <a:off x="0" y="0"/>
          <a:ext cx="0" cy="0"/>
          <a:chOff x="0" y="0"/>
          <a:chExt cx="0" cy="0"/>
        </a:xfrm>
      </p:grpSpPr>
      <p:sp>
        <p:nvSpPr>
          <p:cNvPr id="2" name="Freeform 2"/>
          <p:cNvSpPr/>
          <p:nvPr/>
        </p:nvSpPr>
        <p:spPr>
          <a:xfrm>
            <a:off x="15223639" y="1028700"/>
            <a:ext cx="503963" cy="589744"/>
          </a:xfrm>
          <a:custGeom>
            <a:avLst/>
            <a:gdLst/>
            <a:ahLst/>
            <a:cxnLst/>
            <a:rect l="l" t="t" r="r" b="b"/>
            <a:pathLst>
              <a:path w="503963" h="589744">
                <a:moveTo>
                  <a:pt x="0" y="0"/>
                </a:moveTo>
                <a:lnTo>
                  <a:pt x="503963" y="0"/>
                </a:lnTo>
                <a:lnTo>
                  <a:pt x="503963" y="589744"/>
                </a:lnTo>
                <a:lnTo>
                  <a:pt x="0" y="5897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RO"/>
          </a:p>
        </p:txBody>
      </p:sp>
      <p:grpSp>
        <p:nvGrpSpPr>
          <p:cNvPr id="3" name="Group 3"/>
          <p:cNvGrpSpPr/>
          <p:nvPr/>
        </p:nvGrpSpPr>
        <p:grpSpPr>
          <a:xfrm>
            <a:off x="1028700" y="1605495"/>
            <a:ext cx="696307" cy="683413"/>
            <a:chOff x="0" y="0"/>
            <a:chExt cx="685800" cy="673100"/>
          </a:xfrm>
        </p:grpSpPr>
        <p:sp>
          <p:nvSpPr>
            <p:cNvPr id="4" name="Freeform 4"/>
            <p:cNvSpPr/>
            <p:nvPr/>
          </p:nvSpPr>
          <p:spPr>
            <a:xfrm>
              <a:off x="0" y="0"/>
              <a:ext cx="685800" cy="679450"/>
            </a:xfrm>
            <a:custGeom>
              <a:avLst/>
              <a:gdLst/>
              <a:ahLst/>
              <a:cxnLst/>
              <a:rect l="l" t="t" r="r" b="b"/>
              <a:pathLst>
                <a:path w="685800" h="679450">
                  <a:moveTo>
                    <a:pt x="342900" y="0"/>
                  </a:moveTo>
                  <a:lnTo>
                    <a:pt x="382270" y="210820"/>
                  </a:lnTo>
                  <a:lnTo>
                    <a:pt x="529590" y="54610"/>
                  </a:lnTo>
                  <a:lnTo>
                    <a:pt x="449580" y="254000"/>
                  </a:lnTo>
                  <a:lnTo>
                    <a:pt x="657860" y="201930"/>
                  </a:lnTo>
                  <a:lnTo>
                    <a:pt x="482600" y="326390"/>
                  </a:lnTo>
                  <a:lnTo>
                    <a:pt x="685800" y="396240"/>
                  </a:lnTo>
                  <a:lnTo>
                    <a:pt x="471170" y="405130"/>
                  </a:lnTo>
                  <a:lnTo>
                    <a:pt x="604520" y="572770"/>
                  </a:lnTo>
                  <a:lnTo>
                    <a:pt x="419100" y="464820"/>
                  </a:lnTo>
                  <a:lnTo>
                    <a:pt x="440690" y="679450"/>
                  </a:lnTo>
                  <a:lnTo>
                    <a:pt x="342900" y="487680"/>
                  </a:lnTo>
                  <a:lnTo>
                    <a:pt x="245110" y="679450"/>
                  </a:lnTo>
                  <a:lnTo>
                    <a:pt x="266700" y="464820"/>
                  </a:lnTo>
                  <a:lnTo>
                    <a:pt x="81280" y="572770"/>
                  </a:lnTo>
                  <a:lnTo>
                    <a:pt x="214630" y="405130"/>
                  </a:lnTo>
                  <a:lnTo>
                    <a:pt x="0" y="396240"/>
                  </a:lnTo>
                  <a:lnTo>
                    <a:pt x="203200" y="326390"/>
                  </a:lnTo>
                  <a:lnTo>
                    <a:pt x="27940" y="201930"/>
                  </a:lnTo>
                  <a:lnTo>
                    <a:pt x="236220" y="254000"/>
                  </a:lnTo>
                  <a:lnTo>
                    <a:pt x="156210" y="54610"/>
                  </a:lnTo>
                  <a:lnTo>
                    <a:pt x="303530" y="210820"/>
                  </a:lnTo>
                  <a:close/>
                </a:path>
              </a:pathLst>
            </a:custGeom>
            <a:solidFill>
              <a:srgbClr val="FFDE59"/>
            </a:solidFill>
          </p:spPr>
          <p:txBody>
            <a:bodyPr/>
            <a:lstStyle/>
            <a:p>
              <a:endParaRPr lang="en-RO"/>
            </a:p>
          </p:txBody>
        </p:sp>
        <p:sp>
          <p:nvSpPr>
            <p:cNvPr id="5" name="TextBox 5"/>
            <p:cNvSpPr txBox="1"/>
            <p:nvPr/>
          </p:nvSpPr>
          <p:spPr>
            <a:xfrm>
              <a:off x="203200" y="136525"/>
              <a:ext cx="279400" cy="346075"/>
            </a:xfrm>
            <a:prstGeom prst="rect">
              <a:avLst/>
            </a:prstGeom>
          </p:spPr>
          <p:txBody>
            <a:bodyPr lIns="50800" tIns="50800" rIns="50800" bIns="50800" rtlCol="0" anchor="ctr"/>
            <a:lstStyle/>
            <a:p>
              <a:pPr marL="0" lvl="0" indent="0" algn="ctr">
                <a:lnSpc>
                  <a:spcPts val="3499"/>
                </a:lnSpc>
              </a:pPr>
              <a:endParaRPr/>
            </a:p>
          </p:txBody>
        </p:sp>
      </p:grpSp>
      <p:grpSp>
        <p:nvGrpSpPr>
          <p:cNvPr id="6" name="Group 6"/>
          <p:cNvGrpSpPr/>
          <p:nvPr/>
        </p:nvGrpSpPr>
        <p:grpSpPr>
          <a:xfrm>
            <a:off x="1028700" y="4060758"/>
            <a:ext cx="696307" cy="683413"/>
            <a:chOff x="0" y="0"/>
            <a:chExt cx="685800" cy="673100"/>
          </a:xfrm>
        </p:grpSpPr>
        <p:sp>
          <p:nvSpPr>
            <p:cNvPr id="7" name="Freeform 7"/>
            <p:cNvSpPr/>
            <p:nvPr/>
          </p:nvSpPr>
          <p:spPr>
            <a:xfrm>
              <a:off x="0" y="0"/>
              <a:ext cx="685800" cy="679450"/>
            </a:xfrm>
            <a:custGeom>
              <a:avLst/>
              <a:gdLst/>
              <a:ahLst/>
              <a:cxnLst/>
              <a:rect l="l" t="t" r="r" b="b"/>
              <a:pathLst>
                <a:path w="685800" h="679450">
                  <a:moveTo>
                    <a:pt x="342900" y="0"/>
                  </a:moveTo>
                  <a:lnTo>
                    <a:pt x="382270" y="210820"/>
                  </a:lnTo>
                  <a:lnTo>
                    <a:pt x="529590" y="54610"/>
                  </a:lnTo>
                  <a:lnTo>
                    <a:pt x="449580" y="254000"/>
                  </a:lnTo>
                  <a:lnTo>
                    <a:pt x="657860" y="201930"/>
                  </a:lnTo>
                  <a:lnTo>
                    <a:pt x="482600" y="326390"/>
                  </a:lnTo>
                  <a:lnTo>
                    <a:pt x="685800" y="396240"/>
                  </a:lnTo>
                  <a:lnTo>
                    <a:pt x="471170" y="405130"/>
                  </a:lnTo>
                  <a:lnTo>
                    <a:pt x="604520" y="572770"/>
                  </a:lnTo>
                  <a:lnTo>
                    <a:pt x="419100" y="464820"/>
                  </a:lnTo>
                  <a:lnTo>
                    <a:pt x="440690" y="679450"/>
                  </a:lnTo>
                  <a:lnTo>
                    <a:pt x="342900" y="487680"/>
                  </a:lnTo>
                  <a:lnTo>
                    <a:pt x="245110" y="679450"/>
                  </a:lnTo>
                  <a:lnTo>
                    <a:pt x="266700" y="464820"/>
                  </a:lnTo>
                  <a:lnTo>
                    <a:pt x="81280" y="572770"/>
                  </a:lnTo>
                  <a:lnTo>
                    <a:pt x="214630" y="405130"/>
                  </a:lnTo>
                  <a:lnTo>
                    <a:pt x="0" y="396240"/>
                  </a:lnTo>
                  <a:lnTo>
                    <a:pt x="203200" y="326390"/>
                  </a:lnTo>
                  <a:lnTo>
                    <a:pt x="27940" y="201930"/>
                  </a:lnTo>
                  <a:lnTo>
                    <a:pt x="236220" y="254000"/>
                  </a:lnTo>
                  <a:lnTo>
                    <a:pt x="156210" y="54610"/>
                  </a:lnTo>
                  <a:lnTo>
                    <a:pt x="303530" y="210820"/>
                  </a:lnTo>
                  <a:close/>
                </a:path>
              </a:pathLst>
            </a:custGeom>
            <a:solidFill>
              <a:srgbClr val="FFDE59"/>
            </a:solidFill>
          </p:spPr>
          <p:txBody>
            <a:bodyPr/>
            <a:lstStyle/>
            <a:p>
              <a:endParaRPr lang="en-RO"/>
            </a:p>
          </p:txBody>
        </p:sp>
        <p:sp>
          <p:nvSpPr>
            <p:cNvPr id="8" name="TextBox 8"/>
            <p:cNvSpPr txBox="1"/>
            <p:nvPr/>
          </p:nvSpPr>
          <p:spPr>
            <a:xfrm>
              <a:off x="203200" y="136525"/>
              <a:ext cx="279400" cy="346075"/>
            </a:xfrm>
            <a:prstGeom prst="rect">
              <a:avLst/>
            </a:prstGeom>
          </p:spPr>
          <p:txBody>
            <a:bodyPr lIns="50800" tIns="50800" rIns="50800" bIns="50800" rtlCol="0" anchor="ctr"/>
            <a:lstStyle/>
            <a:p>
              <a:pPr marL="0" lvl="0" indent="0" algn="ctr">
                <a:lnSpc>
                  <a:spcPts val="3499"/>
                </a:lnSpc>
              </a:pPr>
              <a:endParaRPr/>
            </a:p>
          </p:txBody>
        </p:sp>
      </p:grpSp>
      <p:grpSp>
        <p:nvGrpSpPr>
          <p:cNvPr id="9" name="Group 9"/>
          <p:cNvGrpSpPr/>
          <p:nvPr/>
        </p:nvGrpSpPr>
        <p:grpSpPr>
          <a:xfrm>
            <a:off x="1028700" y="6513016"/>
            <a:ext cx="696307" cy="683413"/>
            <a:chOff x="0" y="0"/>
            <a:chExt cx="685800" cy="673100"/>
          </a:xfrm>
        </p:grpSpPr>
        <p:sp>
          <p:nvSpPr>
            <p:cNvPr id="10" name="Freeform 10"/>
            <p:cNvSpPr/>
            <p:nvPr/>
          </p:nvSpPr>
          <p:spPr>
            <a:xfrm>
              <a:off x="0" y="0"/>
              <a:ext cx="685800" cy="679450"/>
            </a:xfrm>
            <a:custGeom>
              <a:avLst/>
              <a:gdLst/>
              <a:ahLst/>
              <a:cxnLst/>
              <a:rect l="l" t="t" r="r" b="b"/>
              <a:pathLst>
                <a:path w="685800" h="679450">
                  <a:moveTo>
                    <a:pt x="342900" y="0"/>
                  </a:moveTo>
                  <a:lnTo>
                    <a:pt x="382270" y="210820"/>
                  </a:lnTo>
                  <a:lnTo>
                    <a:pt x="529590" y="54610"/>
                  </a:lnTo>
                  <a:lnTo>
                    <a:pt x="449580" y="254000"/>
                  </a:lnTo>
                  <a:lnTo>
                    <a:pt x="657860" y="201930"/>
                  </a:lnTo>
                  <a:lnTo>
                    <a:pt x="482600" y="326390"/>
                  </a:lnTo>
                  <a:lnTo>
                    <a:pt x="685800" y="396240"/>
                  </a:lnTo>
                  <a:lnTo>
                    <a:pt x="471170" y="405130"/>
                  </a:lnTo>
                  <a:lnTo>
                    <a:pt x="604520" y="572770"/>
                  </a:lnTo>
                  <a:lnTo>
                    <a:pt x="419100" y="464820"/>
                  </a:lnTo>
                  <a:lnTo>
                    <a:pt x="440690" y="679450"/>
                  </a:lnTo>
                  <a:lnTo>
                    <a:pt x="342900" y="487680"/>
                  </a:lnTo>
                  <a:lnTo>
                    <a:pt x="245110" y="679450"/>
                  </a:lnTo>
                  <a:lnTo>
                    <a:pt x="266700" y="464820"/>
                  </a:lnTo>
                  <a:lnTo>
                    <a:pt x="81280" y="572770"/>
                  </a:lnTo>
                  <a:lnTo>
                    <a:pt x="214630" y="405130"/>
                  </a:lnTo>
                  <a:lnTo>
                    <a:pt x="0" y="396240"/>
                  </a:lnTo>
                  <a:lnTo>
                    <a:pt x="203200" y="326390"/>
                  </a:lnTo>
                  <a:lnTo>
                    <a:pt x="27940" y="201930"/>
                  </a:lnTo>
                  <a:lnTo>
                    <a:pt x="236220" y="254000"/>
                  </a:lnTo>
                  <a:lnTo>
                    <a:pt x="156210" y="54610"/>
                  </a:lnTo>
                  <a:lnTo>
                    <a:pt x="303530" y="210820"/>
                  </a:lnTo>
                  <a:close/>
                </a:path>
              </a:pathLst>
            </a:custGeom>
            <a:solidFill>
              <a:srgbClr val="FFDE59"/>
            </a:solidFill>
          </p:spPr>
          <p:txBody>
            <a:bodyPr/>
            <a:lstStyle/>
            <a:p>
              <a:endParaRPr lang="en-RO"/>
            </a:p>
          </p:txBody>
        </p:sp>
        <p:sp>
          <p:nvSpPr>
            <p:cNvPr id="11" name="TextBox 11"/>
            <p:cNvSpPr txBox="1"/>
            <p:nvPr/>
          </p:nvSpPr>
          <p:spPr>
            <a:xfrm>
              <a:off x="203200" y="136525"/>
              <a:ext cx="279400" cy="346075"/>
            </a:xfrm>
            <a:prstGeom prst="rect">
              <a:avLst/>
            </a:prstGeom>
          </p:spPr>
          <p:txBody>
            <a:bodyPr lIns="50800" tIns="50800" rIns="50800" bIns="50800" rtlCol="0" anchor="ctr"/>
            <a:lstStyle/>
            <a:p>
              <a:pPr marL="0" lvl="0" indent="0" algn="ctr">
                <a:lnSpc>
                  <a:spcPts val="3499"/>
                </a:lnSpc>
              </a:pPr>
              <a:endParaRPr/>
            </a:p>
          </p:txBody>
        </p:sp>
      </p:grpSp>
      <p:grpSp>
        <p:nvGrpSpPr>
          <p:cNvPr id="12" name="Group 12"/>
          <p:cNvGrpSpPr/>
          <p:nvPr/>
        </p:nvGrpSpPr>
        <p:grpSpPr>
          <a:xfrm>
            <a:off x="10461284" y="3316985"/>
            <a:ext cx="6674191" cy="5073834"/>
            <a:chOff x="0" y="0"/>
            <a:chExt cx="1293443" cy="983297"/>
          </a:xfrm>
        </p:grpSpPr>
        <p:sp>
          <p:nvSpPr>
            <p:cNvPr id="13" name="Freeform 13"/>
            <p:cNvSpPr/>
            <p:nvPr/>
          </p:nvSpPr>
          <p:spPr>
            <a:xfrm>
              <a:off x="0" y="0"/>
              <a:ext cx="1293443" cy="983297"/>
            </a:xfrm>
            <a:custGeom>
              <a:avLst/>
              <a:gdLst/>
              <a:ahLst/>
              <a:cxnLst/>
              <a:rect l="l" t="t" r="r" b="b"/>
              <a:pathLst>
                <a:path w="1293443" h="983297">
                  <a:moveTo>
                    <a:pt x="0" y="0"/>
                  </a:moveTo>
                  <a:lnTo>
                    <a:pt x="1293443" y="0"/>
                  </a:lnTo>
                  <a:lnTo>
                    <a:pt x="1293443" y="983297"/>
                  </a:lnTo>
                  <a:lnTo>
                    <a:pt x="0" y="983297"/>
                  </a:lnTo>
                  <a:close/>
                </a:path>
              </a:pathLst>
            </a:custGeom>
            <a:blipFill>
              <a:blip r:embed="rId4"/>
              <a:stretch>
                <a:fillRect l="-821" r="-821"/>
              </a:stretch>
            </a:blipFill>
            <a:ln w="85725" cap="sq">
              <a:solidFill>
                <a:srgbClr val="FFDE59"/>
              </a:solidFill>
              <a:prstDash val="solid"/>
              <a:miter/>
            </a:ln>
          </p:spPr>
          <p:txBody>
            <a:bodyPr/>
            <a:lstStyle/>
            <a:p>
              <a:endParaRPr lang="en-RO"/>
            </a:p>
          </p:txBody>
        </p:sp>
      </p:grpSp>
      <p:grpSp>
        <p:nvGrpSpPr>
          <p:cNvPr id="14" name="Group 14"/>
          <p:cNvGrpSpPr/>
          <p:nvPr/>
        </p:nvGrpSpPr>
        <p:grpSpPr>
          <a:xfrm>
            <a:off x="8736507" y="-1641561"/>
            <a:ext cx="3449554" cy="3385673"/>
            <a:chOff x="0" y="0"/>
            <a:chExt cx="685800" cy="673100"/>
          </a:xfrm>
        </p:grpSpPr>
        <p:sp>
          <p:nvSpPr>
            <p:cNvPr id="15" name="Freeform 15"/>
            <p:cNvSpPr/>
            <p:nvPr/>
          </p:nvSpPr>
          <p:spPr>
            <a:xfrm>
              <a:off x="0" y="0"/>
              <a:ext cx="685800" cy="679450"/>
            </a:xfrm>
            <a:custGeom>
              <a:avLst/>
              <a:gdLst/>
              <a:ahLst/>
              <a:cxnLst/>
              <a:rect l="l" t="t" r="r" b="b"/>
              <a:pathLst>
                <a:path w="685800" h="679450">
                  <a:moveTo>
                    <a:pt x="342900" y="0"/>
                  </a:moveTo>
                  <a:lnTo>
                    <a:pt x="382270" y="210820"/>
                  </a:lnTo>
                  <a:lnTo>
                    <a:pt x="529590" y="54610"/>
                  </a:lnTo>
                  <a:lnTo>
                    <a:pt x="449580" y="254000"/>
                  </a:lnTo>
                  <a:lnTo>
                    <a:pt x="657860" y="201930"/>
                  </a:lnTo>
                  <a:lnTo>
                    <a:pt x="482600" y="326390"/>
                  </a:lnTo>
                  <a:lnTo>
                    <a:pt x="685800" y="396240"/>
                  </a:lnTo>
                  <a:lnTo>
                    <a:pt x="471170" y="405130"/>
                  </a:lnTo>
                  <a:lnTo>
                    <a:pt x="604520" y="572770"/>
                  </a:lnTo>
                  <a:lnTo>
                    <a:pt x="419100" y="464820"/>
                  </a:lnTo>
                  <a:lnTo>
                    <a:pt x="440690" y="679450"/>
                  </a:lnTo>
                  <a:lnTo>
                    <a:pt x="342900" y="487680"/>
                  </a:lnTo>
                  <a:lnTo>
                    <a:pt x="245110" y="679450"/>
                  </a:lnTo>
                  <a:lnTo>
                    <a:pt x="266700" y="464820"/>
                  </a:lnTo>
                  <a:lnTo>
                    <a:pt x="81280" y="572770"/>
                  </a:lnTo>
                  <a:lnTo>
                    <a:pt x="214630" y="405130"/>
                  </a:lnTo>
                  <a:lnTo>
                    <a:pt x="0" y="396240"/>
                  </a:lnTo>
                  <a:lnTo>
                    <a:pt x="203200" y="326390"/>
                  </a:lnTo>
                  <a:lnTo>
                    <a:pt x="27940" y="201930"/>
                  </a:lnTo>
                  <a:lnTo>
                    <a:pt x="236220" y="254000"/>
                  </a:lnTo>
                  <a:lnTo>
                    <a:pt x="156210" y="54610"/>
                  </a:lnTo>
                  <a:lnTo>
                    <a:pt x="303530" y="210820"/>
                  </a:lnTo>
                  <a:close/>
                </a:path>
              </a:pathLst>
            </a:custGeom>
            <a:solidFill>
              <a:srgbClr val="FFDE59"/>
            </a:solidFill>
          </p:spPr>
          <p:txBody>
            <a:bodyPr/>
            <a:lstStyle/>
            <a:p>
              <a:endParaRPr lang="en-RO"/>
            </a:p>
          </p:txBody>
        </p:sp>
        <p:sp>
          <p:nvSpPr>
            <p:cNvPr id="16" name="TextBox 16"/>
            <p:cNvSpPr txBox="1"/>
            <p:nvPr/>
          </p:nvSpPr>
          <p:spPr>
            <a:xfrm>
              <a:off x="203200" y="136525"/>
              <a:ext cx="279400" cy="346075"/>
            </a:xfrm>
            <a:prstGeom prst="rect">
              <a:avLst/>
            </a:prstGeom>
          </p:spPr>
          <p:txBody>
            <a:bodyPr lIns="50800" tIns="50800" rIns="50800" bIns="50800" rtlCol="0" anchor="ctr"/>
            <a:lstStyle/>
            <a:p>
              <a:pPr marL="0" lvl="0" indent="0" algn="ctr">
                <a:lnSpc>
                  <a:spcPts val="3499"/>
                </a:lnSpc>
              </a:pPr>
              <a:endParaRPr/>
            </a:p>
          </p:txBody>
        </p:sp>
      </p:grpSp>
      <p:sp>
        <p:nvSpPr>
          <p:cNvPr id="17" name="TextBox 17"/>
          <p:cNvSpPr txBox="1"/>
          <p:nvPr/>
        </p:nvSpPr>
        <p:spPr>
          <a:xfrm>
            <a:off x="15475621" y="1069572"/>
            <a:ext cx="1783679" cy="441370"/>
          </a:xfrm>
          <a:prstGeom prst="rect">
            <a:avLst/>
          </a:prstGeom>
        </p:spPr>
        <p:txBody>
          <a:bodyPr lIns="0" tIns="0" rIns="0" bIns="0" rtlCol="0" anchor="t">
            <a:spAutoFit/>
          </a:bodyPr>
          <a:lstStyle/>
          <a:p>
            <a:pPr marL="0" lvl="0" indent="0" algn="r">
              <a:lnSpc>
                <a:spcPts val="3497"/>
              </a:lnSpc>
              <a:spcBef>
                <a:spcPct val="0"/>
              </a:spcBef>
            </a:pPr>
            <a:r>
              <a:rPr lang="en-US" sz="2498">
                <a:solidFill>
                  <a:srgbClr val="FFDE59"/>
                </a:solidFill>
                <a:latin typeface="Poppins"/>
                <a:ea typeface="Poppins"/>
                <a:cs typeface="Poppins"/>
                <a:sym typeface="Poppins"/>
              </a:rPr>
              <a:t>AI Project</a:t>
            </a:r>
          </a:p>
        </p:txBody>
      </p:sp>
      <p:sp>
        <p:nvSpPr>
          <p:cNvPr id="18" name="TextBox 18"/>
          <p:cNvSpPr txBox="1"/>
          <p:nvPr/>
        </p:nvSpPr>
        <p:spPr>
          <a:xfrm>
            <a:off x="1932584" y="2357935"/>
            <a:ext cx="7041495" cy="1416086"/>
          </a:xfrm>
          <a:prstGeom prst="rect">
            <a:avLst/>
          </a:prstGeom>
        </p:spPr>
        <p:txBody>
          <a:bodyPr lIns="0" tIns="0" rIns="0" bIns="0" rtlCol="0" anchor="t">
            <a:spAutoFit/>
          </a:bodyPr>
          <a:lstStyle/>
          <a:p>
            <a:pPr marL="0" lvl="0" indent="0" algn="just">
              <a:lnSpc>
                <a:spcPts val="2798"/>
              </a:lnSpc>
              <a:spcBef>
                <a:spcPct val="0"/>
              </a:spcBef>
            </a:pPr>
            <a:r>
              <a:rPr lang="en-US" sz="1998">
                <a:solidFill>
                  <a:srgbClr val="FFFFFF"/>
                </a:solidFill>
                <a:latin typeface="Poppins"/>
                <a:ea typeface="Poppins"/>
                <a:cs typeface="Poppins"/>
                <a:sym typeface="Poppins"/>
              </a:rPr>
              <a:t>Modelul a fost evaluat folosind metrici standard: Acuratețe, Precizie, Recall și F1-Score. Rezultatele demonstrează performanță ridicată în clasificarea donatorilor.</a:t>
            </a:r>
          </a:p>
        </p:txBody>
      </p:sp>
      <p:sp>
        <p:nvSpPr>
          <p:cNvPr id="19" name="TextBox 19"/>
          <p:cNvSpPr txBox="1"/>
          <p:nvPr/>
        </p:nvSpPr>
        <p:spPr>
          <a:xfrm>
            <a:off x="1932584" y="1702726"/>
            <a:ext cx="3206495" cy="366613"/>
          </a:xfrm>
          <a:prstGeom prst="rect">
            <a:avLst/>
          </a:prstGeom>
        </p:spPr>
        <p:txBody>
          <a:bodyPr lIns="0" tIns="0" rIns="0" bIns="0" rtlCol="0" anchor="t">
            <a:spAutoFit/>
          </a:bodyPr>
          <a:lstStyle/>
          <a:p>
            <a:pPr marL="0" lvl="0" indent="0" algn="l">
              <a:lnSpc>
                <a:spcPts val="2892"/>
              </a:lnSpc>
              <a:spcBef>
                <a:spcPct val="0"/>
              </a:spcBef>
            </a:pPr>
            <a:r>
              <a:rPr lang="en-US" sz="2066">
                <a:solidFill>
                  <a:srgbClr val="FFFFFF"/>
                </a:solidFill>
                <a:latin typeface="Poppins"/>
                <a:ea typeface="Poppins"/>
                <a:cs typeface="Poppins"/>
                <a:sym typeface="Poppins"/>
              </a:rPr>
              <a:t>METRICI DE EVALUARE</a:t>
            </a:r>
          </a:p>
        </p:txBody>
      </p:sp>
      <p:sp>
        <p:nvSpPr>
          <p:cNvPr id="20" name="TextBox 20"/>
          <p:cNvSpPr txBox="1"/>
          <p:nvPr/>
        </p:nvSpPr>
        <p:spPr>
          <a:xfrm>
            <a:off x="1932584" y="4813197"/>
            <a:ext cx="7041495" cy="1416086"/>
          </a:xfrm>
          <a:prstGeom prst="rect">
            <a:avLst/>
          </a:prstGeom>
        </p:spPr>
        <p:txBody>
          <a:bodyPr lIns="0" tIns="0" rIns="0" bIns="0" rtlCol="0" anchor="t">
            <a:spAutoFit/>
          </a:bodyPr>
          <a:lstStyle/>
          <a:p>
            <a:pPr marL="0" lvl="0" indent="0" algn="just">
              <a:lnSpc>
                <a:spcPts val="2798"/>
              </a:lnSpc>
              <a:spcBef>
                <a:spcPct val="0"/>
              </a:spcBef>
            </a:pPr>
            <a:r>
              <a:rPr lang="en-US" sz="1998">
                <a:solidFill>
                  <a:srgbClr val="FFFFFF"/>
                </a:solidFill>
                <a:latin typeface="Poppins"/>
                <a:ea typeface="Poppins"/>
                <a:cs typeface="Poppins"/>
                <a:sym typeface="Poppins"/>
              </a:rPr>
              <a:t>Sistemul a atins o acuratețe de 78% pe setul de test, cu un F1-Score de 0.76. Matricea de confuzie arată o rată scăzută de fals negative, crucială pentru aplicații medicale.</a:t>
            </a:r>
          </a:p>
        </p:txBody>
      </p:sp>
      <p:sp>
        <p:nvSpPr>
          <p:cNvPr id="21" name="TextBox 21"/>
          <p:cNvSpPr txBox="1"/>
          <p:nvPr/>
        </p:nvSpPr>
        <p:spPr>
          <a:xfrm>
            <a:off x="1932584" y="4157989"/>
            <a:ext cx="4527145" cy="366613"/>
          </a:xfrm>
          <a:prstGeom prst="rect">
            <a:avLst/>
          </a:prstGeom>
        </p:spPr>
        <p:txBody>
          <a:bodyPr lIns="0" tIns="0" rIns="0" bIns="0" rtlCol="0" anchor="t">
            <a:spAutoFit/>
          </a:bodyPr>
          <a:lstStyle/>
          <a:p>
            <a:pPr marL="0" lvl="0" indent="0" algn="l">
              <a:lnSpc>
                <a:spcPts val="2892"/>
              </a:lnSpc>
              <a:spcBef>
                <a:spcPct val="0"/>
              </a:spcBef>
            </a:pPr>
            <a:r>
              <a:rPr lang="en-US" sz="2066">
                <a:solidFill>
                  <a:srgbClr val="FFFFFF"/>
                </a:solidFill>
                <a:latin typeface="Poppins"/>
                <a:ea typeface="Poppins"/>
                <a:cs typeface="Poppins"/>
                <a:sym typeface="Poppins"/>
              </a:rPr>
              <a:t>ACURATEȚEA PREDICȚIILOR</a:t>
            </a:r>
          </a:p>
        </p:txBody>
      </p:sp>
      <p:sp>
        <p:nvSpPr>
          <p:cNvPr id="22" name="TextBox 22"/>
          <p:cNvSpPr txBox="1"/>
          <p:nvPr/>
        </p:nvSpPr>
        <p:spPr>
          <a:xfrm>
            <a:off x="1932584" y="7265455"/>
            <a:ext cx="7041495" cy="1416086"/>
          </a:xfrm>
          <a:prstGeom prst="rect">
            <a:avLst/>
          </a:prstGeom>
        </p:spPr>
        <p:txBody>
          <a:bodyPr lIns="0" tIns="0" rIns="0" bIns="0" rtlCol="0" anchor="t">
            <a:spAutoFit/>
          </a:bodyPr>
          <a:lstStyle/>
          <a:p>
            <a:pPr marL="0" lvl="0" indent="0" algn="just">
              <a:lnSpc>
                <a:spcPts val="2798"/>
              </a:lnSpc>
              <a:spcBef>
                <a:spcPct val="0"/>
              </a:spcBef>
            </a:pPr>
            <a:r>
              <a:rPr lang="en-US" sz="1998">
                <a:solidFill>
                  <a:srgbClr val="FFFFFF"/>
                </a:solidFill>
                <a:latin typeface="Poppins"/>
                <a:ea typeface="Poppins"/>
                <a:cs typeface="Poppins"/>
                <a:sym typeface="Poppins"/>
              </a:rPr>
              <a:t>Față de metodele tradiționale bazate pe reguli simple, modelul ML oferă o îmbunătățire de 23% în identificarea donatorilor care vor reveni, reducând costurile campaniilor.</a:t>
            </a:r>
          </a:p>
        </p:txBody>
      </p:sp>
      <p:sp>
        <p:nvSpPr>
          <p:cNvPr id="23" name="TextBox 23"/>
          <p:cNvSpPr txBox="1"/>
          <p:nvPr/>
        </p:nvSpPr>
        <p:spPr>
          <a:xfrm>
            <a:off x="1932584" y="6610247"/>
            <a:ext cx="5277514" cy="366613"/>
          </a:xfrm>
          <a:prstGeom prst="rect">
            <a:avLst/>
          </a:prstGeom>
        </p:spPr>
        <p:txBody>
          <a:bodyPr lIns="0" tIns="0" rIns="0" bIns="0" rtlCol="0" anchor="t">
            <a:spAutoFit/>
          </a:bodyPr>
          <a:lstStyle/>
          <a:p>
            <a:pPr marL="0" lvl="0" indent="0" algn="l">
              <a:lnSpc>
                <a:spcPts val="2892"/>
              </a:lnSpc>
              <a:spcBef>
                <a:spcPct val="0"/>
              </a:spcBef>
            </a:pPr>
            <a:r>
              <a:rPr lang="en-US" sz="2066">
                <a:solidFill>
                  <a:srgbClr val="FFFFFF"/>
                </a:solidFill>
                <a:latin typeface="Poppins"/>
                <a:ea typeface="Poppins"/>
                <a:cs typeface="Poppins"/>
                <a:sym typeface="Poppins"/>
              </a:rPr>
              <a:t>COMPARAȚIE CU METODELE TRADIȚIONALE</a:t>
            </a:r>
          </a:p>
        </p:txBody>
      </p:sp>
      <p:sp>
        <p:nvSpPr>
          <p:cNvPr id="24" name="TextBox 24"/>
          <p:cNvSpPr txBox="1"/>
          <p:nvPr/>
        </p:nvSpPr>
        <p:spPr>
          <a:xfrm>
            <a:off x="10478217" y="1600659"/>
            <a:ext cx="6921841" cy="778411"/>
          </a:xfrm>
          <a:prstGeom prst="rect">
            <a:avLst/>
          </a:prstGeom>
        </p:spPr>
        <p:txBody>
          <a:bodyPr lIns="0" tIns="0" rIns="0" bIns="0" rtlCol="0" anchor="t">
            <a:spAutoFit/>
          </a:bodyPr>
          <a:lstStyle/>
          <a:p>
            <a:pPr marL="0" lvl="0" indent="0" algn="l">
              <a:lnSpc>
                <a:spcPts val="6445"/>
              </a:lnSpc>
              <a:spcBef>
                <a:spcPct val="0"/>
              </a:spcBef>
            </a:pPr>
            <a:r>
              <a:rPr lang="en-US" sz="4603" b="1" dirty="0" err="1">
                <a:solidFill>
                  <a:srgbClr val="FFFFFF"/>
                </a:solidFill>
                <a:latin typeface="Red Hat Display Bold"/>
                <a:ea typeface="Red Hat Display Bold"/>
                <a:cs typeface="Red Hat Display Bold"/>
                <a:sym typeface="Red Hat Display Bold"/>
              </a:rPr>
              <a:t>Rezultate</a:t>
            </a:r>
            <a:r>
              <a:rPr lang="en-US" sz="4603" b="1" dirty="0">
                <a:solidFill>
                  <a:srgbClr val="FFFFFF"/>
                </a:solidFill>
                <a:latin typeface="Red Hat Display Bold"/>
                <a:ea typeface="Red Hat Display Bold"/>
                <a:cs typeface="Red Hat Display Bold"/>
                <a:sym typeface="Red Hat Display Bold"/>
              </a:rPr>
              <a:t> </a:t>
            </a:r>
            <a:r>
              <a:rPr lang="en-US" sz="4603" b="1" dirty="0" err="1">
                <a:solidFill>
                  <a:srgbClr val="FFFFFF"/>
                </a:solidFill>
                <a:latin typeface="Red Hat Display Bold"/>
                <a:ea typeface="Red Hat Display Bold"/>
                <a:cs typeface="Red Hat Display Bold"/>
                <a:sym typeface="Red Hat Display Bold"/>
              </a:rPr>
              <a:t>și</a:t>
            </a:r>
            <a:r>
              <a:rPr lang="en-US" sz="4603" b="1" dirty="0">
                <a:solidFill>
                  <a:srgbClr val="FFFFFF"/>
                </a:solidFill>
                <a:latin typeface="Red Hat Display Bold"/>
                <a:ea typeface="Red Hat Display Bold"/>
                <a:cs typeface="Red Hat Display Bold"/>
                <a:sym typeface="Red Hat Display Bold"/>
              </a:rPr>
              <a:t> </a:t>
            </a:r>
            <a:r>
              <a:rPr lang="en-US" sz="4603" b="1" dirty="0" err="1">
                <a:solidFill>
                  <a:srgbClr val="FFFFFF"/>
                </a:solidFill>
                <a:latin typeface="Red Hat Display Bold"/>
                <a:ea typeface="Red Hat Display Bold"/>
                <a:cs typeface="Red Hat Display Bold"/>
                <a:sym typeface="Red Hat Display Bold"/>
              </a:rPr>
              <a:t>Performanță</a:t>
            </a:r>
            <a:endParaRPr lang="en-US" sz="4603" b="1" dirty="0">
              <a:solidFill>
                <a:srgbClr val="FFFFFF"/>
              </a:solidFill>
              <a:latin typeface="Red Hat Display Bold"/>
              <a:ea typeface="Red Hat Display Bold"/>
              <a:cs typeface="Red Hat Display Bold"/>
              <a:sym typeface="Red Hat Display Bo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B2C43"/>
        </a:solidFill>
        <a:effectLst/>
      </p:bgPr>
    </p:bg>
    <p:spTree>
      <p:nvGrpSpPr>
        <p:cNvPr id="1" name=""/>
        <p:cNvGrpSpPr/>
        <p:nvPr/>
      </p:nvGrpSpPr>
      <p:grpSpPr>
        <a:xfrm>
          <a:off x="0" y="0"/>
          <a:ext cx="0" cy="0"/>
          <a:chOff x="0" y="0"/>
          <a:chExt cx="0" cy="0"/>
        </a:xfrm>
      </p:grpSpPr>
      <p:sp>
        <p:nvSpPr>
          <p:cNvPr id="2" name="Freeform 2"/>
          <p:cNvSpPr/>
          <p:nvPr/>
        </p:nvSpPr>
        <p:spPr>
          <a:xfrm>
            <a:off x="924899" y="988338"/>
            <a:ext cx="625932" cy="591089"/>
          </a:xfrm>
          <a:custGeom>
            <a:avLst/>
            <a:gdLst/>
            <a:ahLst/>
            <a:cxnLst/>
            <a:rect l="l" t="t" r="r" b="b"/>
            <a:pathLst>
              <a:path w="625932" h="591089">
                <a:moveTo>
                  <a:pt x="0" y="0"/>
                </a:moveTo>
                <a:lnTo>
                  <a:pt x="625932" y="0"/>
                </a:lnTo>
                <a:lnTo>
                  <a:pt x="625932" y="591089"/>
                </a:lnTo>
                <a:lnTo>
                  <a:pt x="0" y="591089"/>
                </a:lnTo>
                <a:lnTo>
                  <a:pt x="0" y="0"/>
                </a:lnTo>
                <a:close/>
              </a:path>
            </a:pathLst>
          </a:custGeom>
          <a:blipFill>
            <a:blip r:embed="rId2"/>
            <a:stretch>
              <a:fillRect/>
            </a:stretch>
          </a:blipFill>
        </p:spPr>
        <p:txBody>
          <a:bodyPr/>
          <a:lstStyle/>
          <a:p>
            <a:endParaRPr lang="en-RO"/>
          </a:p>
        </p:txBody>
      </p:sp>
      <p:grpSp>
        <p:nvGrpSpPr>
          <p:cNvPr id="3" name="Group 3"/>
          <p:cNvGrpSpPr/>
          <p:nvPr/>
        </p:nvGrpSpPr>
        <p:grpSpPr>
          <a:xfrm>
            <a:off x="559773" y="9070975"/>
            <a:ext cx="2355891" cy="2312263"/>
            <a:chOff x="0" y="0"/>
            <a:chExt cx="685800" cy="673100"/>
          </a:xfrm>
        </p:grpSpPr>
        <p:sp>
          <p:nvSpPr>
            <p:cNvPr id="4" name="Freeform 4"/>
            <p:cNvSpPr/>
            <p:nvPr/>
          </p:nvSpPr>
          <p:spPr>
            <a:xfrm>
              <a:off x="0" y="0"/>
              <a:ext cx="685800" cy="679450"/>
            </a:xfrm>
            <a:custGeom>
              <a:avLst/>
              <a:gdLst/>
              <a:ahLst/>
              <a:cxnLst/>
              <a:rect l="l" t="t" r="r" b="b"/>
              <a:pathLst>
                <a:path w="685800" h="679450">
                  <a:moveTo>
                    <a:pt x="342900" y="0"/>
                  </a:moveTo>
                  <a:lnTo>
                    <a:pt x="382270" y="210820"/>
                  </a:lnTo>
                  <a:lnTo>
                    <a:pt x="529590" y="54610"/>
                  </a:lnTo>
                  <a:lnTo>
                    <a:pt x="449580" y="254000"/>
                  </a:lnTo>
                  <a:lnTo>
                    <a:pt x="657860" y="201930"/>
                  </a:lnTo>
                  <a:lnTo>
                    <a:pt x="482600" y="326390"/>
                  </a:lnTo>
                  <a:lnTo>
                    <a:pt x="685800" y="396240"/>
                  </a:lnTo>
                  <a:lnTo>
                    <a:pt x="471170" y="405130"/>
                  </a:lnTo>
                  <a:lnTo>
                    <a:pt x="604520" y="572770"/>
                  </a:lnTo>
                  <a:lnTo>
                    <a:pt x="419100" y="464820"/>
                  </a:lnTo>
                  <a:lnTo>
                    <a:pt x="440690" y="679450"/>
                  </a:lnTo>
                  <a:lnTo>
                    <a:pt x="342900" y="487680"/>
                  </a:lnTo>
                  <a:lnTo>
                    <a:pt x="245110" y="679450"/>
                  </a:lnTo>
                  <a:lnTo>
                    <a:pt x="266700" y="464820"/>
                  </a:lnTo>
                  <a:lnTo>
                    <a:pt x="81280" y="572770"/>
                  </a:lnTo>
                  <a:lnTo>
                    <a:pt x="214630" y="405130"/>
                  </a:lnTo>
                  <a:lnTo>
                    <a:pt x="0" y="396240"/>
                  </a:lnTo>
                  <a:lnTo>
                    <a:pt x="203200" y="326390"/>
                  </a:lnTo>
                  <a:lnTo>
                    <a:pt x="27940" y="201930"/>
                  </a:lnTo>
                  <a:lnTo>
                    <a:pt x="236220" y="254000"/>
                  </a:lnTo>
                  <a:lnTo>
                    <a:pt x="156210" y="54610"/>
                  </a:lnTo>
                  <a:lnTo>
                    <a:pt x="303530" y="210820"/>
                  </a:lnTo>
                  <a:close/>
                </a:path>
              </a:pathLst>
            </a:custGeom>
            <a:solidFill>
              <a:srgbClr val="FFDE59"/>
            </a:solidFill>
          </p:spPr>
          <p:txBody>
            <a:bodyPr/>
            <a:lstStyle/>
            <a:p>
              <a:endParaRPr lang="en-RO"/>
            </a:p>
          </p:txBody>
        </p:sp>
        <p:sp>
          <p:nvSpPr>
            <p:cNvPr id="5" name="TextBox 5"/>
            <p:cNvSpPr txBox="1"/>
            <p:nvPr/>
          </p:nvSpPr>
          <p:spPr>
            <a:xfrm>
              <a:off x="203200" y="136525"/>
              <a:ext cx="279400" cy="346075"/>
            </a:xfrm>
            <a:prstGeom prst="rect">
              <a:avLst/>
            </a:prstGeom>
          </p:spPr>
          <p:txBody>
            <a:bodyPr lIns="50800" tIns="50800" rIns="50800" bIns="50800" rtlCol="0" anchor="ctr"/>
            <a:lstStyle/>
            <a:p>
              <a:pPr marL="0" lvl="0" indent="0" algn="ctr">
                <a:lnSpc>
                  <a:spcPts val="3499"/>
                </a:lnSpc>
              </a:pPr>
              <a:endParaRPr/>
            </a:p>
          </p:txBody>
        </p:sp>
      </p:grpSp>
      <p:grpSp>
        <p:nvGrpSpPr>
          <p:cNvPr id="6" name="Group 6"/>
          <p:cNvGrpSpPr/>
          <p:nvPr/>
        </p:nvGrpSpPr>
        <p:grpSpPr>
          <a:xfrm>
            <a:off x="1280681" y="2502982"/>
            <a:ext cx="6798761" cy="5281037"/>
            <a:chOff x="0" y="0"/>
            <a:chExt cx="1046392" cy="812800"/>
          </a:xfrm>
        </p:grpSpPr>
        <p:sp>
          <p:nvSpPr>
            <p:cNvPr id="7" name="Freeform 7"/>
            <p:cNvSpPr/>
            <p:nvPr/>
          </p:nvSpPr>
          <p:spPr>
            <a:xfrm>
              <a:off x="0" y="0"/>
              <a:ext cx="1046392" cy="812800"/>
            </a:xfrm>
            <a:custGeom>
              <a:avLst/>
              <a:gdLst/>
              <a:ahLst/>
              <a:cxnLst/>
              <a:rect l="l" t="t" r="r" b="b"/>
              <a:pathLst>
                <a:path w="1046392" h="812800">
                  <a:moveTo>
                    <a:pt x="0" y="0"/>
                  </a:moveTo>
                  <a:lnTo>
                    <a:pt x="1046392" y="0"/>
                  </a:lnTo>
                  <a:lnTo>
                    <a:pt x="1046392" y="812800"/>
                  </a:lnTo>
                  <a:lnTo>
                    <a:pt x="0" y="812800"/>
                  </a:lnTo>
                  <a:close/>
                </a:path>
              </a:pathLst>
            </a:custGeom>
            <a:blipFill>
              <a:blip r:embed="rId3"/>
              <a:stretch>
                <a:fillRect l="-38" r="-38"/>
              </a:stretch>
            </a:blipFill>
            <a:ln w="85725" cap="sq">
              <a:solidFill>
                <a:srgbClr val="FFDE59"/>
              </a:solidFill>
              <a:prstDash val="solid"/>
              <a:miter/>
            </a:ln>
          </p:spPr>
          <p:txBody>
            <a:bodyPr/>
            <a:lstStyle/>
            <a:p>
              <a:endParaRPr lang="en-RO"/>
            </a:p>
          </p:txBody>
        </p:sp>
      </p:grpSp>
      <p:grpSp>
        <p:nvGrpSpPr>
          <p:cNvPr id="8" name="Group 8"/>
          <p:cNvGrpSpPr/>
          <p:nvPr/>
        </p:nvGrpSpPr>
        <p:grpSpPr>
          <a:xfrm>
            <a:off x="10496889" y="-1490142"/>
            <a:ext cx="3167239" cy="3108586"/>
            <a:chOff x="0" y="0"/>
            <a:chExt cx="685800" cy="673100"/>
          </a:xfrm>
        </p:grpSpPr>
        <p:sp>
          <p:nvSpPr>
            <p:cNvPr id="9" name="Freeform 9"/>
            <p:cNvSpPr/>
            <p:nvPr/>
          </p:nvSpPr>
          <p:spPr>
            <a:xfrm>
              <a:off x="0" y="0"/>
              <a:ext cx="685800" cy="679450"/>
            </a:xfrm>
            <a:custGeom>
              <a:avLst/>
              <a:gdLst/>
              <a:ahLst/>
              <a:cxnLst/>
              <a:rect l="l" t="t" r="r" b="b"/>
              <a:pathLst>
                <a:path w="685800" h="679450">
                  <a:moveTo>
                    <a:pt x="342900" y="0"/>
                  </a:moveTo>
                  <a:lnTo>
                    <a:pt x="382270" y="210820"/>
                  </a:lnTo>
                  <a:lnTo>
                    <a:pt x="529590" y="54610"/>
                  </a:lnTo>
                  <a:lnTo>
                    <a:pt x="449580" y="254000"/>
                  </a:lnTo>
                  <a:lnTo>
                    <a:pt x="657860" y="201930"/>
                  </a:lnTo>
                  <a:lnTo>
                    <a:pt x="482600" y="326390"/>
                  </a:lnTo>
                  <a:lnTo>
                    <a:pt x="685800" y="396240"/>
                  </a:lnTo>
                  <a:lnTo>
                    <a:pt x="471170" y="405130"/>
                  </a:lnTo>
                  <a:lnTo>
                    <a:pt x="604520" y="572770"/>
                  </a:lnTo>
                  <a:lnTo>
                    <a:pt x="419100" y="464820"/>
                  </a:lnTo>
                  <a:lnTo>
                    <a:pt x="440690" y="679450"/>
                  </a:lnTo>
                  <a:lnTo>
                    <a:pt x="342900" y="487680"/>
                  </a:lnTo>
                  <a:lnTo>
                    <a:pt x="245110" y="679450"/>
                  </a:lnTo>
                  <a:lnTo>
                    <a:pt x="266700" y="464820"/>
                  </a:lnTo>
                  <a:lnTo>
                    <a:pt x="81280" y="572770"/>
                  </a:lnTo>
                  <a:lnTo>
                    <a:pt x="214630" y="405130"/>
                  </a:lnTo>
                  <a:lnTo>
                    <a:pt x="0" y="396240"/>
                  </a:lnTo>
                  <a:lnTo>
                    <a:pt x="203200" y="326390"/>
                  </a:lnTo>
                  <a:lnTo>
                    <a:pt x="27940" y="201930"/>
                  </a:lnTo>
                  <a:lnTo>
                    <a:pt x="236220" y="254000"/>
                  </a:lnTo>
                  <a:lnTo>
                    <a:pt x="156210" y="54610"/>
                  </a:lnTo>
                  <a:lnTo>
                    <a:pt x="303530" y="210820"/>
                  </a:lnTo>
                  <a:close/>
                </a:path>
              </a:pathLst>
            </a:custGeom>
            <a:solidFill>
              <a:srgbClr val="FFDE59"/>
            </a:solidFill>
          </p:spPr>
          <p:txBody>
            <a:bodyPr/>
            <a:lstStyle/>
            <a:p>
              <a:endParaRPr lang="en-RO"/>
            </a:p>
          </p:txBody>
        </p:sp>
        <p:sp>
          <p:nvSpPr>
            <p:cNvPr id="10" name="TextBox 10"/>
            <p:cNvSpPr txBox="1"/>
            <p:nvPr/>
          </p:nvSpPr>
          <p:spPr>
            <a:xfrm>
              <a:off x="203200" y="136525"/>
              <a:ext cx="279400" cy="346075"/>
            </a:xfrm>
            <a:prstGeom prst="rect">
              <a:avLst/>
            </a:prstGeom>
          </p:spPr>
          <p:txBody>
            <a:bodyPr lIns="50800" tIns="50800" rIns="50800" bIns="50800" rtlCol="0" anchor="ctr"/>
            <a:lstStyle/>
            <a:p>
              <a:pPr marL="0" lvl="0" indent="0" algn="ctr">
                <a:lnSpc>
                  <a:spcPts val="3499"/>
                </a:lnSpc>
              </a:pPr>
              <a:endParaRPr/>
            </a:p>
          </p:txBody>
        </p:sp>
      </p:grpSp>
      <p:sp>
        <p:nvSpPr>
          <p:cNvPr id="11" name="TextBox 11"/>
          <p:cNvSpPr txBox="1"/>
          <p:nvPr/>
        </p:nvSpPr>
        <p:spPr>
          <a:xfrm>
            <a:off x="9172165" y="4548787"/>
            <a:ext cx="8587582" cy="1467791"/>
          </a:xfrm>
          <a:prstGeom prst="rect">
            <a:avLst/>
          </a:prstGeom>
        </p:spPr>
        <p:txBody>
          <a:bodyPr lIns="0" tIns="0" rIns="0" bIns="0" rtlCol="0" anchor="t">
            <a:spAutoFit/>
          </a:bodyPr>
          <a:lstStyle/>
          <a:p>
            <a:pPr marL="0" lvl="0" indent="0" algn="just">
              <a:lnSpc>
                <a:spcPts val="2308"/>
              </a:lnSpc>
              <a:spcBef>
                <a:spcPct val="0"/>
              </a:spcBef>
            </a:pPr>
            <a:r>
              <a:rPr lang="en-US" sz="1648">
                <a:solidFill>
                  <a:srgbClr val="FFFFFF"/>
                </a:solidFill>
                <a:latin typeface="Poppins"/>
                <a:ea typeface="Poppins"/>
                <a:cs typeface="Poppins"/>
                <a:sym typeface="Poppins"/>
              </a:rPr>
              <a:t>Prin ajustarea pragului de decizie la 0.4, am optimizat sistemul pentru a minimiza 'Fals Negativele'. În contextul donării de sânge, este vital să nu pierdem niciun donator real. Matricea de confuzie demonstrează că modelul reușește să captureze 60% din donatorii activi, oferind o bază solidă pentru campanii de rechemare direcționate.</a:t>
            </a:r>
          </a:p>
        </p:txBody>
      </p:sp>
      <p:sp>
        <p:nvSpPr>
          <p:cNvPr id="12" name="TextBox 12"/>
          <p:cNvSpPr txBox="1"/>
          <p:nvPr/>
        </p:nvSpPr>
        <p:spPr>
          <a:xfrm>
            <a:off x="9172165" y="3477613"/>
            <a:ext cx="7201342" cy="705981"/>
          </a:xfrm>
          <a:prstGeom prst="rect">
            <a:avLst/>
          </a:prstGeom>
        </p:spPr>
        <p:txBody>
          <a:bodyPr lIns="0" tIns="0" rIns="0" bIns="0" rtlCol="0" anchor="t">
            <a:spAutoFit/>
          </a:bodyPr>
          <a:lstStyle/>
          <a:p>
            <a:pPr marL="0" lvl="0" indent="0" algn="l">
              <a:lnSpc>
                <a:spcPts val="5712"/>
              </a:lnSpc>
              <a:spcBef>
                <a:spcPct val="0"/>
              </a:spcBef>
            </a:pPr>
            <a:r>
              <a:rPr lang="en-US" sz="4080" b="1">
                <a:solidFill>
                  <a:srgbClr val="FFFFFF"/>
                </a:solidFill>
                <a:latin typeface="Red Hat Display Bold"/>
                <a:ea typeface="Red Hat Display Bold"/>
                <a:cs typeface="Red Hat Display Bold"/>
                <a:sym typeface="Red Hat Display Bold"/>
              </a:rPr>
              <a:t>Optimizarea pentru Recall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txBody>
          <a:bodyPr/>
          <a:lstStyle/>
          <a:p>
            <a:endParaRPr lang="en-RO"/>
          </a:p>
        </p:txBody>
      </p:sp>
      <p:sp>
        <p:nvSpPr>
          <p:cNvPr id="3" name="Freeform 3"/>
          <p:cNvSpPr/>
          <p:nvPr/>
        </p:nvSpPr>
        <p:spPr>
          <a:xfrm>
            <a:off x="1028700" y="1028700"/>
            <a:ext cx="503963" cy="589744"/>
          </a:xfrm>
          <a:custGeom>
            <a:avLst/>
            <a:gdLst/>
            <a:ahLst/>
            <a:cxnLst/>
            <a:rect l="l" t="t" r="r" b="b"/>
            <a:pathLst>
              <a:path w="503963" h="589744">
                <a:moveTo>
                  <a:pt x="0" y="0"/>
                </a:moveTo>
                <a:lnTo>
                  <a:pt x="503963" y="0"/>
                </a:lnTo>
                <a:lnTo>
                  <a:pt x="503963" y="589744"/>
                </a:lnTo>
                <a:lnTo>
                  <a:pt x="0" y="58974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RO"/>
          </a:p>
        </p:txBody>
      </p:sp>
      <p:grpSp>
        <p:nvGrpSpPr>
          <p:cNvPr id="4" name="Group 4"/>
          <p:cNvGrpSpPr/>
          <p:nvPr/>
        </p:nvGrpSpPr>
        <p:grpSpPr>
          <a:xfrm>
            <a:off x="2277499" y="3981715"/>
            <a:ext cx="13733001" cy="2323571"/>
            <a:chOff x="0" y="0"/>
            <a:chExt cx="2401946" cy="406400"/>
          </a:xfrm>
        </p:grpSpPr>
        <p:sp>
          <p:nvSpPr>
            <p:cNvPr id="5" name="Freeform 5"/>
            <p:cNvSpPr/>
            <p:nvPr/>
          </p:nvSpPr>
          <p:spPr>
            <a:xfrm>
              <a:off x="0" y="0"/>
              <a:ext cx="2401946" cy="406400"/>
            </a:xfrm>
            <a:custGeom>
              <a:avLst/>
              <a:gdLst/>
              <a:ahLst/>
              <a:cxnLst/>
              <a:rect l="l" t="t" r="r" b="b"/>
              <a:pathLst>
                <a:path w="2401946" h="406400">
                  <a:moveTo>
                    <a:pt x="2198746" y="0"/>
                  </a:moveTo>
                  <a:cubicBezTo>
                    <a:pt x="2310970" y="0"/>
                    <a:pt x="2401946" y="90976"/>
                    <a:pt x="2401946" y="203200"/>
                  </a:cubicBezTo>
                  <a:cubicBezTo>
                    <a:pt x="2401946" y="315424"/>
                    <a:pt x="2310970" y="406400"/>
                    <a:pt x="2198746" y="406400"/>
                  </a:cubicBezTo>
                  <a:lnTo>
                    <a:pt x="203200" y="406400"/>
                  </a:lnTo>
                  <a:cubicBezTo>
                    <a:pt x="90976" y="406400"/>
                    <a:pt x="0" y="315424"/>
                    <a:pt x="0" y="203200"/>
                  </a:cubicBezTo>
                  <a:cubicBezTo>
                    <a:pt x="0" y="90976"/>
                    <a:pt x="90976" y="0"/>
                    <a:pt x="203200" y="0"/>
                  </a:cubicBezTo>
                  <a:close/>
                </a:path>
              </a:pathLst>
            </a:custGeom>
            <a:ln w="85725" cap="sq">
              <a:solidFill>
                <a:srgbClr val="FFDE59"/>
              </a:solidFill>
              <a:prstDash val="solid"/>
              <a:miter/>
            </a:ln>
          </p:spPr>
          <p:txBody>
            <a:bodyPr/>
            <a:lstStyle/>
            <a:p>
              <a:endParaRPr lang="en-RO"/>
            </a:p>
          </p:txBody>
        </p:sp>
        <p:sp>
          <p:nvSpPr>
            <p:cNvPr id="6" name="TextBox 6"/>
            <p:cNvSpPr txBox="1"/>
            <p:nvPr/>
          </p:nvSpPr>
          <p:spPr>
            <a:xfrm>
              <a:off x="0" y="-66675"/>
              <a:ext cx="2401946" cy="473075"/>
            </a:xfrm>
            <a:prstGeom prst="rect">
              <a:avLst/>
            </a:prstGeom>
          </p:spPr>
          <p:txBody>
            <a:bodyPr lIns="50800" tIns="50800" rIns="50800" bIns="50800" rtlCol="0" anchor="ctr"/>
            <a:lstStyle/>
            <a:p>
              <a:pPr marL="0" lvl="0" indent="0" algn="ctr">
                <a:lnSpc>
                  <a:spcPts val="3499"/>
                </a:lnSpc>
              </a:pPr>
              <a:endParaRPr/>
            </a:p>
          </p:txBody>
        </p:sp>
      </p:grpSp>
      <p:sp>
        <p:nvSpPr>
          <p:cNvPr id="7" name="TextBox 7"/>
          <p:cNvSpPr txBox="1"/>
          <p:nvPr/>
        </p:nvSpPr>
        <p:spPr>
          <a:xfrm>
            <a:off x="3327579" y="4414918"/>
            <a:ext cx="11632843" cy="1638140"/>
          </a:xfrm>
          <a:prstGeom prst="rect">
            <a:avLst/>
          </a:prstGeom>
        </p:spPr>
        <p:txBody>
          <a:bodyPr lIns="0" tIns="0" rIns="0" bIns="0" rtlCol="0" anchor="t">
            <a:spAutoFit/>
          </a:bodyPr>
          <a:lstStyle/>
          <a:p>
            <a:pPr marL="0" lvl="0" indent="0" algn="ctr">
              <a:lnSpc>
                <a:spcPts val="12591"/>
              </a:lnSpc>
            </a:pPr>
            <a:r>
              <a:rPr lang="en-US" sz="11991" b="1">
                <a:solidFill>
                  <a:srgbClr val="FFFFFF"/>
                </a:solidFill>
                <a:latin typeface="Red Hat Display Bold"/>
                <a:ea typeface="Red Hat Display Bold"/>
                <a:cs typeface="Red Hat Display Bold"/>
                <a:sym typeface="Red Hat Display Bold"/>
              </a:rPr>
              <a:t>Vă Mulțumesc!</a:t>
            </a:r>
          </a:p>
        </p:txBody>
      </p:sp>
      <p:grpSp>
        <p:nvGrpSpPr>
          <p:cNvPr id="8" name="Group 8"/>
          <p:cNvGrpSpPr/>
          <p:nvPr/>
        </p:nvGrpSpPr>
        <p:grpSpPr>
          <a:xfrm>
            <a:off x="-1273851" y="8002127"/>
            <a:ext cx="3167239" cy="3108586"/>
            <a:chOff x="0" y="0"/>
            <a:chExt cx="685800" cy="673100"/>
          </a:xfrm>
        </p:grpSpPr>
        <p:sp>
          <p:nvSpPr>
            <p:cNvPr id="9" name="Freeform 9"/>
            <p:cNvSpPr/>
            <p:nvPr/>
          </p:nvSpPr>
          <p:spPr>
            <a:xfrm>
              <a:off x="0" y="0"/>
              <a:ext cx="685800" cy="679450"/>
            </a:xfrm>
            <a:custGeom>
              <a:avLst/>
              <a:gdLst/>
              <a:ahLst/>
              <a:cxnLst/>
              <a:rect l="l" t="t" r="r" b="b"/>
              <a:pathLst>
                <a:path w="685800" h="679450">
                  <a:moveTo>
                    <a:pt x="342900" y="0"/>
                  </a:moveTo>
                  <a:lnTo>
                    <a:pt x="382270" y="210820"/>
                  </a:lnTo>
                  <a:lnTo>
                    <a:pt x="529590" y="54610"/>
                  </a:lnTo>
                  <a:lnTo>
                    <a:pt x="449580" y="254000"/>
                  </a:lnTo>
                  <a:lnTo>
                    <a:pt x="657860" y="201930"/>
                  </a:lnTo>
                  <a:lnTo>
                    <a:pt x="482600" y="326390"/>
                  </a:lnTo>
                  <a:lnTo>
                    <a:pt x="685800" y="396240"/>
                  </a:lnTo>
                  <a:lnTo>
                    <a:pt x="471170" y="405130"/>
                  </a:lnTo>
                  <a:lnTo>
                    <a:pt x="604520" y="572770"/>
                  </a:lnTo>
                  <a:lnTo>
                    <a:pt x="419100" y="464820"/>
                  </a:lnTo>
                  <a:lnTo>
                    <a:pt x="440690" y="679450"/>
                  </a:lnTo>
                  <a:lnTo>
                    <a:pt x="342900" y="487680"/>
                  </a:lnTo>
                  <a:lnTo>
                    <a:pt x="245110" y="679450"/>
                  </a:lnTo>
                  <a:lnTo>
                    <a:pt x="266700" y="464820"/>
                  </a:lnTo>
                  <a:lnTo>
                    <a:pt x="81280" y="572770"/>
                  </a:lnTo>
                  <a:lnTo>
                    <a:pt x="214630" y="405130"/>
                  </a:lnTo>
                  <a:lnTo>
                    <a:pt x="0" y="396240"/>
                  </a:lnTo>
                  <a:lnTo>
                    <a:pt x="203200" y="326390"/>
                  </a:lnTo>
                  <a:lnTo>
                    <a:pt x="27940" y="201930"/>
                  </a:lnTo>
                  <a:lnTo>
                    <a:pt x="236220" y="254000"/>
                  </a:lnTo>
                  <a:lnTo>
                    <a:pt x="156210" y="54610"/>
                  </a:lnTo>
                  <a:lnTo>
                    <a:pt x="303530" y="210820"/>
                  </a:lnTo>
                  <a:close/>
                </a:path>
              </a:pathLst>
            </a:custGeom>
            <a:solidFill>
              <a:srgbClr val="FFDE59"/>
            </a:solidFill>
          </p:spPr>
          <p:txBody>
            <a:bodyPr/>
            <a:lstStyle/>
            <a:p>
              <a:endParaRPr lang="en-RO"/>
            </a:p>
          </p:txBody>
        </p:sp>
        <p:sp>
          <p:nvSpPr>
            <p:cNvPr id="10" name="TextBox 10"/>
            <p:cNvSpPr txBox="1"/>
            <p:nvPr/>
          </p:nvSpPr>
          <p:spPr>
            <a:xfrm>
              <a:off x="203200" y="136525"/>
              <a:ext cx="279400" cy="346075"/>
            </a:xfrm>
            <a:prstGeom prst="rect">
              <a:avLst/>
            </a:prstGeom>
          </p:spPr>
          <p:txBody>
            <a:bodyPr lIns="50800" tIns="50800" rIns="50800" bIns="50800" rtlCol="0" anchor="ctr"/>
            <a:lstStyle/>
            <a:p>
              <a:pPr marL="0" lvl="0" indent="0" algn="ctr">
                <a:lnSpc>
                  <a:spcPts val="3499"/>
                </a:lnSpc>
              </a:pPr>
              <a:endParaRPr/>
            </a:p>
          </p:txBody>
        </p:sp>
      </p:grpSp>
      <p:grpSp>
        <p:nvGrpSpPr>
          <p:cNvPr id="11" name="Group 11"/>
          <p:cNvGrpSpPr/>
          <p:nvPr/>
        </p:nvGrpSpPr>
        <p:grpSpPr>
          <a:xfrm>
            <a:off x="11793183" y="-1174448"/>
            <a:ext cx="3167239" cy="3108586"/>
            <a:chOff x="0" y="0"/>
            <a:chExt cx="685800" cy="673100"/>
          </a:xfrm>
        </p:grpSpPr>
        <p:sp>
          <p:nvSpPr>
            <p:cNvPr id="12" name="Freeform 12"/>
            <p:cNvSpPr/>
            <p:nvPr/>
          </p:nvSpPr>
          <p:spPr>
            <a:xfrm>
              <a:off x="0" y="0"/>
              <a:ext cx="685800" cy="679450"/>
            </a:xfrm>
            <a:custGeom>
              <a:avLst/>
              <a:gdLst/>
              <a:ahLst/>
              <a:cxnLst/>
              <a:rect l="l" t="t" r="r" b="b"/>
              <a:pathLst>
                <a:path w="685800" h="679450">
                  <a:moveTo>
                    <a:pt x="342900" y="0"/>
                  </a:moveTo>
                  <a:lnTo>
                    <a:pt x="382270" y="210820"/>
                  </a:lnTo>
                  <a:lnTo>
                    <a:pt x="529590" y="54610"/>
                  </a:lnTo>
                  <a:lnTo>
                    <a:pt x="449580" y="254000"/>
                  </a:lnTo>
                  <a:lnTo>
                    <a:pt x="657860" y="201930"/>
                  </a:lnTo>
                  <a:lnTo>
                    <a:pt x="482600" y="326390"/>
                  </a:lnTo>
                  <a:lnTo>
                    <a:pt x="685800" y="396240"/>
                  </a:lnTo>
                  <a:lnTo>
                    <a:pt x="471170" y="405130"/>
                  </a:lnTo>
                  <a:lnTo>
                    <a:pt x="604520" y="572770"/>
                  </a:lnTo>
                  <a:lnTo>
                    <a:pt x="419100" y="464820"/>
                  </a:lnTo>
                  <a:lnTo>
                    <a:pt x="440690" y="679450"/>
                  </a:lnTo>
                  <a:lnTo>
                    <a:pt x="342900" y="487680"/>
                  </a:lnTo>
                  <a:lnTo>
                    <a:pt x="245110" y="679450"/>
                  </a:lnTo>
                  <a:lnTo>
                    <a:pt x="266700" y="464820"/>
                  </a:lnTo>
                  <a:lnTo>
                    <a:pt x="81280" y="572770"/>
                  </a:lnTo>
                  <a:lnTo>
                    <a:pt x="214630" y="405130"/>
                  </a:lnTo>
                  <a:lnTo>
                    <a:pt x="0" y="396240"/>
                  </a:lnTo>
                  <a:lnTo>
                    <a:pt x="203200" y="326390"/>
                  </a:lnTo>
                  <a:lnTo>
                    <a:pt x="27940" y="201930"/>
                  </a:lnTo>
                  <a:lnTo>
                    <a:pt x="236220" y="254000"/>
                  </a:lnTo>
                  <a:lnTo>
                    <a:pt x="156210" y="54610"/>
                  </a:lnTo>
                  <a:lnTo>
                    <a:pt x="303530" y="210820"/>
                  </a:lnTo>
                  <a:close/>
                </a:path>
              </a:pathLst>
            </a:custGeom>
            <a:solidFill>
              <a:srgbClr val="FFDE59"/>
            </a:solidFill>
          </p:spPr>
          <p:txBody>
            <a:bodyPr/>
            <a:lstStyle/>
            <a:p>
              <a:endParaRPr lang="en-RO"/>
            </a:p>
          </p:txBody>
        </p:sp>
        <p:sp>
          <p:nvSpPr>
            <p:cNvPr id="13" name="TextBox 13"/>
            <p:cNvSpPr txBox="1"/>
            <p:nvPr/>
          </p:nvSpPr>
          <p:spPr>
            <a:xfrm>
              <a:off x="203200" y="136525"/>
              <a:ext cx="279400" cy="346075"/>
            </a:xfrm>
            <a:prstGeom prst="rect">
              <a:avLst/>
            </a:prstGeom>
          </p:spPr>
          <p:txBody>
            <a:bodyPr lIns="50800" tIns="50800" rIns="50800" bIns="50800" rtlCol="0" anchor="ctr"/>
            <a:lstStyle/>
            <a:p>
              <a:pPr marL="0" lvl="0" indent="0" algn="ctr">
                <a:lnSpc>
                  <a:spcPts val="3499"/>
                </a:lnSpc>
              </a:pPr>
              <a:endParaRPr/>
            </a:p>
          </p:txBody>
        </p:sp>
      </p:grpSp>
      <p:grpSp>
        <p:nvGrpSpPr>
          <p:cNvPr id="14" name="Group 14"/>
          <p:cNvGrpSpPr/>
          <p:nvPr/>
        </p:nvGrpSpPr>
        <p:grpSpPr>
          <a:xfrm>
            <a:off x="16704381" y="5775064"/>
            <a:ext cx="3167239" cy="3108586"/>
            <a:chOff x="0" y="0"/>
            <a:chExt cx="685800" cy="673100"/>
          </a:xfrm>
        </p:grpSpPr>
        <p:sp>
          <p:nvSpPr>
            <p:cNvPr id="15" name="Freeform 15"/>
            <p:cNvSpPr/>
            <p:nvPr/>
          </p:nvSpPr>
          <p:spPr>
            <a:xfrm>
              <a:off x="0" y="0"/>
              <a:ext cx="685800" cy="679450"/>
            </a:xfrm>
            <a:custGeom>
              <a:avLst/>
              <a:gdLst/>
              <a:ahLst/>
              <a:cxnLst/>
              <a:rect l="l" t="t" r="r" b="b"/>
              <a:pathLst>
                <a:path w="685800" h="679450">
                  <a:moveTo>
                    <a:pt x="342900" y="0"/>
                  </a:moveTo>
                  <a:lnTo>
                    <a:pt x="382270" y="210820"/>
                  </a:lnTo>
                  <a:lnTo>
                    <a:pt x="529590" y="54610"/>
                  </a:lnTo>
                  <a:lnTo>
                    <a:pt x="449580" y="254000"/>
                  </a:lnTo>
                  <a:lnTo>
                    <a:pt x="657860" y="201930"/>
                  </a:lnTo>
                  <a:lnTo>
                    <a:pt x="482600" y="326390"/>
                  </a:lnTo>
                  <a:lnTo>
                    <a:pt x="685800" y="396240"/>
                  </a:lnTo>
                  <a:lnTo>
                    <a:pt x="471170" y="405130"/>
                  </a:lnTo>
                  <a:lnTo>
                    <a:pt x="604520" y="572770"/>
                  </a:lnTo>
                  <a:lnTo>
                    <a:pt x="419100" y="464820"/>
                  </a:lnTo>
                  <a:lnTo>
                    <a:pt x="440690" y="679450"/>
                  </a:lnTo>
                  <a:lnTo>
                    <a:pt x="342900" y="487680"/>
                  </a:lnTo>
                  <a:lnTo>
                    <a:pt x="245110" y="679450"/>
                  </a:lnTo>
                  <a:lnTo>
                    <a:pt x="266700" y="464820"/>
                  </a:lnTo>
                  <a:lnTo>
                    <a:pt x="81280" y="572770"/>
                  </a:lnTo>
                  <a:lnTo>
                    <a:pt x="214630" y="405130"/>
                  </a:lnTo>
                  <a:lnTo>
                    <a:pt x="0" y="396240"/>
                  </a:lnTo>
                  <a:lnTo>
                    <a:pt x="203200" y="326390"/>
                  </a:lnTo>
                  <a:lnTo>
                    <a:pt x="27940" y="201930"/>
                  </a:lnTo>
                  <a:lnTo>
                    <a:pt x="236220" y="254000"/>
                  </a:lnTo>
                  <a:lnTo>
                    <a:pt x="156210" y="54610"/>
                  </a:lnTo>
                  <a:lnTo>
                    <a:pt x="303530" y="210820"/>
                  </a:lnTo>
                  <a:close/>
                </a:path>
              </a:pathLst>
            </a:custGeom>
            <a:solidFill>
              <a:srgbClr val="FFDE59"/>
            </a:solidFill>
          </p:spPr>
          <p:txBody>
            <a:bodyPr/>
            <a:lstStyle/>
            <a:p>
              <a:endParaRPr lang="en-RO"/>
            </a:p>
          </p:txBody>
        </p:sp>
        <p:sp>
          <p:nvSpPr>
            <p:cNvPr id="16" name="TextBox 16"/>
            <p:cNvSpPr txBox="1"/>
            <p:nvPr/>
          </p:nvSpPr>
          <p:spPr>
            <a:xfrm>
              <a:off x="203200" y="136525"/>
              <a:ext cx="279400" cy="346075"/>
            </a:xfrm>
            <a:prstGeom prst="rect">
              <a:avLst/>
            </a:prstGeom>
          </p:spPr>
          <p:txBody>
            <a:bodyPr lIns="50800" tIns="50800" rIns="50800" bIns="50800" rtlCol="0" anchor="ctr"/>
            <a:lstStyle/>
            <a:p>
              <a:pPr marL="0" lvl="0" indent="0" algn="ctr">
                <a:lnSpc>
                  <a:spcPts val="349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445</Words>
  <Application>Microsoft Macintosh PowerPoint</Application>
  <PresentationFormat>Custom</PresentationFormat>
  <Paragraphs>41</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Poppins Bold</vt:lpstr>
      <vt:lpstr>Red Hat Display Bold</vt:lpstr>
      <vt:lpstr>Arial</vt:lpstr>
      <vt:lpstr>Calibri</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MODELUL FINAL: XGBOOST</dc:title>
  <cp:lastModifiedBy>Raul Ionut Berinde</cp:lastModifiedBy>
  <cp:revision>2</cp:revision>
  <dcterms:created xsi:type="dcterms:W3CDTF">2006-08-16T00:00:00Z</dcterms:created>
  <dcterms:modified xsi:type="dcterms:W3CDTF">2026-05-20T12:31:42Z</dcterms:modified>
  <dc:identifier>DAHKMpYDXwA</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b58b62f-6f94-46bd-8089-18e64b0a9abb_Enabled">
    <vt:lpwstr>true</vt:lpwstr>
  </property>
  <property fmtid="{D5CDD505-2E9C-101B-9397-08002B2CF9AE}" pid="3" name="MSIP_Label_5b58b62f-6f94-46bd-8089-18e64b0a9abb_SetDate">
    <vt:lpwstr>2026-05-20T12:31:42Z</vt:lpwstr>
  </property>
  <property fmtid="{D5CDD505-2E9C-101B-9397-08002B2CF9AE}" pid="4" name="MSIP_Label_5b58b62f-6f94-46bd-8089-18e64b0a9abb_Method">
    <vt:lpwstr>Standard</vt:lpwstr>
  </property>
  <property fmtid="{D5CDD505-2E9C-101B-9397-08002B2CF9AE}" pid="5" name="MSIP_Label_5b58b62f-6f94-46bd-8089-18e64b0a9abb_Name">
    <vt:lpwstr>defa4170-0d19-0005-0004-bc88714345d2</vt:lpwstr>
  </property>
  <property fmtid="{D5CDD505-2E9C-101B-9397-08002B2CF9AE}" pid="6" name="MSIP_Label_5b58b62f-6f94-46bd-8089-18e64b0a9abb_SiteId">
    <vt:lpwstr>a6eb79fa-c4a9-4cce-818d-b85274d15305</vt:lpwstr>
  </property>
  <property fmtid="{D5CDD505-2E9C-101B-9397-08002B2CF9AE}" pid="7" name="MSIP_Label_5b58b62f-6f94-46bd-8089-18e64b0a9abb_ActionId">
    <vt:lpwstr>a5367816-8897-44b9-b512-41a483ee0d19</vt:lpwstr>
  </property>
  <property fmtid="{D5CDD505-2E9C-101B-9397-08002B2CF9AE}" pid="8" name="MSIP_Label_5b58b62f-6f94-46bd-8089-18e64b0a9abb_ContentBits">
    <vt:lpwstr>0</vt:lpwstr>
  </property>
  <property fmtid="{D5CDD505-2E9C-101B-9397-08002B2CF9AE}" pid="9" name="MSIP_Label_5b58b62f-6f94-46bd-8089-18e64b0a9abb_Tag">
    <vt:lpwstr>50, 3, 0, 1</vt:lpwstr>
  </property>
</Properties>
</file>